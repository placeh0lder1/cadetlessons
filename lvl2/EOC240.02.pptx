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42EFE-1210-B360-5521-2D71897ED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423821-46DD-0757-928B-A5E58A917F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EC579-9B8E-C553-36B5-12DEDE191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A1DE-9704-4493-B19B-3F52D4D538B3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151EF-3B27-2336-8789-BB133EBAB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0AB4B-8E69-A0CE-1AED-6781CDC57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2D6BF-3914-4D59-AB83-F243FA1152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6952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099AD-6BF1-D4BC-E30E-F879D4B1B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74CE5-91A0-4D65-0BD6-EEE42CEF9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6EFF7-72BA-4D47-9ABA-43C9E0F90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A1DE-9704-4493-B19B-3F52D4D538B3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D8431-A02A-D12A-53A1-6016FA084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643F6-3F59-14C8-D94B-5FF57FAAE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2D6BF-3914-4D59-AB83-F243FA1152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9513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8CA79-7D91-CBBB-2564-C30C5F577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06114-6D7B-A123-0679-6A2419617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280C1-CDFC-E284-A518-FFD849451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A1DE-9704-4493-B19B-3F52D4D538B3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1D713-DE07-0758-94EB-A498E63ED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CBE64-72CF-5C4D-E9BC-F97796FFD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2D6BF-3914-4D59-AB83-F243FA1152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8059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5ECFD-8370-4AC6-CF69-A1AB2F3F1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48FBC-0E3B-1847-9271-10DC00F593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93D46B-4DE9-FA8E-FA02-0C38A561AA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07524-8168-68DA-35E8-74507EB57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A1DE-9704-4493-B19B-3F52D4D538B3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D400B2-769A-26E3-F5CB-8F3AF3B92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B1165F-8F95-4280-9887-286089A9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2D6BF-3914-4D59-AB83-F243FA1152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671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DCCBE-DD1E-D9B9-97F0-88C6C02F4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ACC2A9-0625-72A1-ECE1-1D06E98FB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59766C-8E92-0FEC-5BD6-395D982DC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703418-6656-6C98-BDF2-0269BB9A90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D76186-C293-133E-3ECC-821C7AE67C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C85806-5233-6CD9-677E-5B1CF62DD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A1DE-9704-4493-B19B-3F52D4D538B3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3EF43F-1CB8-3A2A-3DD3-901449C1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EBDA74-4C87-FD41-6279-FAF6A8DC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2D6BF-3914-4D59-AB83-F243FA1152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5289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6D0B2-C292-DE3C-149F-FFF2D83E9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D04A89-4312-4DCA-AAD9-01731F4A5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A1DE-9704-4493-B19B-3F52D4D538B3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6A4BA8-60FE-94F9-4941-8516DD9B5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BD153D-3172-BB54-0E08-8810C8AA6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2D6BF-3914-4D59-AB83-F243FA1152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5549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17A0CD-5DB0-D202-4BD8-3026F4A1E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A1DE-9704-4493-B19B-3F52D4D538B3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1C438E-1B35-5D3C-F039-C03578808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E4A80-8D33-32F2-3689-DD2DD6B2D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2D6BF-3914-4D59-AB83-F243FA1152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386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E89F6-B7A2-8F89-14DD-89EF5A8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7CB6E-E75C-594D-62A8-3D513E7EA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F7473-9AC4-82F5-8A54-481E9FA1E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ABCBF-4BD9-5F06-144A-8C4858510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A1DE-9704-4493-B19B-3F52D4D538B3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B11B2-5C7A-555C-A184-A86626CB6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52FE8-27B3-724D-AA9D-2AFD5E465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2D6BF-3914-4D59-AB83-F243FA1152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3969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B7867-2E4D-AC15-B3DD-A19DCF266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7E6201-5A41-A3D5-AC79-0A3BD137F0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E8E6D8-5958-7C22-F43D-33AF9563A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5F75C-C6DC-07B9-5F63-1A5B79762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A1DE-9704-4493-B19B-3F52D4D538B3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9D9E55-472A-A3B4-EB16-1D42156A1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51EA4-EFAE-1BAC-C113-2D8EF66B2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2D6BF-3914-4D59-AB83-F243FA1152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2095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E74B7-C17B-CA7F-6D95-A421F9D86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1A6D0A-FD53-DFCB-B982-437EC7E326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C36DE-5596-8615-5ABB-79CAF3AF7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A1DE-9704-4493-B19B-3F52D4D538B3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BE5C0-FF20-B035-9A5C-0AA4656F5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72B04-5488-2E7A-5336-52F0A701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2D6BF-3914-4D59-AB83-F243FA1152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262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7A2F94-8C88-38D4-A8C5-ECCCC7F150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8F8183-A44C-ED91-FE8D-4F50325DC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1A807-3428-3E81-0021-3CD7B8745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A1DE-9704-4493-B19B-3F52D4D538B3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F0705-9F06-BF7E-996B-664439C5F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1A4B6-39E5-5A92-12EA-7123D3D47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2D6BF-3914-4D59-AB83-F243FA1152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99315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D3A951-6EC9-A32E-13EB-A98834444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5DFB51-23AE-7BC5-D5BD-F56A2FAE0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DD72C-0A07-7A86-D837-4EAFD37DF2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2A1DE-9704-4493-B19B-3F52D4D538B3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AF52D-BBC6-FC2A-865B-28D6C679A5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68137-3BCB-CE15-4173-ADC1701B1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52D6BF-3914-4D59-AB83-F243FA1152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3062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Three Satellite Dishes">
            <a:extLst>
              <a:ext uri="{FF2B5EF4-FFF2-40B4-BE49-F238E27FC236}">
                <a16:creationId xmlns:a16="http://schemas.microsoft.com/office/drawing/2014/main" id="{D1444960-665D-F2E1-9D59-227928F76DA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284" r="1" b="1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71873A-3248-6217-0963-D9178282E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CA" sz="5200" b="1" dirty="0">
                <a:solidFill>
                  <a:srgbClr val="FFFFFF"/>
                </a:solidFill>
              </a:rPr>
              <a:t>EOC240.02 – INVENT A COMMUNICATION SYSTEM FOR SPACE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C01A05-2FB5-F974-2C7A-45ACEB2F9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CA" dirty="0">
                <a:solidFill>
                  <a:srgbClr val="FFFFFF"/>
                </a:solidFill>
              </a:rPr>
              <a:t>By:</a:t>
            </a:r>
          </a:p>
        </p:txBody>
      </p:sp>
    </p:spTree>
    <p:extLst>
      <p:ext uri="{BB962C8B-B14F-4D97-AF65-F5344CB8AC3E}">
        <p14:creationId xmlns:p14="http://schemas.microsoft.com/office/powerpoint/2010/main" val="2384582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7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mpty speech bubbles">
            <a:extLst>
              <a:ext uri="{FF2B5EF4-FFF2-40B4-BE49-F238E27FC236}">
                <a16:creationId xmlns:a16="http://schemas.microsoft.com/office/drawing/2014/main" id="{B6DC448F-524B-7A44-637C-24AFD8289C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26" t="2398" r="16814" b="-1"/>
          <a:stretch/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2799AC-2076-A5C9-FAD7-50D36CF84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CA" sz="2800" dirty="0">
                <a:solidFill>
                  <a:schemeClr val="bg1"/>
                </a:solidFill>
              </a:rPr>
              <a:t>Teaching Points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5BCC4-B23E-CF51-B16F-83B441623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3" y="2718054"/>
            <a:ext cx="7353681" cy="3207258"/>
          </a:xfrm>
        </p:spPr>
        <p:txBody>
          <a:bodyPr anchor="t">
            <a:no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TP1 Explain That Astronauts Use Radio Communication While in Space to Communicate With Other Astronauts and Ground Control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TP2 Invent a Communication System for Space 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TP3 Discuss Communication System Inventions With the Entire Group</a:t>
            </a:r>
            <a:endParaRPr lang="en-CA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3106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 descr="A long row of satellite dishes in the sunset">
            <a:extLst>
              <a:ext uri="{FF2B5EF4-FFF2-40B4-BE49-F238E27FC236}">
                <a16:creationId xmlns:a16="http://schemas.microsoft.com/office/drawing/2014/main" id="{E0875D1F-89D9-CCAE-3052-0D6211A962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223" t="-1" r="2858" b="-1"/>
          <a:stretch/>
        </p:blipFill>
        <p:spPr>
          <a:xfrm>
            <a:off x="7865706" y="0"/>
            <a:ext cx="4326294" cy="68579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C5BB53-3940-A7E0-1B45-08816BC92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65706" cy="590755"/>
          </a:xfrm>
        </p:spPr>
        <p:txBody>
          <a:bodyPr anchor="b"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TP1 Explain That Astronauts Use Radio Communication While in Space to Communicate With Other Astronauts and Ground Control Pt 1</a:t>
            </a:r>
            <a:endParaRPr lang="en-CA" sz="1800" dirty="0">
              <a:solidFill>
                <a:schemeClr val="bg1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B8EC15FE-71A8-B7A4-0A94-9323248C5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829" y="5548237"/>
            <a:ext cx="5246662" cy="2546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7B7D2D3-1D66-B3FA-519A-807BBC152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654497"/>
            <a:ext cx="5626359" cy="273125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75F1836-65FC-5E92-1563-1CEF9C8C9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2657" y="611432"/>
            <a:ext cx="7931020" cy="3112943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While in space, astronauts use </a:t>
            </a:r>
            <a:r>
              <a:rPr lang="en-US" sz="3200" b="1" dirty="0">
                <a:solidFill>
                  <a:srgbClr val="FF0000"/>
                </a:solidFill>
              </a:rPr>
              <a:t>Ultra High Frequency (UHF) radio transceivers </a:t>
            </a:r>
            <a:r>
              <a:rPr lang="en-US" sz="3200" b="1" dirty="0">
                <a:solidFill>
                  <a:schemeClr val="bg1"/>
                </a:solidFill>
              </a:rPr>
              <a:t>to communicate with their colleagues inside the shuttle cabin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The astronauts also sometimes use their UHF radios to </a:t>
            </a:r>
            <a:r>
              <a:rPr lang="en-US" sz="3200" b="1" dirty="0">
                <a:solidFill>
                  <a:srgbClr val="FF0000"/>
                </a:solidFill>
              </a:rPr>
              <a:t>talk with ground control </a:t>
            </a:r>
            <a:r>
              <a:rPr lang="en-US" sz="3200" b="1" dirty="0">
                <a:solidFill>
                  <a:schemeClr val="bg1"/>
                </a:solidFill>
              </a:rPr>
              <a:t>during launch or landing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The Communications Carrier Assembly (CCA) is a fabric cap worn by astronauts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It contains </a:t>
            </a:r>
            <a:r>
              <a:rPr lang="en-US" sz="3200" b="1" dirty="0">
                <a:solidFill>
                  <a:srgbClr val="FF0000"/>
                </a:solidFill>
              </a:rPr>
              <a:t>microphones and speakers</a:t>
            </a:r>
            <a:r>
              <a:rPr lang="en-US" sz="3200" b="1" dirty="0">
                <a:solidFill>
                  <a:schemeClr val="bg1"/>
                </a:solidFill>
              </a:rPr>
              <a:t> for use with the radio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It allows for </a:t>
            </a:r>
            <a:r>
              <a:rPr lang="en-US" sz="3200" b="1" dirty="0">
                <a:solidFill>
                  <a:srgbClr val="FF0000"/>
                </a:solidFill>
              </a:rPr>
              <a:t>hands-free radio communication </a:t>
            </a:r>
            <a:r>
              <a:rPr lang="en-US" sz="3200" b="1" dirty="0">
                <a:solidFill>
                  <a:schemeClr val="bg1"/>
                </a:solidFill>
              </a:rPr>
              <a:t>while wearing a spacesuit</a:t>
            </a:r>
            <a:endParaRPr lang="en-CA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6989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6CF2A2B-0745-440C-9224-C5C6A0A42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BE6D6B-84C9-4D2B-97EB-773B7369E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satellite dish in the night sky&#10;&#10;Description automatically generated">
            <a:extLst>
              <a:ext uri="{FF2B5EF4-FFF2-40B4-BE49-F238E27FC236}">
                <a16:creationId xmlns:a16="http://schemas.microsoft.com/office/drawing/2014/main" id="{BFDED883-BE9B-73A8-845E-ACE6D70DE8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BB3E0C-D7AC-1867-3BC7-CEA01ECCB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131" y="138356"/>
            <a:ext cx="9792471" cy="2057037"/>
          </a:xfrm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rgbClr val="FFFFFF"/>
                </a:solidFill>
              </a:rPr>
              <a:t>TP1 Explain That Astronauts Use Radio Communication While in Space to Communicate With Other Astronauts and Ground Control Pt 2</a:t>
            </a:r>
            <a:endParaRPr lang="en-CA" sz="3700" b="1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084D2-8FA6-3D6D-21B6-EC4B2E184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63" y="2195393"/>
            <a:ext cx="11934825" cy="3171423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FFFFFF"/>
                </a:solidFill>
              </a:rPr>
              <a:t>It is virtually impossible to provide regulations and procedures applicable to all possible situations associated with two-way radio communication failure</a:t>
            </a:r>
          </a:p>
          <a:p>
            <a:r>
              <a:rPr lang="en-US" sz="3600" b="1" dirty="0">
                <a:solidFill>
                  <a:srgbClr val="FFFFFF"/>
                </a:solidFill>
              </a:rPr>
              <a:t>During </a:t>
            </a:r>
            <a:r>
              <a:rPr lang="en-US" sz="3600" b="1" dirty="0">
                <a:solidFill>
                  <a:srgbClr val="FF0000"/>
                </a:solidFill>
              </a:rPr>
              <a:t>two-way radio communication failure</a:t>
            </a:r>
            <a:r>
              <a:rPr lang="en-US" sz="3600" b="1" dirty="0">
                <a:solidFill>
                  <a:srgbClr val="FFFFFF"/>
                </a:solidFill>
              </a:rPr>
              <a:t>, when confronted with a situation not covered in the regulations, </a:t>
            </a:r>
            <a:r>
              <a:rPr lang="en-US" sz="3600" b="1" dirty="0">
                <a:solidFill>
                  <a:srgbClr val="FF0000"/>
                </a:solidFill>
              </a:rPr>
              <a:t>astronauts are expected to exercise good judgement in whatever alternative communication method they choose to communicate with each other</a:t>
            </a:r>
            <a:endParaRPr lang="en-CA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002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6CF2A2B-0745-440C-9224-C5C6A0A42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BE6D6B-84C9-4D2B-97EB-773B7369E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bstract blurred public library with bookshelves">
            <a:extLst>
              <a:ext uri="{FF2B5EF4-FFF2-40B4-BE49-F238E27FC236}">
                <a16:creationId xmlns:a16="http://schemas.microsoft.com/office/drawing/2014/main" id="{C67503AE-CDCD-E2E0-2921-A4F79EE305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1310" b="14420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C175E-4C47-AFEB-B1DE-A08ED2612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975" y="304801"/>
            <a:ext cx="11801475" cy="5824288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FFFF"/>
                </a:solidFill>
              </a:rPr>
              <a:t>Q1. While in space, what do shuttle astronauts use to communicate with their colleagues inside the shuttle cabin? </a:t>
            </a:r>
          </a:p>
          <a:p>
            <a:r>
              <a:rPr lang="en-US" sz="3200" b="1" dirty="0">
                <a:solidFill>
                  <a:srgbClr val="FFFFFF"/>
                </a:solidFill>
              </a:rPr>
              <a:t>Q2. What allows hands-free radio communication while wearing a spacesuit? </a:t>
            </a:r>
          </a:p>
          <a:p>
            <a:r>
              <a:rPr lang="en-US" sz="3200" b="1" dirty="0">
                <a:solidFill>
                  <a:srgbClr val="FFFFFF"/>
                </a:solidFill>
              </a:rPr>
              <a:t>Q3. What must astronauts do during two-way radio communication failure? </a:t>
            </a:r>
          </a:p>
          <a:p>
            <a:r>
              <a:rPr lang="en-US" sz="3200" b="1" dirty="0">
                <a:solidFill>
                  <a:srgbClr val="FFFFFF"/>
                </a:solidFill>
              </a:rPr>
              <a:t>A1. While in space, shuttle astronauts use UHF radio transceivers to communicate with their colleagues inside the shuttle cabin. </a:t>
            </a:r>
          </a:p>
          <a:p>
            <a:r>
              <a:rPr lang="en-US" sz="3200" b="1" dirty="0">
                <a:solidFill>
                  <a:srgbClr val="FFFFFF"/>
                </a:solidFill>
              </a:rPr>
              <a:t>A2. The CCA is a fabric cap worn by the astronaut. It contains microphones and speakers for use with the radio. </a:t>
            </a:r>
          </a:p>
          <a:p>
            <a:r>
              <a:rPr lang="en-US" sz="3200" b="1" dirty="0">
                <a:solidFill>
                  <a:srgbClr val="FFFFFF"/>
                </a:solidFill>
              </a:rPr>
              <a:t>A3. Astronauts are expected to exercise good judgement in whatever alternative communication method they choose to communicate with each other.</a:t>
            </a:r>
            <a:endParaRPr lang="en-CA" sz="32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714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27BD7-6874-B5EB-51D0-5E8C5F248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45" y="0"/>
            <a:ext cx="121920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/>
              <a:t>1. Divide the cadets into groups of no more than five</a:t>
            </a:r>
          </a:p>
          <a:p>
            <a:pPr marL="0" indent="0">
              <a:buNone/>
            </a:pPr>
            <a:r>
              <a:rPr lang="en-US" sz="3200" b="1" dirty="0"/>
              <a:t>2. Provide the groups with a message cue card located at Annex A to focus on what they must be able to communicate using their communication invention</a:t>
            </a:r>
          </a:p>
          <a:p>
            <a:pPr marL="0" indent="0">
              <a:buNone/>
            </a:pPr>
            <a:r>
              <a:rPr lang="en-US" sz="3200" b="1" dirty="0"/>
              <a:t>3. Groups will have 30 minutes to invent a communication system for space</a:t>
            </a:r>
          </a:p>
          <a:p>
            <a:pPr marL="0" indent="0">
              <a:buNone/>
            </a:pPr>
            <a:r>
              <a:rPr lang="en-US" sz="3200" b="1" dirty="0"/>
              <a:t>4. One cadet from each group will present their group’s invention to the class by communicating the message from their cue card using the invention</a:t>
            </a:r>
          </a:p>
          <a:p>
            <a:pPr marL="0" indent="0">
              <a:buNone/>
            </a:pPr>
            <a:r>
              <a:rPr lang="en-US" sz="3200" b="1" dirty="0"/>
              <a:t>5. Once the cadet has communicated the message using their invention, the class must determine the message. The cadet cannot communicate the message to the class using speech</a:t>
            </a:r>
          </a:p>
          <a:p>
            <a:pPr marL="0" indent="0">
              <a:buNone/>
            </a:pPr>
            <a:r>
              <a:rPr lang="en-US" sz="3200" b="1" dirty="0"/>
              <a:t>6. The cadet will read the message aloud to the class once they determine the message</a:t>
            </a:r>
            <a:endParaRPr lang="en-CA" sz="3200" b="1" dirty="0"/>
          </a:p>
        </p:txBody>
      </p:sp>
    </p:spTree>
    <p:extLst>
      <p:ext uri="{BB962C8B-B14F-4D97-AF65-F5344CB8AC3E}">
        <p14:creationId xmlns:p14="http://schemas.microsoft.com/office/powerpoint/2010/main" val="4223833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2A9E63-C26B-9B92-ECF2-B0FAA4BB0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384" y="556011"/>
            <a:ext cx="5105842" cy="57459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D99D0B-FEAD-49C3-7794-F46C51268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92252"/>
            <a:ext cx="4953429" cy="550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943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DA1CA-4D76-A2E6-C7C6-97EC138C9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03B15-FBAC-7376-17B9-AE58D3B99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3288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457</Words>
  <Application>Microsoft Office PowerPoint</Application>
  <PresentationFormat>Widescreen</PresentationFormat>
  <Paragraphs>27</Paragraphs>
  <Slides>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EOC240.02 – INVENT A COMMUNICATION SYSTEM FOR SPACE</vt:lpstr>
      <vt:lpstr>Teaching Points</vt:lpstr>
      <vt:lpstr>TP1 Explain That Astronauts Use Radio Communication While in Space to Communicate With Other Astronauts and Ground Control Pt 1</vt:lpstr>
      <vt:lpstr>TP1 Explain That Astronauts Use Radio Communication While in Space to Communicate With Other Astronauts and Ground Control Pt 2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EOC240.02 – INVENT A COMMUNICATION SYSTEM FOR SPACE</dc:title>
  <dc:creator>kevin zhu</dc:creator>
  <cp:lastModifiedBy>Kevin Zhu</cp:lastModifiedBy>
  <cp:revision>9</cp:revision>
  <dcterms:created xsi:type="dcterms:W3CDTF">2024-02-10T07:02:21Z</dcterms:created>
  <dcterms:modified xsi:type="dcterms:W3CDTF">2025-05-26T01:26:58Z</dcterms:modified>
</cp:coreProperties>
</file>