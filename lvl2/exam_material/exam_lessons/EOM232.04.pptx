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9144000" cy="5143500" type="screen16x9"/>
  <p:notesSz cx="6858000" cy="9144000"/>
  <p:embeddedFontLst>
    <p:embeddedFont>
      <p:font typeface="Average" panose="020B0604020202020204" charset="0"/>
      <p:regular r:id="rId22"/>
    </p:embeddedFont>
    <p:embeddedFont>
      <p:font typeface="Oswald" panose="00000500000000000000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B1983E-37F5-46F2-B209-9B807270B285}">
  <a:tblStyle styleId="{F7B1983E-37F5-46F2-B209-9B807270B2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682f96999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682f96999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82f96999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82f96999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682f96999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682f969991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82f96999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82f96999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82f96999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82f96999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82f96999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82f969991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82f969991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82f969991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682f969991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682f969991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82f969991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682f969991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7327a1db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7327a1db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82f969991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82f969991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7327a1db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7327a1db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82f969991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82f969991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82f969991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82f969991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7327a1db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b7327a1db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b7327a1db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b7327a1db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682f969991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682f969991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7327a1db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b7327a1db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EOM 232.04 Recognise the Functions of Oil in a 4 Stroke Piston Powered Engine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363250"/>
            <a:ext cx="7801500" cy="10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30 min lecture</a:t>
            </a:r>
            <a:endParaRPr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end goals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" sz="2600">
                <a:solidFill>
                  <a:schemeClr val="dk1"/>
                </a:solidFill>
              </a:rPr>
              <a:t>Recognise the functions of oil in piston powered engines</a:t>
            </a:r>
            <a:endParaRPr sz="260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" sz="2600">
                <a:solidFill>
                  <a:schemeClr val="dk1"/>
                </a:solidFill>
              </a:rPr>
              <a:t>Why oil is important to make the engine function smoothly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Note: There will be only 1 confirmation at the very end of the lesson. Please take notes!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Points</a:t>
            </a:r>
            <a:endParaRPr/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0" y="1079450"/>
          <a:ext cx="9144000" cy="4064070"/>
        </p:xfrm>
        <a:graphic>
          <a:graphicData uri="http://schemas.openxmlformats.org/drawingml/2006/table">
            <a:tbl>
              <a:tblPr>
                <a:noFill/>
                <a:tableStyleId>{F7B1983E-37F5-46F2-B209-9B807270B285}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7425">
                <a:tc>
                  <a:txBody>
                    <a:bodyPr/>
                    <a:lstStyle/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1 Explain That Oil Lubricates the Engine</a:t>
                      </a:r>
                      <a:endParaRPr sz="2400" b="1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25">
                <a:tc>
                  <a:txBody>
                    <a:bodyPr/>
                    <a:lstStyle/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2 Compare Friction and Heat</a:t>
                      </a:r>
                      <a:endParaRPr sz="2400" b="1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25">
                <a:tc>
                  <a:txBody>
                    <a:bodyPr/>
                    <a:lstStyle/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 Explain That Oil Seals the Combustion Chamber</a:t>
                      </a:r>
                      <a:endParaRPr sz="2400" b="1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25">
                <a:tc>
                  <a:txBody>
                    <a:bodyPr/>
                    <a:lstStyle/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4 Explain That Oil Cools Hot Spots in the Engine</a:t>
                      </a:r>
                      <a:endParaRPr sz="2400" b="1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25">
                <a:tc>
                  <a:txBody>
                    <a:bodyPr/>
                    <a:lstStyle/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5 Explain That Oil Removes and Holds Particles Harmful to</a:t>
                      </a:r>
                      <a:endParaRPr sz="2400" b="1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the Engine</a:t>
                      </a:r>
                      <a:endParaRPr sz="2400" b="1">
                        <a:solidFill>
                          <a:schemeClr val="dk1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311700" y="2064100"/>
            <a:ext cx="8520600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Lubricating (TP1)			                 Sealing (TP3)</a:t>
            </a:r>
            <a:endParaRPr sz="27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Cooling (TP4)			                Flushing (TP5)</a:t>
            </a:r>
            <a:endParaRPr sz="27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213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4 Functions of Oil !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38" y="287863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12" y="268712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5">
            <a:alphaModFix/>
          </a:blip>
          <a:srcRect t="9482" b="9474"/>
          <a:stretch/>
        </p:blipFill>
        <p:spPr>
          <a:xfrm>
            <a:off x="6163150" y="148407"/>
            <a:ext cx="2466975" cy="1879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7888" y="2658550"/>
            <a:ext cx="2857500" cy="19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6"/>
          <p:cNvGrpSpPr/>
          <p:nvPr/>
        </p:nvGrpSpPr>
        <p:grpSpPr>
          <a:xfrm>
            <a:off x="3396823" y="1396750"/>
            <a:ext cx="2350362" cy="2350007"/>
            <a:chOff x="3534225" y="579300"/>
            <a:chExt cx="2075558" cy="1904999"/>
          </a:xfrm>
        </p:grpSpPr>
        <p:sp>
          <p:nvSpPr>
            <p:cNvPr id="84" name="Google Shape;84;p16"/>
            <p:cNvSpPr/>
            <p:nvPr/>
          </p:nvSpPr>
          <p:spPr>
            <a:xfrm>
              <a:off x="4492350" y="1888075"/>
              <a:ext cx="159300" cy="178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verage"/>
                <a:ea typeface="Average"/>
                <a:cs typeface="Average"/>
                <a:sym typeface="Average"/>
              </a:endParaRPr>
            </a:p>
          </p:txBody>
        </p:sp>
        <p:grpSp>
          <p:nvGrpSpPr>
            <p:cNvPr id="85" name="Google Shape;85;p16"/>
            <p:cNvGrpSpPr/>
            <p:nvPr/>
          </p:nvGrpSpPr>
          <p:grpSpPr>
            <a:xfrm>
              <a:off x="3534225" y="579300"/>
              <a:ext cx="2075558" cy="1904999"/>
              <a:chOff x="3534225" y="1472500"/>
              <a:chExt cx="2075558" cy="1904999"/>
            </a:xfrm>
          </p:grpSpPr>
          <p:sp>
            <p:nvSpPr>
              <p:cNvPr id="86" name="Google Shape;86;p16"/>
              <p:cNvSpPr/>
              <p:nvPr/>
            </p:nvSpPr>
            <p:spPr>
              <a:xfrm>
                <a:off x="3738100" y="1709675"/>
                <a:ext cx="159300" cy="178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verage"/>
                  <a:ea typeface="Average"/>
                  <a:cs typeface="Average"/>
                  <a:sym typeface="Average"/>
                </a:endParaRPr>
              </a:p>
            </p:txBody>
          </p:sp>
          <p:pic>
            <p:nvPicPr>
              <p:cNvPr id="87" name="Google Shape;87;p16"/>
              <p:cNvPicPr preferRelativeResize="0"/>
              <p:nvPr/>
            </p:nvPicPr>
            <p:blipFill rotWithShape="1">
              <a:blip r:embed="rId7">
                <a:alphaModFix/>
              </a:blip>
              <a:srcRect l="52178" t="21972"/>
              <a:stretch/>
            </p:blipFill>
            <p:spPr>
              <a:xfrm>
                <a:off x="3534225" y="1472500"/>
                <a:ext cx="2075558" cy="19049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286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TP1 Explain That Oil Lubricates the Engine</a:t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399300" y="916100"/>
            <a:ext cx="83454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LUBRICATING</a:t>
            </a:r>
            <a:endParaRPr sz="1800" dirty="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 lubricates the engine by </a:t>
            </a:r>
            <a:r>
              <a:rPr lang="en" sz="22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creating a smooth surface between parts </a:t>
            </a: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that rub together, such as the piston when it moves up and down in the cylinder.</a:t>
            </a:r>
            <a:endParaRPr sz="22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 is </a:t>
            </a:r>
            <a:r>
              <a:rPr lang="en" sz="22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manufactured in different grades and viscosities</a:t>
            </a:r>
            <a:r>
              <a:rPr lang="en" sz="2200" u="sng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The grade of a particular sample of oil is a measure of its </a:t>
            </a:r>
            <a:r>
              <a:rPr lang="en" sz="22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ability to maintain its viscosity</a:t>
            </a:r>
            <a:r>
              <a:rPr lang="en" sz="2200" u="sng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,</a:t>
            </a: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or resistance to flow, under extreme temperatures.</a:t>
            </a:r>
            <a:endParaRPr sz="22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TP1 Explain That Oil Lubricates the Engine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viscosity, or resistance to flow, affects the oil’s stickiness.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Low-viscosity oil flows more easily than high-viscosity oil.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Oil thins as its temperature is raised</a:t>
            </a:r>
            <a:r>
              <a:rPr lang="en" dirty="0"/>
              <a:t> so the correct grade of oil must be selected for the intended condition when the engine is at operating temperature.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Oil that is </a:t>
            </a:r>
            <a:r>
              <a:rPr lang="en" dirty="0">
                <a:solidFill>
                  <a:srgbClr val="FF0000"/>
                </a:solidFill>
              </a:rPr>
              <a:t>too thin </a:t>
            </a:r>
            <a:r>
              <a:rPr lang="en" dirty="0"/>
              <a:t>(low viscosity) will result in low oil pressure and </a:t>
            </a:r>
            <a:r>
              <a:rPr lang="en" b="1" dirty="0">
                <a:solidFill>
                  <a:srgbClr val="FF0000"/>
                </a:solidFill>
              </a:rPr>
              <a:t>will not protect the engine component surfaces</a:t>
            </a:r>
            <a:r>
              <a:rPr lang="en" dirty="0">
                <a:solidFill>
                  <a:srgbClr val="FF0000"/>
                </a:solidFill>
              </a:rPr>
              <a:t> </a:t>
            </a:r>
            <a:r>
              <a:rPr lang="en" dirty="0"/>
              <a:t>adequately.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Oil that is </a:t>
            </a:r>
            <a:r>
              <a:rPr lang="en" dirty="0">
                <a:solidFill>
                  <a:srgbClr val="FF0000"/>
                </a:solidFill>
              </a:rPr>
              <a:t>too thick </a:t>
            </a:r>
            <a:r>
              <a:rPr lang="en" dirty="0"/>
              <a:t>(high viscosity) will result in too high oil pressure and </a:t>
            </a:r>
            <a:r>
              <a:rPr lang="en" b="1" dirty="0">
                <a:solidFill>
                  <a:srgbClr val="FF0000"/>
                </a:solidFill>
              </a:rPr>
              <a:t>will not be delivered in sufficient quantity </a:t>
            </a:r>
            <a:r>
              <a:rPr lang="en" dirty="0"/>
              <a:t>when the engine is cold.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TP1 Explain That Oil Lubricates the Engine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/>
              <a:t>A good grade of oil is oil which have very small changes of viscosity in different conditions.</a:t>
            </a:r>
            <a:endParaRPr sz="21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rgbClr val="FF0000"/>
                </a:solidFill>
              </a:rPr>
              <a:t>Cold oil is often too thick </a:t>
            </a:r>
            <a:r>
              <a:rPr lang="en" sz="2100" dirty="0"/>
              <a:t>(viscous) to be delivered to the engine component’s metal surfaces in sufficient quantity so when an engine is cold it should not be run fast or given a load. </a:t>
            </a:r>
            <a:endParaRPr sz="21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 dirty="0"/>
              <a:t>An aircraft will often be seen sitting still with the engine and propeller running while the engine oil comes up to temperature, just like a car in the winter. (yes you are suppose to warm your engine up in winter)</a:t>
            </a:r>
            <a:endParaRPr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TP2 Compare Friction and Heat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 dirty="0"/>
              <a:t>How Friction Creates Heat</a:t>
            </a:r>
            <a:endParaRPr sz="2200" u="sng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dirty="0"/>
              <a:t>Movement is kinetic energy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dirty="0"/>
              <a:t>When a </a:t>
            </a:r>
            <a:r>
              <a:rPr lang="en" sz="2200" dirty="0">
                <a:solidFill>
                  <a:srgbClr val="FF0000"/>
                </a:solidFill>
              </a:rPr>
              <a:t>moving surface comes into contact with another object</a:t>
            </a:r>
            <a:r>
              <a:rPr lang="en" sz="2200" dirty="0"/>
              <a:t>, friction is generated, which converts kinetic energy into heat energy.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dirty="0"/>
              <a:t>This is not ideal for engines because we need kinetic energy and </a:t>
            </a:r>
            <a:r>
              <a:rPr lang="en" sz="2200" dirty="0">
                <a:solidFill>
                  <a:srgbClr val="FF0000"/>
                </a:solidFill>
              </a:rPr>
              <a:t>heat energy is wasted energy</a:t>
            </a:r>
            <a:r>
              <a:rPr lang="en" sz="2200" dirty="0"/>
              <a:t>, and can lower engine life.</a:t>
            </a:r>
            <a:endParaRPr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TP2 Compare Friction and Heat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450450" y="1017725"/>
            <a:ext cx="6454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How can we reduce friction?</a:t>
            </a:r>
            <a:endParaRPr sz="2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506500" y="1908250"/>
            <a:ext cx="7754400" cy="212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Oil creates a small layer</a:t>
            </a:r>
            <a:r>
              <a:rPr lang="en" sz="23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between parts so moving parts don’t directly rub against each other.</a:t>
            </a:r>
            <a:endParaRPr sz="23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By using oil, we can reduce the contact between moving parts and therefore, reduce friction!</a:t>
            </a:r>
            <a:endParaRPr sz="23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TP3 Explain That Oil Seals the Combustion Chamber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0000"/>
                </a:solidFill>
              </a:rPr>
              <a:t>SEALING</a:t>
            </a:r>
            <a:endParaRPr sz="20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/>
              <a:t>Oil seals the combustion chamber to </a:t>
            </a:r>
            <a:r>
              <a:rPr lang="en" sz="2000" dirty="0">
                <a:solidFill>
                  <a:srgbClr val="FF0000"/>
                </a:solidFill>
              </a:rPr>
              <a:t>prevent the expanding gases during combustion from leaking out </a:t>
            </a:r>
            <a:r>
              <a:rPr lang="en" sz="2000" dirty="0"/>
              <a:t>during the power stroke.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/>
              <a:t>It does this by creating a barrier between the engine components so that air and other gases cannot get through.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dirty="0"/>
              <a:t>This is especially important in the cylinder, so that the exploding gasoline and air mixture does not escape. 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TP3 Explain That Oil Seals the Combustion Chamber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Oil has conflicting demands to meet: </a:t>
            </a:r>
            <a:endParaRPr sz="2200" dirty="0"/>
          </a:p>
          <a:p>
            <a:pPr marL="457200" lvl="0" indent="-3683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200"/>
              <a:buChar char="-"/>
            </a:pPr>
            <a:r>
              <a:rPr lang="en" sz="2200" dirty="0"/>
              <a:t>A </a:t>
            </a:r>
            <a:r>
              <a:rPr lang="en" sz="2200" dirty="0">
                <a:solidFill>
                  <a:srgbClr val="FF0000"/>
                </a:solidFill>
              </a:rPr>
              <a:t>high viscosity</a:t>
            </a:r>
            <a:r>
              <a:rPr lang="en" sz="2200" dirty="0"/>
              <a:t> (resistance to flow) provides the best seal for the combustion chamber</a:t>
            </a:r>
            <a:endParaRPr sz="2200" dirty="0"/>
          </a:p>
          <a:p>
            <a:pPr marL="457200" lvl="0" indent="-3683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 dirty="0"/>
              <a:t>A </a:t>
            </a:r>
            <a:r>
              <a:rPr lang="en" sz="2200" dirty="0">
                <a:solidFill>
                  <a:srgbClr val="FF0000"/>
                </a:solidFill>
              </a:rPr>
              <a:t>low viscosity </a:t>
            </a:r>
            <a:r>
              <a:rPr lang="en" sz="2200" dirty="0"/>
              <a:t>enables the oil to be delivered in greater quantity to bearing surfaces.</a:t>
            </a:r>
            <a:endParaRPr sz="2200" dirty="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dirty="0"/>
              <a:t>The same oil must do both jobs and so the engine manufacturer must consider both of these competing requirements when specifying the viscosity and grade of oil to be used.</a:t>
            </a:r>
            <a:endParaRPr sz="2200" dirty="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TP4 Explain That Oil Cools Hot Spots in the Engine</a:t>
            </a:r>
            <a:endParaRPr/>
          </a:p>
        </p:txBody>
      </p:sp>
      <p:sp>
        <p:nvSpPr>
          <p:cNvPr id="136" name="Google Shape;136;p24"/>
          <p:cNvSpPr txBox="1"/>
          <p:nvPr/>
        </p:nvSpPr>
        <p:spPr>
          <a:xfrm>
            <a:off x="311700" y="1017725"/>
            <a:ext cx="83454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COOLING</a:t>
            </a:r>
            <a:endParaRPr sz="2200" dirty="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Some </a:t>
            </a:r>
            <a:r>
              <a:rPr lang="en" sz="22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parts of the engine get hotter </a:t>
            </a: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than other parts. Areas near the combustion chamber get particularly hot and need to be cooled. </a:t>
            </a:r>
            <a:endParaRPr sz="22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 cools hot spots in the engine by </a:t>
            </a:r>
            <a:r>
              <a:rPr lang="en" sz="2200" u="sng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carrying heat away and equalizing temperature within the engine. </a:t>
            </a: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This equalization of temperature also </a:t>
            </a:r>
            <a:r>
              <a:rPr lang="en" sz="2200" u="sng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helps to bring a cold engine up to operating temperature</a:t>
            </a:r>
            <a:r>
              <a:rPr lang="en" sz="22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quickly.</a:t>
            </a:r>
            <a:endParaRPr sz="22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TP4 Explain That Oil Cools Hot Spots in the Engine</a:t>
            </a:r>
            <a:endParaRPr/>
          </a:p>
        </p:txBody>
      </p:sp>
      <p:sp>
        <p:nvSpPr>
          <p:cNvPr id="142" name="Google Shape;142;p25"/>
          <p:cNvSpPr txBox="1"/>
          <p:nvPr/>
        </p:nvSpPr>
        <p:spPr>
          <a:xfrm>
            <a:off x="311700" y="1287550"/>
            <a:ext cx="83454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 must maintain its viscosity while near the heat of the combustion chamber.</a:t>
            </a:r>
            <a:endParaRPr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Manufacturers of oil have developed viscosity modifiers that lessen the change of viscosity that results from temperature change. </a:t>
            </a:r>
            <a:endParaRPr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Engine manufacturers take this into consideration when specifying what oil to use.</a:t>
            </a:r>
            <a:endParaRPr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TP5 Explain That Oil Removes and Holds Particles Harmful to the Engine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300"/>
          </a:p>
        </p:txBody>
      </p:sp>
      <p:sp>
        <p:nvSpPr>
          <p:cNvPr id="148" name="Google Shape;148;p26"/>
          <p:cNvSpPr txBox="1"/>
          <p:nvPr/>
        </p:nvSpPr>
        <p:spPr>
          <a:xfrm>
            <a:off x="399300" y="955500"/>
            <a:ext cx="83454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FLUSHING</a:t>
            </a:r>
            <a:endParaRPr sz="1800" dirty="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 flushes the engine. </a:t>
            </a:r>
            <a:r>
              <a:rPr lang="en" sz="18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It removes and holds tiny particles that harm the engine</a:t>
            </a:r>
            <a:r>
              <a:rPr lang="en" sz="1800" u="sng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This means the oil carries away debris from the engine as it flows through. This is why </a:t>
            </a:r>
            <a:r>
              <a:rPr lang="en" sz="18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it is important to change oil at frequent intervals</a:t>
            </a: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as specified by the engine manufacturer.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As the oil is continuously circulated around the engine it passes through an oil filter. This filter fills with debris and </a:t>
            </a:r>
            <a:r>
              <a:rPr lang="en" sz="1800" dirty="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must also be changed at regular intervals </a:t>
            </a: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to remain effective.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/>
          <p:nvPr/>
        </p:nvSpPr>
        <p:spPr>
          <a:xfrm>
            <a:off x="6254988" y="1629188"/>
            <a:ext cx="2577300" cy="5727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INCORRECT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6254988" y="2326288"/>
            <a:ext cx="2577300" cy="5727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CORRECT!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6254988" y="3023388"/>
            <a:ext cx="2577300" cy="5727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CORRECT!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6254988" y="3718150"/>
            <a:ext cx="2577300" cy="5727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INCORRECT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6254988" y="4412913"/>
            <a:ext cx="2577300" cy="5727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INCORRECT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3283338" y="4412938"/>
            <a:ext cx="2577300" cy="5727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INCORRECT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3283338" y="3720488"/>
            <a:ext cx="2577300" cy="5727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CORRECT!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3283338" y="3023363"/>
            <a:ext cx="2577300" cy="5727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INCORRECT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3283338" y="2326263"/>
            <a:ext cx="2577300" cy="5727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INCORRECT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3283338" y="1624475"/>
            <a:ext cx="2577300" cy="5727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CORRECT!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3063825" y="1362700"/>
            <a:ext cx="6080100" cy="378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311700" y="220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Confirmation</a:t>
            </a:r>
            <a:endParaRPr/>
          </a:p>
        </p:txBody>
      </p:sp>
      <p:graphicFrame>
        <p:nvGraphicFramePr>
          <p:cNvPr id="165" name="Google Shape;165;p27"/>
          <p:cNvGraphicFramePr/>
          <p:nvPr/>
        </p:nvGraphicFramePr>
        <p:xfrm>
          <a:off x="311700" y="1752625"/>
          <a:ext cx="2650225" cy="2553800"/>
        </p:xfrm>
        <a:graphic>
          <a:graphicData uri="http://schemas.openxmlformats.org/drawingml/2006/table">
            <a:tbl>
              <a:tblPr>
                <a:noFill/>
                <a:tableStyleId>{F7B1983E-37F5-46F2-B209-9B807270B285}</a:tableStyleId>
              </a:tblPr>
              <a:tblGrid>
                <a:gridCol w="265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8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6" name="Google Shape;166;p27"/>
          <p:cNvSpPr txBox="1"/>
          <p:nvPr/>
        </p:nvSpPr>
        <p:spPr>
          <a:xfrm>
            <a:off x="383250" y="856125"/>
            <a:ext cx="645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Task 1: Place the correct functions of oil in the boxes below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3283338" y="1624475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Flushing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3283338" y="2326250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Sliding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3283350" y="3028050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Oswald"/>
                <a:ea typeface="Oswald"/>
                <a:cs typeface="Oswald"/>
                <a:sym typeface="Oswald"/>
              </a:rPr>
              <a:t>Flowing</a:t>
            </a:r>
            <a:endParaRPr sz="18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3283350" y="3720488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Sealing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3283350" y="4412925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Flowing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6255000" y="1624488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Heating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6255000" y="2316913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Lubricating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6255000" y="3028075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Cooling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6255000" y="3720500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Combusting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6255000" y="4412925"/>
            <a:ext cx="2577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Oswald"/>
                <a:ea typeface="Oswald"/>
                <a:cs typeface="Oswald"/>
                <a:sym typeface="Oswald"/>
              </a:rPr>
              <a:t>None of the above</a:t>
            </a:r>
            <a:endParaRPr sz="1800" dirty="0"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77" name="Google Shape;177;p27"/>
          <p:cNvCxnSpPr/>
          <p:nvPr/>
        </p:nvCxnSpPr>
        <p:spPr>
          <a:xfrm>
            <a:off x="1632163" y="1317825"/>
            <a:ext cx="9300" cy="389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xfrm>
            <a:off x="311700" y="220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Confirmation</a:t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383250" y="856125"/>
            <a:ext cx="645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Task 2: Answer the following multiple choice questions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404100" y="1317825"/>
            <a:ext cx="6412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What part of the engine does oil help seal?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Pistons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Combustion Chamber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Crankshaft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The entire engine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404100" y="2965650"/>
            <a:ext cx="6412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What does the viscosity number for oil mean?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Oil’s readiness to flow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Oil’s quality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Oil’s grade on its most recent math test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Oil’s resistance to flow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383250" y="4131863"/>
            <a:ext cx="3261900" cy="306000"/>
          </a:xfrm>
          <a:prstGeom prst="rect">
            <a:avLst/>
          </a:prstGeom>
          <a:noFill/>
          <a:ln w="3810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383250" y="1949775"/>
            <a:ext cx="3261900" cy="306000"/>
          </a:xfrm>
          <a:prstGeom prst="rect">
            <a:avLst/>
          </a:prstGeom>
          <a:noFill/>
          <a:ln w="3810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311700" y="220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Confirmation</a:t>
            </a:r>
            <a:endParaRPr/>
          </a:p>
        </p:txBody>
      </p:sp>
      <p:sp>
        <p:nvSpPr>
          <p:cNvPr id="205" name="Google Shape;205;p30"/>
          <p:cNvSpPr txBox="1"/>
          <p:nvPr/>
        </p:nvSpPr>
        <p:spPr>
          <a:xfrm>
            <a:off x="383250" y="856125"/>
            <a:ext cx="645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Task 3: Answer the following questions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647950" y="1685550"/>
            <a:ext cx="6412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How does oil clean the engine?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How does oil cool down the engine?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Explain how oil reduces friction.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714725" y="2110050"/>
            <a:ext cx="64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Answer: It removes and holds debris found in the engine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714725" y="2897025"/>
            <a:ext cx="64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Answer: Heat transfers to oil to equalise temperature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714725" y="3809550"/>
            <a:ext cx="6412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Answer: Oil creates a small layer between parts so moving parts don’t directly rub against each other, thus reducing friction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614550" y="2119750"/>
            <a:ext cx="59562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714725" y="2959800"/>
            <a:ext cx="59562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714725" y="3799850"/>
            <a:ext cx="62457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18" name="Google Shape;218;p31"/>
          <p:cNvSpPr txBox="1"/>
          <p:nvPr/>
        </p:nvSpPr>
        <p:spPr>
          <a:xfrm>
            <a:off x="399300" y="1065475"/>
            <a:ext cx="76599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We now know…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 is used for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Lubricating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Sealing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Cooling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Flushing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Oil can have different viscosities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Low viscosity oil makes it easier to circulate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High viscosity oil is effective for sealing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>
            <a:spLocks noGrp="1"/>
          </p:cNvSpPr>
          <p:nvPr>
            <p:ph type="ctrTitle"/>
          </p:nvPr>
        </p:nvSpPr>
        <p:spPr>
          <a:xfrm>
            <a:off x="671258" y="28485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 of EOM232.04</a:t>
            </a:r>
            <a:endParaRPr/>
          </a:p>
        </p:txBody>
      </p:sp>
      <p:pic>
        <p:nvPicPr>
          <p:cNvPr id="224" name="Google Shape;2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700" y="2325200"/>
            <a:ext cx="4320998" cy="24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1106</Words>
  <Application>Microsoft Office PowerPoint</Application>
  <PresentationFormat>On-screen Show (16:9)</PresentationFormat>
  <Paragraphs>134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Average</vt:lpstr>
      <vt:lpstr>Oswald</vt:lpstr>
      <vt:lpstr>Arial</vt:lpstr>
      <vt:lpstr>Slate</vt:lpstr>
      <vt:lpstr>EOM 232.04 Recognise the Functions of Oil in a 4 Stroke Piston Powered Engine</vt:lpstr>
      <vt:lpstr>Our end goals</vt:lpstr>
      <vt:lpstr>Teaching Points</vt:lpstr>
      <vt:lpstr>The 4 Functions of Oil !</vt:lpstr>
      <vt:lpstr>TP1 Explain That Oil Lubricates the Engine</vt:lpstr>
      <vt:lpstr>TP1 Explain That Oil Lubricates the Engine</vt:lpstr>
      <vt:lpstr>TP1 Explain That Oil Lubricates the Engine</vt:lpstr>
      <vt:lpstr>TP2 Compare Friction and Heat</vt:lpstr>
      <vt:lpstr>TP2 Compare Friction and Heat</vt:lpstr>
      <vt:lpstr>TP3 Explain That Oil Seals the Combustion Chamber</vt:lpstr>
      <vt:lpstr>TP3 Explain That Oil Seals the Combustion Chamber</vt:lpstr>
      <vt:lpstr>TP4 Explain That Oil Cools Hot Spots in the Engine</vt:lpstr>
      <vt:lpstr>TP4 Explain That Oil Cools Hot Spots in the Engine</vt:lpstr>
      <vt:lpstr>TP5 Explain That Oil Removes and Holds Particles Harmful to the Engine  </vt:lpstr>
      <vt:lpstr>Confirmation</vt:lpstr>
      <vt:lpstr>Confirmation</vt:lpstr>
      <vt:lpstr>Confirmation</vt:lpstr>
      <vt:lpstr>Summary</vt:lpstr>
      <vt:lpstr>THE END of EOM232.04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Zhu</cp:lastModifiedBy>
  <cp:revision>6</cp:revision>
  <dcterms:modified xsi:type="dcterms:W3CDTF">2025-05-27T04:33:57Z</dcterms:modified>
</cp:coreProperties>
</file>