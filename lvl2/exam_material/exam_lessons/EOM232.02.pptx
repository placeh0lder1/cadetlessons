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71" r:id="rId13"/>
    <p:sldId id="272" r:id="rId14"/>
    <p:sldId id="267" r:id="rId15"/>
    <p:sldId id="268" r:id="rId16"/>
    <p:sldId id="275" r:id="rId17"/>
    <p:sldId id="269" r:id="rId18"/>
    <p:sldId id="273" r:id="rId19"/>
    <p:sldId id="276" r:id="rId20"/>
    <p:sldId id="270" r:id="rId21"/>
    <p:sldId id="2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301D0-5767-4AA0-A49F-948F9F3BB235}" v="51" dt="2024-01-14T21:15:03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383" autoAdjust="0"/>
  </p:normalViewPr>
  <p:slideViewPr>
    <p:cSldViewPr snapToGrid="0">
      <p:cViewPr varScale="1">
        <p:scale>
          <a:sx n="93" d="100"/>
          <a:sy n="93" d="100"/>
        </p:scale>
        <p:origin x="12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FBBD3-A239-4B01-9051-C5EC3AA161B1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F6B90-ABBF-435D-BEF2-7CD8DE76A3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36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REMEMBER: DRILL TEAM AD NEXT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Before we continue with this lesson, I would like to relay a quick word from our sponsor, the 110 Squadron Drill Team!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F6B90-ABBF-435D-BEF2-7CD8DE76A38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61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F6B90-ABBF-435D-BEF2-7CD8DE76A38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0456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F6B90-ABBF-435D-BEF2-7CD8DE76A38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268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F6B90-ABBF-435D-BEF2-7CD8DE76A38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090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F6B90-ABBF-435D-BEF2-7CD8DE76A38C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2001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F6B90-ABBF-435D-BEF2-7CD8DE76A38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3764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F6B90-ABBF-435D-BEF2-7CD8DE76A38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067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CA4A-D849-B345-0A9C-E9B5F9CF6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1855C-ECF3-B633-A298-080A8E5C7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CDC8C-81A1-EBC0-C4B7-4D2C6C48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3DBE5-B943-5180-9F1B-3BD2CA33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D0D5C-885D-977A-DE9E-AEFBA15C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122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729B-DFA6-4C71-800A-E4612C30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A3679-B9C3-6F07-A078-F85B3C684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14BE2-FB4D-59E0-1BA5-F68658175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585A7-4ABB-A9B7-698D-A7E589CA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31F47-5635-6F71-BF5A-7CF73B21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354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34FD-3197-ACA1-1675-869577500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631A-CCBD-0EE1-374B-53B37BE53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0DCE0-AD02-5C89-EED3-C5AD1C63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E1C5B-DF3D-B1FA-0ED3-5F01EFA8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B904F-2383-BF63-3B2D-879D3B77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85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F3A2C-6ABC-98D0-3933-272E194A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75E9C-EDF7-E999-A841-CF954AF30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4994B-CA59-2A7C-4618-7CD7CAB74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ADA56-1817-2B8F-C283-EB30EBA9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9D501-E8CC-1601-68E0-F5B5933A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16067-8031-A7A7-5BFF-97EF4B19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737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88E7-F2D3-F834-671D-AAEDC33F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197D7-730E-4657-63ED-1308F0A9D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37E3D-6667-9CF3-9A2F-464E51A72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2F1D8-FEBA-C628-4DDD-33C414F5F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90ADA-2FA9-4AF5-32AF-498B2C220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E7227-5411-15CD-5B7B-BE85805A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48DCD-CEE2-92DB-C62A-B16D6EBB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455EC-4D4C-452A-B630-06259F390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54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8F3E-AA0C-024D-1235-66A24E7A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50A5B-A12D-BFA3-C6B4-AC45A871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4CC60-E6B6-B0DC-21F7-492BCE1B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FAD87-D17B-5356-DE23-4AC44761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028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C4216-FDC7-E6D0-A1E7-99722D02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DB8F2-D6E9-6B9D-6218-28873338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73598-275C-00C3-1F00-CADC07B7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784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846B-33DB-8F40-43A4-F1202E605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9792-CB71-43A5-1C55-7DA80446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E2C23-8C2B-BFEE-B2B3-0B5BC2498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09597-7057-86F8-BA16-979E1D2A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C2734-2E70-6C9B-3A24-94C40752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47054-F18C-6D76-469B-1F0FF641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391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4EB8-36FA-79D6-DD5B-2F189C133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EFA44-046D-5462-1190-3A5297BE8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DA31A-A5A3-BEC2-ABE6-ABAB409A9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88F62-6759-AE19-5383-9CAFDD87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C2368-CCEF-DCF5-670C-3CFEB4FA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D2EE2-0E62-E704-DCAF-E14E7551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99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5306-920D-5A07-DC13-A530C44A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6F2F6-C1BB-0328-D4A2-21A1C0594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0CFBE-03D3-3FE9-A3CF-9B19812D0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18E1B-FD6C-F263-60A1-4334783B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3C08-8EFC-5E3D-0F04-4DA3777C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424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0D80C5-1A93-8936-CEDE-9AF3BC751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63993-D4C0-EBD2-93CB-C57A6FC65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360E-5E8D-F827-0820-8F1D3EEE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7FA1A-CE5E-E398-F76D-FE26322E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02430-E9CE-3A0D-5A97-A1FC3D6E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528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7FC3B-D765-5106-4C77-1074C94F0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3927F-310D-3E25-9BC9-FAAD73BD3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212C1-7B86-C552-DE19-CD83C4150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F5A14-9F50-4860-9B17-851FB7C2FC1E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46702-2FBD-B982-9064-715354C2B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ADA22-F74E-5E89-4D40-B115BE11A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98F98-49EF-49DE-9A94-8EA1592921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539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descr="Smoke From An Exhaust Pipe Of A Car">
            <a:extLst>
              <a:ext uri="{FF2B5EF4-FFF2-40B4-BE49-F238E27FC236}">
                <a16:creationId xmlns:a16="http://schemas.microsoft.com/office/drawing/2014/main" id="{6FAEBAE8-C82A-D8C5-70DF-C5AA50313B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D14A8E-262F-DAE8-70B0-7A1C9AA8A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EO M232.02 – IDENTIFY THE COMPONENTS OF PISTONPOWERED INTERNAL COMBUSTION ENGINES</a:t>
            </a:r>
            <a:endParaRPr lang="en-CA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A6237-5FE5-A897-1C3B-3BAF07419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n-C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87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144B1-2AC8-4357-AAC3-7A6D42AE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21" y="0"/>
            <a:ext cx="3759400" cy="772159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Teaching Points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5BFC3-3CD3-E2F2-C456-5ED4D9B0B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3204"/>
            <a:ext cx="6725716" cy="3769835"/>
          </a:xfrm>
        </p:spPr>
        <p:txBody>
          <a:bodyPr anchor="ctr">
            <a:noAutofit/>
          </a:bodyPr>
          <a:lstStyle/>
          <a:p>
            <a:r>
              <a:rPr lang="en-US" sz="3600" dirty="0"/>
              <a:t>TP1 Identify and Explain the Operations of the Major Components of a Piston-powered Engine</a:t>
            </a:r>
          </a:p>
          <a:p>
            <a:r>
              <a:rPr lang="en-US" sz="3600" dirty="0"/>
              <a:t>TP2 Explain the Difference Between Rotary Engines and Radial Engines </a:t>
            </a:r>
          </a:p>
          <a:p>
            <a:r>
              <a:rPr lang="en-US" sz="3600" dirty="0"/>
              <a:t>TP3 Describe Aircraft Engine Arrangements </a:t>
            </a:r>
          </a:p>
          <a:p>
            <a:r>
              <a:rPr lang="en-US" sz="3600" dirty="0"/>
              <a:t>TP4 Play a Game of Piston-powered Baseball</a:t>
            </a:r>
            <a:endParaRPr lang="en-CA" sz="3600" dirty="0"/>
          </a:p>
        </p:txBody>
      </p:sp>
      <p:pic>
        <p:nvPicPr>
          <p:cNvPr id="5" name="Picture 4" descr="Black and white aeroplane">
            <a:extLst>
              <a:ext uri="{FF2B5EF4-FFF2-40B4-BE49-F238E27FC236}">
                <a16:creationId xmlns:a16="http://schemas.microsoft.com/office/drawing/2014/main" id="{22800AA9-BCDF-0C20-1450-B583844902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84" r="23579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924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 of a piston engine&#10;&#10;Description automatically generated">
            <a:extLst>
              <a:ext uri="{FF2B5EF4-FFF2-40B4-BE49-F238E27FC236}">
                <a16:creationId xmlns:a16="http://schemas.microsoft.com/office/drawing/2014/main" id="{4CA2EA36-8153-5824-D660-6D364B68B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853" t="-25260" r="-25874" b="5337"/>
          <a:stretch/>
        </p:blipFill>
        <p:spPr>
          <a:xfrm>
            <a:off x="3620277" y="-1016260"/>
            <a:ext cx="10867657" cy="4914951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21AAA-F5B5-6D0A-4841-FF34CA373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1297" y="3620278"/>
            <a:ext cx="12932228" cy="5445076"/>
          </a:xfrm>
        </p:spPr>
        <p:txBody>
          <a:bodyPr anchor="t">
            <a:noAutofit/>
          </a:bodyPr>
          <a:lstStyle/>
          <a:p>
            <a:r>
              <a:rPr lang="en-US" sz="3600" b="1" dirty="0"/>
              <a:t>Cylinder: To understand how an engine works, it is necessary to first know what parts make up an engine. The cylinder is the </a:t>
            </a:r>
            <a:r>
              <a:rPr lang="en-US" sz="3600" b="1" dirty="0">
                <a:solidFill>
                  <a:srgbClr val="FF0000"/>
                </a:solidFill>
              </a:rPr>
              <a:t>main component</a:t>
            </a:r>
            <a:r>
              <a:rPr lang="en-US" sz="3600" b="1" dirty="0"/>
              <a:t>. This is where the </a:t>
            </a:r>
            <a:r>
              <a:rPr lang="en-US" sz="3600" b="1" dirty="0">
                <a:solidFill>
                  <a:srgbClr val="FF0000"/>
                </a:solidFill>
              </a:rPr>
              <a:t>combustion of a gasoline and air mixture </a:t>
            </a:r>
            <a:r>
              <a:rPr lang="en-US" sz="3600" b="1" dirty="0"/>
              <a:t>takes place </a:t>
            </a:r>
          </a:p>
          <a:p>
            <a:r>
              <a:rPr lang="en-US" sz="3600" b="1" dirty="0"/>
              <a:t>Piston: The piston is found in the cylinder and is </a:t>
            </a:r>
            <a:r>
              <a:rPr lang="en-US" sz="3600" b="1" dirty="0">
                <a:solidFill>
                  <a:srgbClr val="FF0000"/>
                </a:solidFill>
              </a:rPr>
              <a:t>driven up and down </a:t>
            </a:r>
            <a:r>
              <a:rPr lang="en-US" sz="3600" b="1" dirty="0"/>
              <a:t>by the exploding air and fuel mixture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7359D-1DD0-8506-86C1-335C1F630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3237"/>
            <a:ext cx="5698918" cy="2148841"/>
          </a:xfrm>
        </p:spPr>
        <p:txBody>
          <a:bodyPr anchor="t">
            <a:normAutofit/>
          </a:bodyPr>
          <a:lstStyle/>
          <a:p>
            <a:r>
              <a:rPr lang="en-US" sz="3400" dirty="0"/>
              <a:t>TP1 Identify and Explain the Operations of the Major Components of a Piston-powered Engine pt1</a:t>
            </a:r>
            <a:endParaRPr lang="en-CA" sz="3400" dirty="0"/>
          </a:p>
        </p:txBody>
      </p:sp>
    </p:spTree>
    <p:extLst>
      <p:ext uri="{BB962C8B-B14F-4D97-AF65-F5344CB8AC3E}">
        <p14:creationId xmlns:p14="http://schemas.microsoft.com/office/powerpoint/2010/main" val="350243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356D3-1E79-57B5-46B9-0E01A367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17" y="5241797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2700" dirty="0"/>
              <a:t>TP1 Identify and Explain the Operations of the Major Components of a Piston-powered Engine pt2 </a:t>
            </a:r>
            <a:endParaRPr lang="en-CA" sz="2700" dirty="0"/>
          </a:p>
        </p:txBody>
      </p:sp>
      <p:pic>
        <p:nvPicPr>
          <p:cNvPr id="4" name="Picture 3" descr="Diagram of a piston engine&#10;&#10;Description automatically generated">
            <a:extLst>
              <a:ext uri="{FF2B5EF4-FFF2-40B4-BE49-F238E27FC236}">
                <a16:creationId xmlns:a16="http://schemas.microsoft.com/office/drawing/2014/main" id="{633855A7-F42B-B9FA-1188-8B2F3A72B8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86" r="26447"/>
          <a:stretch/>
        </p:blipFill>
        <p:spPr>
          <a:xfrm>
            <a:off x="20" y="10"/>
            <a:ext cx="4694318" cy="528111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69EB-CD3F-1CE9-658F-2075FAB1B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6727" y="98186"/>
            <a:ext cx="7825253" cy="6759814"/>
          </a:xfrm>
        </p:spPr>
        <p:txBody>
          <a:bodyPr anchor="t">
            <a:noAutofit/>
          </a:bodyPr>
          <a:lstStyle/>
          <a:p>
            <a:r>
              <a:rPr lang="en-US" sz="3600" b="1" dirty="0"/>
              <a:t>Connecting Rod: </a:t>
            </a:r>
            <a:r>
              <a:rPr lang="en-US" sz="3600" b="1" dirty="0">
                <a:solidFill>
                  <a:srgbClr val="FF0000"/>
                </a:solidFill>
              </a:rPr>
              <a:t>The connecting rod is joined to the piston and to the crankshaft</a:t>
            </a:r>
            <a:r>
              <a:rPr lang="en-US" sz="3600" b="1" dirty="0"/>
              <a:t> with bearings which allow movement so that the reciprocating </a:t>
            </a:r>
            <a:r>
              <a:rPr lang="en-US" sz="3600" b="1" dirty="0">
                <a:solidFill>
                  <a:srgbClr val="FF0000"/>
                </a:solidFill>
              </a:rPr>
              <a:t>(up-and-down) motion </a:t>
            </a:r>
            <a:r>
              <a:rPr lang="en-US" sz="3600" b="1" dirty="0"/>
              <a:t>of the piston can be transformed into rotary </a:t>
            </a:r>
            <a:r>
              <a:rPr lang="en-US" sz="3600" b="1" dirty="0">
                <a:solidFill>
                  <a:srgbClr val="FF0000"/>
                </a:solidFill>
              </a:rPr>
              <a:t>(spinning) motion</a:t>
            </a:r>
            <a:r>
              <a:rPr lang="en-US" sz="3600" b="1" dirty="0"/>
              <a:t> of the crankshaft</a:t>
            </a:r>
          </a:p>
          <a:p>
            <a:r>
              <a:rPr lang="en-US" sz="3600" b="1" dirty="0"/>
              <a:t>Crankshaft: As the piston drives up and down, the connecting rod </a:t>
            </a:r>
            <a:r>
              <a:rPr lang="en-US" sz="3600" b="1" dirty="0">
                <a:solidFill>
                  <a:srgbClr val="FF0000"/>
                </a:solidFill>
              </a:rPr>
              <a:t>rotates around the crankshaft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FF0000"/>
                </a:solidFill>
              </a:rPr>
              <a:t>turning it</a:t>
            </a:r>
            <a:r>
              <a:rPr lang="en-US" sz="3600" b="1" dirty="0"/>
              <a:t>. The crankshaft can rotate while the piston goes up and down</a:t>
            </a:r>
            <a:endParaRPr lang="en-CA" sz="3600" b="1" dirty="0"/>
          </a:p>
          <a:p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359804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1CC2-3DD1-96C2-FC1B-5A8F8154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58" y="665049"/>
            <a:ext cx="5197151" cy="158035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TP1 Identify and Explain the Operations of the Major Components of a Piston-powered Engine pt3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84EDD-A42B-7489-5A5E-1BB834A4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723" y="-93375"/>
            <a:ext cx="7400924" cy="6932326"/>
          </a:xfrm>
        </p:spPr>
        <p:txBody>
          <a:bodyPr>
            <a:noAutofit/>
          </a:bodyPr>
          <a:lstStyle/>
          <a:p>
            <a:r>
              <a:rPr lang="en-US" sz="3200" b="1" dirty="0"/>
              <a:t>Camshaft: The crankshaft often turns a </a:t>
            </a:r>
            <a:r>
              <a:rPr lang="en-US" sz="3200" b="1" dirty="0">
                <a:solidFill>
                  <a:srgbClr val="FF0000"/>
                </a:solidFill>
              </a:rPr>
              <a:t>second shaft called a camshaft</a:t>
            </a:r>
            <a:endParaRPr lang="en-US" sz="3200" b="1" dirty="0"/>
          </a:p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FF0000"/>
                </a:solidFill>
              </a:rPr>
              <a:t>cams </a:t>
            </a:r>
            <a:r>
              <a:rPr lang="en-US" sz="3200" b="1" dirty="0"/>
              <a:t>are bumps on the camshaft that </a:t>
            </a:r>
            <a:r>
              <a:rPr lang="en-US" sz="3200" b="1" dirty="0">
                <a:solidFill>
                  <a:srgbClr val="FF0000"/>
                </a:solidFill>
              </a:rPr>
              <a:t>open and close the intake and exhaust valves </a:t>
            </a:r>
            <a:r>
              <a:rPr lang="en-US" sz="3200" b="1" dirty="0"/>
              <a:t>at the correct time</a:t>
            </a:r>
          </a:p>
          <a:p>
            <a:r>
              <a:rPr lang="en-US" sz="3200" b="1" dirty="0"/>
              <a:t>Each cylinder has at least one </a:t>
            </a:r>
            <a:r>
              <a:rPr lang="en-US" sz="3200" b="1" dirty="0">
                <a:solidFill>
                  <a:srgbClr val="FF0000"/>
                </a:solidFill>
              </a:rPr>
              <a:t>set of valves operated by the cams</a:t>
            </a:r>
            <a:r>
              <a:rPr lang="en-US" sz="3200" b="1" dirty="0"/>
              <a:t> on the camshaft</a:t>
            </a:r>
          </a:p>
          <a:p>
            <a:r>
              <a:rPr lang="en-US" sz="3200" b="1" dirty="0"/>
              <a:t>Intake valve: opens to let the </a:t>
            </a:r>
            <a:r>
              <a:rPr lang="en-US" sz="3200" b="1" dirty="0">
                <a:solidFill>
                  <a:srgbClr val="FF0000"/>
                </a:solidFill>
              </a:rPr>
              <a:t>mixture of gasoline and air into the cylinder</a:t>
            </a:r>
            <a:r>
              <a:rPr lang="en-US" sz="3200" b="1" dirty="0"/>
              <a:t> and then closes. </a:t>
            </a:r>
          </a:p>
          <a:p>
            <a:r>
              <a:rPr lang="en-US" sz="3200" b="1" dirty="0"/>
              <a:t>Exhaust valve: </a:t>
            </a:r>
            <a:r>
              <a:rPr lang="en-US" sz="3200" b="1" dirty="0">
                <a:solidFill>
                  <a:srgbClr val="FF0000"/>
                </a:solidFill>
              </a:rPr>
              <a:t>opens to release the exhaust </a:t>
            </a:r>
            <a:r>
              <a:rPr lang="en-US" sz="3200" b="1" dirty="0"/>
              <a:t>after mixture is burnt and then closes </a:t>
            </a:r>
            <a:endParaRPr lang="en-CA" sz="3200" b="1" dirty="0"/>
          </a:p>
        </p:txBody>
      </p:sp>
      <p:pic>
        <p:nvPicPr>
          <p:cNvPr id="1030" name="Picture 6" descr="What is a Camshaft and How Does it Work?">
            <a:extLst>
              <a:ext uri="{FF2B5EF4-FFF2-40B4-BE49-F238E27FC236}">
                <a16:creationId xmlns:a16="http://schemas.microsoft.com/office/drawing/2014/main" id="{6EBA01DA-6400-71E2-9D21-EA3A7811A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6" t="4272" b="3649"/>
          <a:stretch/>
        </p:blipFill>
        <p:spPr bwMode="auto">
          <a:xfrm>
            <a:off x="98941" y="3162300"/>
            <a:ext cx="4817466" cy="367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90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4A2171-6E21-25F1-27E4-EC513EE2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40" y="123565"/>
            <a:ext cx="7881260" cy="1434415"/>
          </a:xfrm>
        </p:spPr>
        <p:txBody>
          <a:bodyPr anchor="b">
            <a:normAutofit fontScale="90000"/>
          </a:bodyPr>
          <a:lstStyle/>
          <a:p>
            <a:r>
              <a:rPr lang="en-US" sz="3800" dirty="0"/>
              <a:t>TP1 Identify and Explain the Operations of the Major Components of a Piston-powered Engine pt4 </a:t>
            </a:r>
            <a:endParaRPr lang="en-CA" sz="38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83FAA-9595-2A78-5AC5-C8FA1EB2B5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37" t="8101" r="24195" b="46758"/>
          <a:stretch/>
        </p:blipFill>
        <p:spPr>
          <a:xfrm>
            <a:off x="7700026" y="20411"/>
            <a:ext cx="4436022" cy="20813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388E0-B3E2-E21E-9CFB-9668757C3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6371"/>
            <a:ext cx="12083143" cy="4119172"/>
          </a:xfrm>
        </p:spPr>
        <p:txBody>
          <a:bodyPr anchor="t">
            <a:noAutofit/>
          </a:bodyPr>
          <a:lstStyle/>
          <a:p>
            <a:r>
              <a:rPr lang="en-US" b="1" dirty="0"/>
              <a:t>Distributor: The </a:t>
            </a:r>
            <a:r>
              <a:rPr lang="en-US" b="1" dirty="0">
                <a:solidFill>
                  <a:srgbClr val="FF0000"/>
                </a:solidFill>
              </a:rPr>
              <a:t>gasoline and air mixture is ignited by a spark plug</a:t>
            </a:r>
            <a:r>
              <a:rPr lang="en-US" b="1" dirty="0"/>
              <a:t>. Most aircraft have 2 spark plugs in every cylinder</a:t>
            </a:r>
          </a:p>
          <a:p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fuel takes time to burn completely</a:t>
            </a:r>
            <a:r>
              <a:rPr lang="en-US" b="1" dirty="0"/>
              <a:t>. Because of this, the spark must happen at a </a:t>
            </a:r>
            <a:r>
              <a:rPr lang="en-US" b="1" dirty="0">
                <a:solidFill>
                  <a:srgbClr val="FF0000"/>
                </a:solidFill>
              </a:rPr>
              <a:t>fraction of a second</a:t>
            </a:r>
            <a:r>
              <a:rPr lang="en-US" b="1" dirty="0"/>
              <a:t> before the piston has reached the top. In a multi-cylinder engine such as aircraft use, an </a:t>
            </a:r>
            <a:r>
              <a:rPr lang="en-US" b="1" dirty="0">
                <a:solidFill>
                  <a:srgbClr val="FF0000"/>
                </a:solidFill>
              </a:rPr>
              <a:t>electrical signal </a:t>
            </a:r>
            <a:r>
              <a:rPr lang="en-US" b="1" dirty="0"/>
              <a:t>must be sent to each cylinder’s spark plug at exactly the right time </a:t>
            </a:r>
          </a:p>
          <a:p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timing and distribution of spark </a:t>
            </a:r>
            <a:r>
              <a:rPr lang="en-US" b="1" dirty="0"/>
              <a:t>sometimes relies on a central distributor, which is worked by gears from the crankshaft. Should this </a:t>
            </a:r>
            <a:r>
              <a:rPr lang="en-US" b="1" dirty="0">
                <a:solidFill>
                  <a:srgbClr val="FF0000"/>
                </a:solidFill>
              </a:rPr>
              <a:t>distributor fail, engine will stop</a:t>
            </a:r>
            <a:endParaRPr lang="en-US" b="1" dirty="0"/>
          </a:p>
          <a:p>
            <a:r>
              <a:rPr lang="en-US" b="1" dirty="0"/>
              <a:t>A better, though more expensive method, is to equip each cylinder with its </a:t>
            </a:r>
            <a:r>
              <a:rPr lang="en-US" b="1" dirty="0">
                <a:solidFill>
                  <a:srgbClr val="FF0000"/>
                </a:solidFill>
              </a:rPr>
              <a:t>own spark timing and delivery system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9691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1B3CC-F11B-52D7-5BF1-04C81725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2362" y="153781"/>
            <a:ext cx="6136682" cy="1325563"/>
          </a:xfrm>
        </p:spPr>
        <p:txBody>
          <a:bodyPr>
            <a:noAutofit/>
          </a:bodyPr>
          <a:lstStyle/>
          <a:p>
            <a:r>
              <a:rPr lang="en-US" sz="3000" dirty="0"/>
              <a:t>TP1 Identify and Explain the Operations of the Major Components of a Piston-powered Engine pt5 </a:t>
            </a:r>
            <a:endParaRPr lang="en-CA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E8C9-30B6-B736-BEDB-A628A2A43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928"/>
            <a:ext cx="6550089" cy="4911417"/>
          </a:xfrm>
        </p:spPr>
        <p:txBody>
          <a:bodyPr>
            <a:noAutofit/>
          </a:bodyPr>
          <a:lstStyle/>
          <a:p>
            <a:r>
              <a:rPr lang="en-US" sz="4000" b="1" dirty="0"/>
              <a:t>Carburetor: Before fuel is delivered to the cylinder for detonation, it is mixed with </a:t>
            </a:r>
            <a:r>
              <a:rPr lang="en-US" sz="4000" b="1" dirty="0">
                <a:solidFill>
                  <a:srgbClr val="FF0000"/>
                </a:solidFill>
              </a:rPr>
              <a:t>air in exact proportion</a:t>
            </a:r>
            <a:r>
              <a:rPr lang="en-US" sz="4000" b="1" dirty="0"/>
              <a:t>. A fuel </a:t>
            </a:r>
            <a:r>
              <a:rPr lang="en-US" sz="4000" b="1" dirty="0">
                <a:solidFill>
                  <a:srgbClr val="FF0000"/>
                </a:solidFill>
              </a:rPr>
              <a:t>injector or a carburetor does this</a:t>
            </a:r>
            <a:r>
              <a:rPr lang="en-US" sz="4000" b="1" dirty="0"/>
              <a:t>. For effective detonation and clean burning, the fuel must be </a:t>
            </a:r>
            <a:r>
              <a:rPr lang="en-US" sz="4000" b="1" dirty="0">
                <a:solidFill>
                  <a:srgbClr val="FF0000"/>
                </a:solidFill>
              </a:rPr>
              <a:t>broken into tiny droplets and mixed with air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41632-9E00-CDD8-033F-3F3F8DEF9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362" y="1371600"/>
            <a:ext cx="590963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0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FE0C3-C9BF-A24B-B990-81F5C9E5C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71" y="0"/>
            <a:ext cx="5850294" cy="4351338"/>
          </a:xfrm>
        </p:spPr>
        <p:txBody>
          <a:bodyPr>
            <a:noAutofit/>
          </a:bodyPr>
          <a:lstStyle/>
          <a:p>
            <a:r>
              <a:rPr lang="en-US" sz="3600" b="1" dirty="0"/>
              <a:t>Oil Sump. The moving parts of the engine all need to be </a:t>
            </a:r>
            <a:r>
              <a:rPr lang="en-US" sz="3600" b="1" dirty="0">
                <a:solidFill>
                  <a:srgbClr val="FF0000"/>
                </a:solidFill>
              </a:rPr>
              <a:t>coated with engine oil</a:t>
            </a:r>
            <a:r>
              <a:rPr lang="en-US" sz="3600" b="1" dirty="0"/>
              <a:t>. Oil is provided under pressure to make sure that all moving parts are coated. A </a:t>
            </a:r>
            <a:r>
              <a:rPr lang="en-US" sz="3600" b="1" dirty="0">
                <a:solidFill>
                  <a:srgbClr val="FF0000"/>
                </a:solidFill>
              </a:rPr>
              <a:t>wet sump stores the oil supply in the crankcase </a:t>
            </a:r>
            <a:r>
              <a:rPr lang="en-US" sz="3600" b="1" dirty="0"/>
              <a:t>with the crankshaft, while a </a:t>
            </a:r>
            <a:r>
              <a:rPr lang="en-US" sz="3600" b="1" dirty="0">
                <a:solidFill>
                  <a:srgbClr val="FF0000"/>
                </a:solidFill>
              </a:rPr>
              <a:t>dry sump stores the oil in a separate tank </a:t>
            </a:r>
            <a:r>
              <a:rPr lang="en-US" sz="3600" b="1" dirty="0"/>
              <a:t>and delivers it to the engine via piping</a:t>
            </a:r>
            <a:endParaRPr lang="en-CA" sz="3600" b="1" dirty="0"/>
          </a:p>
          <a:p>
            <a:endParaRPr lang="en-CA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B07FF-AE7D-3C2F-6F3D-82C6FCFE6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571"/>
            <a:ext cx="6431711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0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03941-59CD-0EE7-689B-0E6675DE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F88D-AB93-614F-A420-53EFA3DD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component of a piston-powered engine transforms the reciprocating motion of the piston into rotary motion?</a:t>
            </a:r>
          </a:p>
          <a:p>
            <a:pPr marL="0" indent="0">
              <a:buNone/>
            </a:pPr>
            <a:r>
              <a:rPr lang="en-US" dirty="0"/>
              <a:t>A. Camshaft</a:t>
            </a:r>
          </a:p>
          <a:p>
            <a:pPr marL="0" indent="0">
              <a:buNone/>
            </a:pPr>
            <a:r>
              <a:rPr lang="en-US" dirty="0"/>
              <a:t>B. Crankshaft</a:t>
            </a:r>
          </a:p>
          <a:p>
            <a:pPr marL="0" indent="0">
              <a:buNone/>
            </a:pPr>
            <a:r>
              <a:rPr lang="en-US" dirty="0"/>
              <a:t>C. Connecting Rod</a:t>
            </a:r>
          </a:p>
          <a:p>
            <a:pPr marL="0" indent="0">
              <a:buNone/>
            </a:pPr>
            <a:r>
              <a:rPr lang="en-US" dirty="0"/>
              <a:t>D. Distributor</a:t>
            </a:r>
          </a:p>
          <a:p>
            <a:endParaRPr lang="en-C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3751EE-1B92-B7C9-2EDF-61D44004700B}"/>
              </a:ext>
            </a:extLst>
          </p:cNvPr>
          <p:cNvSpPr/>
          <p:nvPr/>
        </p:nvSpPr>
        <p:spPr>
          <a:xfrm>
            <a:off x="698643" y="3174715"/>
            <a:ext cx="3133618" cy="575352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44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BF44-5036-9DBB-34F0-43DCE89D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E5548-8555-3244-0C0D-8056FAB6F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intake valve in a piston-powered engine is responsible for:</a:t>
            </a:r>
          </a:p>
          <a:p>
            <a:pPr marL="0" indent="0">
              <a:buNone/>
            </a:pPr>
            <a:r>
              <a:rPr lang="en-US" dirty="0"/>
              <a:t>A. Igniting the fuel mixture</a:t>
            </a:r>
          </a:p>
          <a:p>
            <a:pPr marL="0" indent="0">
              <a:buNone/>
            </a:pPr>
            <a:r>
              <a:rPr lang="en-US" dirty="0"/>
              <a:t>B. Taking in the exhaust gases</a:t>
            </a:r>
          </a:p>
          <a:p>
            <a:pPr marL="0" indent="0">
              <a:buNone/>
            </a:pPr>
            <a:r>
              <a:rPr lang="en-US" dirty="0"/>
              <a:t>C. Allowing the mixture of gasoline and air into the cylinder</a:t>
            </a:r>
          </a:p>
          <a:p>
            <a:pPr marL="0" indent="0">
              <a:buNone/>
            </a:pPr>
            <a:r>
              <a:rPr lang="en-US" dirty="0"/>
              <a:t>D. Transforming reciprocating motion into rotary motion</a:t>
            </a:r>
          </a:p>
          <a:p>
            <a:endParaRPr lang="en-C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985CBE-F5DF-8B9A-3220-EDAC4E02FD11}"/>
              </a:ext>
            </a:extLst>
          </p:cNvPr>
          <p:cNvSpPr/>
          <p:nvPr/>
        </p:nvSpPr>
        <p:spPr>
          <a:xfrm>
            <a:off x="708916" y="3328827"/>
            <a:ext cx="9380305" cy="575352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3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73FDCC-8A27-9B7A-582A-0634C6CED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01" y="1825726"/>
            <a:ext cx="4170530" cy="4863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83EEB-361A-41ED-EBB0-36BF2A1B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59" y="300692"/>
            <a:ext cx="4123982" cy="1642970"/>
          </a:xfrm>
        </p:spPr>
        <p:txBody>
          <a:bodyPr anchor="b">
            <a:normAutofit fontScale="90000"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TP2 Explain the Difference Between Rotary Engines and Radial Engines pt1</a:t>
            </a:r>
            <a:endParaRPr lang="en-CA" sz="37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EFBA7-9B61-9999-6E4B-9E13F39F8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2792" y="90142"/>
            <a:ext cx="8568449" cy="3535083"/>
          </a:xfrm>
        </p:spPr>
        <p:txBody>
          <a:bodyPr anchor="t">
            <a:noAutofit/>
          </a:bodyPr>
          <a:lstStyle/>
          <a:p>
            <a:r>
              <a:rPr lang="en-US" sz="3200" b="1" dirty="0"/>
              <a:t>Some early aircraft engines used rotary engines in which the </a:t>
            </a:r>
            <a:r>
              <a:rPr lang="en-US" sz="3200" b="1" dirty="0">
                <a:solidFill>
                  <a:srgbClr val="FF0000"/>
                </a:solidFill>
              </a:rPr>
              <a:t>cylinders rotated around the stationary central crankshaft</a:t>
            </a:r>
          </a:p>
          <a:p>
            <a:r>
              <a:rPr lang="en-US" sz="3200" b="1" dirty="0"/>
              <a:t>These were different than the later radial engines which the </a:t>
            </a:r>
            <a:r>
              <a:rPr lang="en-US" sz="3200" b="1" dirty="0">
                <a:solidFill>
                  <a:srgbClr val="FF0000"/>
                </a:solidFill>
              </a:rPr>
              <a:t>stationary cylinders were arranged around the rotating crankshaft </a:t>
            </a:r>
          </a:p>
          <a:p>
            <a:r>
              <a:rPr lang="en-US" sz="3200" b="1" dirty="0"/>
              <a:t>Many larger older aircraft had radial engines. In this design the </a:t>
            </a:r>
            <a:r>
              <a:rPr lang="en-US" sz="3200" b="1" dirty="0">
                <a:solidFill>
                  <a:srgbClr val="FF0000"/>
                </a:solidFill>
              </a:rPr>
              <a:t>cylinders were arranged in a circle </a:t>
            </a:r>
            <a:r>
              <a:rPr lang="en-US" sz="3200" b="1" dirty="0"/>
              <a:t>at the front of the engine with the cylinder tops pointed outwards. The </a:t>
            </a:r>
            <a:r>
              <a:rPr lang="en-US" sz="3200" b="1" dirty="0">
                <a:solidFill>
                  <a:srgbClr val="FF0000"/>
                </a:solidFill>
              </a:rPr>
              <a:t>crankshaft ran through the middle </a:t>
            </a:r>
            <a:r>
              <a:rPr lang="en-US" sz="3200" b="1" dirty="0"/>
              <a:t>of the cylinders to the front of the aircraft. Radial engines had many cylinders; some aircraft from World War II had 13 cylinders.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89969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E01C-1CA8-ECCB-805A-17D1E733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518" y="1111574"/>
            <a:ext cx="343211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TP2 Explain the Difference Between Rotary Engines and Radial Engines pt2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A638-1DDA-6F1E-8EBB-E73AA5A2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4645" y="127454"/>
            <a:ext cx="8789437" cy="4351338"/>
          </a:xfrm>
        </p:spPr>
        <p:txBody>
          <a:bodyPr>
            <a:noAutofit/>
          </a:bodyPr>
          <a:lstStyle/>
          <a:p>
            <a:r>
              <a:rPr lang="en-US" sz="3600" b="1" dirty="0"/>
              <a:t>Even older aircraft, before and during World War I, had rotary engines that were different but were often confused with the later radial types. In the rotary engine, the </a:t>
            </a:r>
            <a:r>
              <a:rPr lang="en-US" sz="3600" b="1" dirty="0">
                <a:solidFill>
                  <a:srgbClr val="FF0000"/>
                </a:solidFill>
              </a:rPr>
              <a:t>crankshaft was stationary and the cylinders rotated around the crankshaft</a:t>
            </a:r>
            <a:r>
              <a:rPr lang="en-US" sz="3600" b="1" dirty="0"/>
              <a:t>. This is the opposite of the radial engine, which had stationary cylinders and rotating crankshaft. </a:t>
            </a:r>
            <a:r>
              <a:rPr lang="en-US" sz="3600" b="1" dirty="0">
                <a:solidFill>
                  <a:srgbClr val="FF0000"/>
                </a:solidFill>
              </a:rPr>
              <a:t>Rotary engine design was abandoned because the great weight of the spinning cylinders</a:t>
            </a:r>
            <a:r>
              <a:rPr lang="en-US" sz="3600" b="1" dirty="0"/>
              <a:t> was found to interfere with turning the aircraft in flight.</a:t>
            </a:r>
            <a:endParaRPr lang="en-CA" sz="3600" b="1" dirty="0"/>
          </a:p>
        </p:txBody>
      </p:sp>
    </p:spTree>
    <p:extLst>
      <p:ext uri="{BB962C8B-B14F-4D97-AF65-F5344CB8AC3E}">
        <p14:creationId xmlns:p14="http://schemas.microsoft.com/office/powerpoint/2010/main" val="46279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6820-B8A9-E9C0-91B0-1D7FF238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588E-56A8-4775-D751-6A88D70DB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US" dirty="0"/>
              <a:t>What is the key difference between rotary engines and radial engines in early aircraft designs?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A. Rotary engines had stationary cylinders while the crankshaft rotated.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B. Rotary engines had rotating cylinders around a stationary crankshaft.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C. Radial engines had rotating cylinders around a stationary crankshaft.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D. Both engines had rotating crankshafts and cylinders.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AFC01C-97C1-8735-C6F1-259D1A72E533}"/>
              </a:ext>
            </a:extLst>
          </p:cNvPr>
          <p:cNvSpPr/>
          <p:nvPr/>
        </p:nvSpPr>
        <p:spPr>
          <a:xfrm>
            <a:off x="698643" y="3174715"/>
            <a:ext cx="11763910" cy="575352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541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586ED5-2C35-7E83-8E38-0DA079AA0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1" y="4061573"/>
            <a:ext cx="2865120" cy="26291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AA3FB8-F658-2A0C-269E-C86DF5F52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719" y="0"/>
            <a:ext cx="3129281" cy="30172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647186-9FA8-69DF-8C6C-B0FD81B4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TP3 Describe Aircraft Engine Arrangements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65BD6-A97B-C5B9-2AF2-0BF019624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0"/>
            <a:ext cx="10440955" cy="5604669"/>
          </a:xfrm>
        </p:spPr>
        <p:txBody>
          <a:bodyPr>
            <a:noAutofit/>
          </a:bodyPr>
          <a:lstStyle/>
          <a:p>
            <a:r>
              <a:rPr lang="en-US" b="1" dirty="0"/>
              <a:t>Internal combustion engines come in a </a:t>
            </a:r>
            <a:r>
              <a:rPr lang="en-US" b="1" dirty="0">
                <a:solidFill>
                  <a:srgbClr val="FF0000"/>
                </a:solidFill>
              </a:rPr>
              <a:t>variety of styles </a:t>
            </a:r>
            <a:r>
              <a:rPr lang="en-US" b="1" dirty="0"/>
              <a:t>by how the cylinders are configured.</a:t>
            </a:r>
          </a:p>
          <a:p>
            <a:r>
              <a:rPr lang="en-US" b="1" dirty="0"/>
              <a:t>The horizontally opposed engine is most commonly used in airplanes. This engine has </a:t>
            </a:r>
            <a:r>
              <a:rPr lang="en-US" b="1" dirty="0">
                <a:solidFill>
                  <a:srgbClr val="FF0000"/>
                </a:solidFill>
              </a:rPr>
              <a:t>two banks of cylinders lying flat</a:t>
            </a:r>
            <a:r>
              <a:rPr lang="en-US" b="1" dirty="0"/>
              <a:t>, directly opposite each other and </a:t>
            </a:r>
            <a:r>
              <a:rPr lang="en-US" b="1" dirty="0">
                <a:solidFill>
                  <a:srgbClr val="FF0000"/>
                </a:solidFill>
              </a:rPr>
              <a:t>working on the same crankshaft</a:t>
            </a:r>
            <a:r>
              <a:rPr lang="en-US" b="1" dirty="0"/>
              <a:t>. There may be 4, 6 or 8 cylinders. The advantage of this engine type is its </a:t>
            </a:r>
            <a:r>
              <a:rPr lang="en-US" b="1" dirty="0">
                <a:solidFill>
                  <a:srgbClr val="FF0000"/>
                </a:solidFill>
              </a:rPr>
              <a:t>flat shape </a:t>
            </a:r>
            <a:r>
              <a:rPr lang="en-US" b="1" dirty="0"/>
              <a:t>that generates </a:t>
            </a:r>
            <a:r>
              <a:rPr lang="en-US" b="1" dirty="0">
                <a:solidFill>
                  <a:srgbClr val="FF0000"/>
                </a:solidFill>
              </a:rPr>
              <a:t>less form drag</a:t>
            </a:r>
            <a:r>
              <a:rPr lang="en-US" b="1" dirty="0"/>
              <a:t>. Form drag is a force that opposes the aircraft’s movement through the air. </a:t>
            </a:r>
          </a:p>
          <a:p>
            <a:r>
              <a:rPr lang="en-US" b="1" dirty="0"/>
              <a:t>Some older aircraft have in-line engines. This was the first type of aircraft engine used greatly. In an in-line engine, the </a:t>
            </a:r>
            <a:r>
              <a:rPr lang="en-US" b="1" dirty="0">
                <a:solidFill>
                  <a:srgbClr val="FF0000"/>
                </a:solidFill>
              </a:rPr>
              <a:t>cylinders are lined up in a row </a:t>
            </a:r>
            <a:r>
              <a:rPr lang="en-US" b="1" dirty="0"/>
              <a:t>from the front of the engine to the back, with the tops pointed up. The </a:t>
            </a:r>
            <a:r>
              <a:rPr lang="en-US" b="1" dirty="0">
                <a:solidFill>
                  <a:srgbClr val="FF0000"/>
                </a:solidFill>
              </a:rPr>
              <a:t>crankshaft runs under the cylinders</a:t>
            </a:r>
            <a:r>
              <a:rPr lang="en-US" b="1" dirty="0"/>
              <a:t> to the front of the aircraft. 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00159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BB51-F8F5-483D-E414-B37310800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B208-E061-D76D-C477-739269189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aircraft engine arrangement is most commonly used in airplanes due to its flat shape and reduced form drag?</a:t>
            </a:r>
          </a:p>
          <a:p>
            <a:pPr marL="0" indent="0">
              <a:buNone/>
            </a:pPr>
            <a:r>
              <a:rPr lang="en-US" dirty="0"/>
              <a:t>A. In-line Engine</a:t>
            </a:r>
          </a:p>
          <a:p>
            <a:pPr marL="0" indent="0">
              <a:buNone/>
            </a:pPr>
            <a:r>
              <a:rPr lang="en-US" dirty="0"/>
              <a:t>B. Rotary Engine</a:t>
            </a:r>
          </a:p>
          <a:p>
            <a:pPr marL="0" indent="0">
              <a:buNone/>
            </a:pPr>
            <a:r>
              <a:rPr lang="en-US" dirty="0"/>
              <a:t>C. Radial Engine</a:t>
            </a:r>
          </a:p>
          <a:p>
            <a:pPr marL="0" indent="0">
              <a:buNone/>
            </a:pPr>
            <a:r>
              <a:rPr lang="en-US" dirty="0"/>
              <a:t>D. Horizontally Opposed Engine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DFFF4E-813F-8574-CC59-537342381DAF}"/>
              </a:ext>
            </a:extLst>
          </p:cNvPr>
          <p:cNvSpPr/>
          <p:nvPr/>
        </p:nvSpPr>
        <p:spPr>
          <a:xfrm>
            <a:off x="616449" y="4202131"/>
            <a:ext cx="5352835" cy="575352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477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2EBE-CD89-9305-0B94-62397612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E419-13F2-2C19-6FDB-02550C430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an in-line engine, how are the cylinders arranged?</a:t>
            </a:r>
          </a:p>
          <a:p>
            <a:pPr marL="0" indent="0">
              <a:buNone/>
            </a:pPr>
            <a:r>
              <a:rPr lang="en-US" dirty="0"/>
              <a:t>A. In a circle with tops pointing outwards</a:t>
            </a:r>
          </a:p>
          <a:p>
            <a:pPr marL="0" indent="0">
              <a:buNone/>
            </a:pPr>
            <a:r>
              <a:rPr lang="en-US" dirty="0"/>
              <a:t>B. Flat and opposite each other</a:t>
            </a:r>
          </a:p>
          <a:p>
            <a:pPr marL="0" indent="0">
              <a:buNone/>
            </a:pPr>
            <a:r>
              <a:rPr lang="en-US" dirty="0"/>
              <a:t>C. Lined up in a row from front to back with tops pointed up</a:t>
            </a:r>
          </a:p>
          <a:p>
            <a:pPr marL="0" indent="0">
              <a:buNone/>
            </a:pPr>
            <a:r>
              <a:rPr lang="en-US" dirty="0"/>
              <a:t>D. Rotating around a stationary crankshaft</a:t>
            </a:r>
          </a:p>
          <a:p>
            <a:endParaRPr lang="en-C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834BAF-6C13-9C46-C85C-C65097BD9AAC}"/>
              </a:ext>
            </a:extLst>
          </p:cNvPr>
          <p:cNvSpPr/>
          <p:nvPr/>
        </p:nvSpPr>
        <p:spPr>
          <a:xfrm>
            <a:off x="698643" y="3298005"/>
            <a:ext cx="9657708" cy="575352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21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F03C-71EB-A2B4-E692-3FF4503B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TP4 Play a Game of Piston-powered Baseball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CDB97-77B1-DF6C-69A2-017342D9E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For this review game, the instructor acts as, “pitcher”, “umpire” and “scorekeeper”. </a:t>
            </a:r>
          </a:p>
          <a:p>
            <a:r>
              <a:rPr lang="en-US" dirty="0"/>
              <a:t>Two teams are chosen and each is seated in a “dugout” of chairs in opposing baselines in “batting order”. A coin is tossed to see which team is at bat first.</a:t>
            </a:r>
          </a:p>
          <a:p>
            <a:r>
              <a:rPr lang="en-US" dirty="0"/>
              <a:t>The instructor “pitches” a question to the first batter. Teammates are encouraged to give hints to the batter, but the batter must choose the answer. </a:t>
            </a:r>
          </a:p>
          <a:p>
            <a:r>
              <a:rPr lang="en-US" dirty="0"/>
              <a:t>If the answer is wrong, the batter is out. </a:t>
            </a:r>
          </a:p>
          <a:p>
            <a:r>
              <a:rPr lang="en-US" dirty="0"/>
              <a:t>If the answer is correct, the die is thrown. If a one, two or three comes up, the player goes to first, second or third base, respectively. A four is a home run. </a:t>
            </a:r>
          </a:p>
          <a:p>
            <a:r>
              <a:rPr lang="en-US" dirty="0"/>
              <a:t>A five on the die means a foul ball and the player must field another question. There are two ways to be out – either answering incorrectly or rolling a six. </a:t>
            </a:r>
          </a:p>
          <a:p>
            <a:r>
              <a:rPr lang="en-US" dirty="0"/>
              <a:t>Players on base are “forced” ahead by the next runner and will score if forced to home base. </a:t>
            </a:r>
          </a:p>
          <a:p>
            <a:r>
              <a:rPr lang="en-US" dirty="0"/>
              <a:t>After three outs, the other team gets to bat. </a:t>
            </a:r>
          </a:p>
          <a:p>
            <a:r>
              <a:rPr lang="en-US" dirty="0"/>
              <a:t>After five runs are batted in, the next team is up at bat. </a:t>
            </a:r>
          </a:p>
          <a:p>
            <a:r>
              <a:rPr lang="en-US" dirty="0"/>
              <a:t>The process is repeated as long as time permits.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0787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43CFCF-7BA0-6A1A-C0D0-2121C4E0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704" y="2873061"/>
            <a:ext cx="5883150" cy="3619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2B2BF-9A8F-C944-D416-EA281F37C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69" y="191276"/>
            <a:ext cx="3375510" cy="3133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7AD7F3-5AAC-86A9-FB29-9F241D80A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854" y="132940"/>
            <a:ext cx="3475146" cy="3529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AB4B9F-7045-34F6-D55A-B41EDC0CE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03" y="4196503"/>
            <a:ext cx="3047048" cy="24652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1BB8E8-12A0-C5DC-A974-10BA9A20F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201" y="3793591"/>
            <a:ext cx="2458463" cy="28682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2457B7-C6EC-77EC-E7C3-779E1ADEC1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595" y="132940"/>
            <a:ext cx="2391515" cy="23059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C4BE5E4-7797-918A-EF76-1F4DBCD8FC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6810" y="4813217"/>
            <a:ext cx="1988992" cy="18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51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B84755754668449A28E8D7D807C669" ma:contentTypeVersion="3" ma:contentTypeDescription="Create a new document." ma:contentTypeScope="" ma:versionID="996ede322aadfa074f4475650705667d">
  <xsd:schema xmlns:xsd="http://www.w3.org/2001/XMLSchema" xmlns:xs="http://www.w3.org/2001/XMLSchema" xmlns:p="http://schemas.microsoft.com/office/2006/metadata/properties" xmlns:ns3="18eddfac-5670-499f-8703-11d556a5c635" targetNamespace="http://schemas.microsoft.com/office/2006/metadata/properties" ma:root="true" ma:fieldsID="4ab0577ba8f72782e04b251aeaad40dc" ns3:_="">
    <xsd:import namespace="18eddfac-5670-499f-8703-11d556a5c6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eddfac-5670-499f-8703-11d556a5c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985ABD-2D8E-4DB8-8195-7BD3816E6CD2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18eddfac-5670-499f-8703-11d556a5c63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372C3F-17B4-4699-805F-B58DBE8482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eddfac-5670-499f-8703-11d556a5c6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5DAC46-0418-4969-BAD7-E0955C626B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89</TotalTime>
  <Words>1449</Words>
  <Application>Microsoft Office PowerPoint</Application>
  <PresentationFormat>Widescreen</PresentationFormat>
  <Paragraphs>85</Paragraphs>
  <Slides>18</Slides>
  <Notes>7</Notes>
  <HiddenSlides>2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EO M232.02 – IDENTIFY THE COMPONENTS OF PISTONPOWERED INTERNAL COMBUSTION ENGINES</vt:lpstr>
      <vt:lpstr>Teaching Points</vt:lpstr>
      <vt:lpstr>TP1 Identify and Explain the Operations of the Major Components of a Piston-powered Engine pt1</vt:lpstr>
      <vt:lpstr>TP1 Identify and Explain the Operations of the Major Components of a Piston-powered Engine pt2 </vt:lpstr>
      <vt:lpstr>TP1 Identify and Explain the Operations of the Major Components of a Piston-powered Engine pt3 </vt:lpstr>
      <vt:lpstr>TP1 Identify and Explain the Operations of the Major Components of a Piston-powered Engine pt4 </vt:lpstr>
      <vt:lpstr>TP1 Identify and Explain the Operations of the Major Components of a Piston-powered Engine pt5 </vt:lpstr>
      <vt:lpstr>PowerPoint Presentation</vt:lpstr>
      <vt:lpstr>PowerPoint Presentation</vt:lpstr>
      <vt:lpstr>PowerPoint Presentation</vt:lpstr>
      <vt:lpstr>TP2 Explain the Difference Between Rotary Engines and Radial Engines pt1</vt:lpstr>
      <vt:lpstr>TP2 Explain the Difference Between Rotary Engines and Radial Engines pt2</vt:lpstr>
      <vt:lpstr>PowerPoint Presentation</vt:lpstr>
      <vt:lpstr>TP3 Describe Aircraft Engine Arrangements </vt:lpstr>
      <vt:lpstr>PowerPoint Presentation</vt:lpstr>
      <vt:lpstr>PowerPoint Presentation</vt:lpstr>
      <vt:lpstr>TP4 Play a Game of Piston-powered Baseball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 M232.02 – IDENTIFY THE COMPONENTS OF PISTONPOWERED INTERNAL COMBUSTION ENGINES</dc:title>
  <dc:creator>kevin zhu</dc:creator>
  <cp:lastModifiedBy>Kevin Zhu</cp:lastModifiedBy>
  <cp:revision>12</cp:revision>
  <dcterms:created xsi:type="dcterms:W3CDTF">2024-01-14T21:25:57Z</dcterms:created>
  <dcterms:modified xsi:type="dcterms:W3CDTF">2025-05-27T04:07:44Z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0x0101001DB84755754668449A28E8D7D807C669</vt:lpwstr>
  </property>
</Properties>
</file>