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67" r:id="rId3"/>
    <p:sldId id="257" r:id="rId4"/>
    <p:sldId id="258" r:id="rId5"/>
    <p:sldId id="259" r:id="rId6"/>
    <p:sldId id="260" r:id="rId7"/>
    <p:sldId id="261" r:id="rId8"/>
    <p:sldId id="268" r:id="rId9"/>
    <p:sldId id="262" r:id="rId10"/>
    <p:sldId id="263" r:id="rId11"/>
    <p:sldId id="264"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4AF60A-713C-41BA-9788-4C493DDC0A9C}" type="datetimeFigureOut">
              <a:rPr lang="en-US" dirty="0"/>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C08AF-84E6-4329-8E67-FEA434B47075}" type="datetimeFigureOut">
              <a:rPr lang="en-US" dirty="0"/>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F6EE328-6AFF-436B-881F-213D56084544}" type="datetimeFigureOut">
              <a:rPr lang="en-US" dirty="0"/>
              <a:t>2/22/2025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02069A-09EE-4C7C-86A4-2314A404921D}" type="datetimeFigureOut">
              <a:rPr lang="en-US" dirty="0"/>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6EE7F1-171E-411F-96CA-A251A21496E7}" type="datetimeFigureOut">
              <a:rPr lang="en-US" dirty="0"/>
              <a:t>2/22/2025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72C98D-A273-4547-9B92-97D7769F71A6}" type="datetimeFigureOut">
              <a:rPr lang="en-US" dirty="0"/>
              <a:t>2/22/2025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B7CD67-0644-446C-B2AD-1C09BF34F286}" type="datetimeFigureOut">
              <a:rPr lang="en-US" dirty="0"/>
              <a:t>2/22/2025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480828-6983-48AD-9E27-CBD3696F837E}" type="datetimeFigureOut">
              <a:rPr lang="en-US" dirty="0"/>
              <a:t>2/22/2025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5EFB91-0324-450E-B17F-36DC0ECCE413}" type="datetimeFigureOut">
              <a:rPr lang="en-US" dirty="0"/>
              <a:t>2/22/2025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E0FA7-C445-42F7-AF66-A4F5A6FC8A9C}" type="datetimeFigureOut">
              <a:rPr lang="en-US" dirty="0"/>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5AC5C5-1A57-4420-8AFB-CE41693A794B}" type="datetimeFigureOut">
              <a:rPr lang="en-US" dirty="0"/>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2E37674-C1BA-4107-9B06-6D4CAC3A3DF5}" type="datetimeFigureOut">
              <a:rPr lang="en-US" dirty="0"/>
              <a:t>2/22/2025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webm"/><Relationship Id="rId1" Type="http://schemas.microsoft.com/office/2007/relationships/media" Target="../media/media1.webm"/><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948281-0364-4C04-A841-BD36C17BC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20" y="-1"/>
            <a:ext cx="1220724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Shiny engine parts">
            <a:extLst>
              <a:ext uri="{FF2B5EF4-FFF2-40B4-BE49-F238E27FC236}">
                <a16:creationId xmlns:a16="http://schemas.microsoft.com/office/drawing/2014/main" id="{A6126661-8173-7110-19DB-DBE46E6E006F}"/>
              </a:ext>
            </a:extLst>
          </p:cNvPr>
          <p:cNvPicPr>
            <a:picLocks noChangeAspect="1"/>
          </p:cNvPicPr>
          <p:nvPr/>
        </p:nvPicPr>
        <p:blipFill>
          <a:blip r:embed="rId2"/>
          <a:srcRect t="13478" b="1936"/>
          <a:stretch/>
        </p:blipFill>
        <p:spPr>
          <a:xfrm>
            <a:off x="20" y="10"/>
            <a:ext cx="12191980" cy="6857989"/>
          </a:xfrm>
          <a:prstGeom prst="rect">
            <a:avLst/>
          </a:prstGeom>
        </p:spPr>
      </p:pic>
      <p:sp>
        <p:nvSpPr>
          <p:cNvPr id="11" name="Rectangle 10">
            <a:extLst>
              <a:ext uri="{FF2B5EF4-FFF2-40B4-BE49-F238E27FC236}">
                <a16:creationId xmlns:a16="http://schemas.microsoft.com/office/drawing/2014/main" id="{3A78FA00-76B8-49BE-B95D-2772712D4B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12192000" cy="2610465"/>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BFA2D-5CBF-1963-C4F3-3960ACC9E7F4}"/>
              </a:ext>
            </a:extLst>
          </p:cNvPr>
          <p:cNvSpPr>
            <a:spLocks noGrp="1"/>
          </p:cNvSpPr>
          <p:nvPr>
            <p:ph type="ctrTitle"/>
          </p:nvPr>
        </p:nvSpPr>
        <p:spPr>
          <a:xfrm>
            <a:off x="1051560" y="4355692"/>
            <a:ext cx="9085940" cy="1472224"/>
          </a:xfrm>
        </p:spPr>
        <p:txBody>
          <a:bodyPr anchor="b">
            <a:normAutofit/>
          </a:bodyPr>
          <a:lstStyle/>
          <a:p>
            <a:r>
              <a:rPr lang="en-US" sz="3500"/>
              <a:t>EOM232.03 – EXPLAIN THE CYCLES OF A FOUR-STROKE PISTON-POWERED ENGINE</a:t>
            </a:r>
            <a:endParaRPr lang="en-CA" sz="3500"/>
          </a:p>
        </p:txBody>
      </p:sp>
      <p:sp>
        <p:nvSpPr>
          <p:cNvPr id="3" name="Subtitle 2">
            <a:extLst>
              <a:ext uri="{FF2B5EF4-FFF2-40B4-BE49-F238E27FC236}">
                <a16:creationId xmlns:a16="http://schemas.microsoft.com/office/drawing/2014/main" id="{E188F791-5B57-011E-2D86-65994B805FC3}"/>
              </a:ext>
            </a:extLst>
          </p:cNvPr>
          <p:cNvSpPr>
            <a:spLocks noGrp="1"/>
          </p:cNvSpPr>
          <p:nvPr>
            <p:ph type="subTitle" idx="1"/>
          </p:nvPr>
        </p:nvSpPr>
        <p:spPr>
          <a:xfrm>
            <a:off x="1069848" y="5908302"/>
            <a:ext cx="9052560" cy="364482"/>
          </a:xfrm>
        </p:spPr>
        <p:txBody>
          <a:bodyPr>
            <a:normAutofit lnSpcReduction="10000"/>
          </a:bodyPr>
          <a:lstStyle/>
          <a:p>
            <a:endParaRPr lang="en-CA" dirty="0"/>
          </a:p>
        </p:txBody>
      </p:sp>
      <p:grpSp>
        <p:nvGrpSpPr>
          <p:cNvPr id="13" name="Group 12">
            <a:extLst>
              <a:ext uri="{FF2B5EF4-FFF2-40B4-BE49-F238E27FC236}">
                <a16:creationId xmlns:a16="http://schemas.microsoft.com/office/drawing/2014/main" id="{1FD7541F-6ED3-4558-838A-A55FF8D6DC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9685338" y="4460675"/>
            <a:chExt cx="1080904" cy="1080902"/>
          </a:xfrm>
        </p:grpSpPr>
        <p:sp>
          <p:nvSpPr>
            <p:cNvPr id="14" name="Oval 13">
              <a:extLst>
                <a:ext uri="{FF2B5EF4-FFF2-40B4-BE49-F238E27FC236}">
                  <a16:creationId xmlns:a16="http://schemas.microsoft.com/office/drawing/2014/main" id="{9D455E42-2035-4EF5-A199-924E5FECE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8C02769F-4749-4B97-974D-6A8E70F2C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3747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062C10-8840-6281-4150-AC21B7D6CEC3}"/>
              </a:ext>
            </a:extLst>
          </p:cNvPr>
          <p:cNvPicPr>
            <a:picLocks noChangeAspect="1"/>
          </p:cNvPicPr>
          <p:nvPr/>
        </p:nvPicPr>
        <p:blipFill>
          <a:blip r:embed="rId2"/>
          <a:srcRect l="17718" r="32524"/>
          <a:stretch/>
        </p:blipFill>
        <p:spPr>
          <a:xfrm>
            <a:off x="1" y="10"/>
            <a:ext cx="6066502" cy="6857989"/>
          </a:xfrm>
          <a:prstGeom prst="rect">
            <a:avLst/>
          </a:prstGeom>
        </p:spPr>
      </p:pic>
      <p:sp>
        <p:nvSpPr>
          <p:cNvPr id="9" name="Rectangle 8">
            <a:extLst>
              <a:ext uri="{FF2B5EF4-FFF2-40B4-BE49-F238E27FC236}">
                <a16:creationId xmlns:a16="http://schemas.microsoft.com/office/drawing/2014/main" id="{A0202727-54F2-4F63-818F-99119BA21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3">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FFD07A-04BA-920E-D83F-413C17CD0B15}"/>
              </a:ext>
            </a:extLst>
          </p:cNvPr>
          <p:cNvSpPr>
            <a:spLocks noGrp="1"/>
          </p:cNvSpPr>
          <p:nvPr>
            <p:ph type="title"/>
          </p:nvPr>
        </p:nvSpPr>
        <p:spPr>
          <a:xfrm>
            <a:off x="6400798" y="171119"/>
            <a:ext cx="5299586" cy="1609344"/>
          </a:xfrm>
          <a:ln>
            <a:noFill/>
          </a:ln>
        </p:spPr>
        <p:txBody>
          <a:bodyPr>
            <a:normAutofit/>
          </a:bodyPr>
          <a:lstStyle/>
          <a:p>
            <a:r>
              <a:rPr lang="en-CA" sz="4000" dirty="0"/>
              <a:t>Teaching </a:t>
            </a:r>
            <a:r>
              <a:rPr lang="en-CA" sz="4000" dirty="0" err="1"/>
              <a:t>POints</a:t>
            </a:r>
            <a:endParaRPr lang="en-CA" sz="4000" dirty="0"/>
          </a:p>
        </p:txBody>
      </p:sp>
      <p:sp>
        <p:nvSpPr>
          <p:cNvPr id="3" name="Content Placeholder 2">
            <a:extLst>
              <a:ext uri="{FF2B5EF4-FFF2-40B4-BE49-F238E27FC236}">
                <a16:creationId xmlns:a16="http://schemas.microsoft.com/office/drawing/2014/main" id="{E387E54C-F949-EF87-DB6B-0A8079C0A7FF}"/>
              </a:ext>
            </a:extLst>
          </p:cNvPr>
          <p:cNvSpPr>
            <a:spLocks noGrp="1"/>
          </p:cNvSpPr>
          <p:nvPr>
            <p:ph idx="1"/>
          </p:nvPr>
        </p:nvSpPr>
        <p:spPr>
          <a:xfrm>
            <a:off x="6400799" y="1607058"/>
            <a:ext cx="5299585" cy="4050792"/>
          </a:xfrm>
        </p:spPr>
        <p:txBody>
          <a:bodyPr>
            <a:noAutofit/>
          </a:bodyPr>
          <a:lstStyle/>
          <a:p>
            <a:r>
              <a:rPr lang="en-US" sz="2800" dirty="0"/>
              <a:t>TP1 Explain the Purposes of the Strokes of a Four-stroke Piston</a:t>
            </a:r>
          </a:p>
          <a:p>
            <a:r>
              <a:rPr lang="en-US" sz="2800" dirty="0"/>
              <a:t>TP2 Identify and Explain the Operation of Valves and Camshafts</a:t>
            </a:r>
          </a:p>
          <a:p>
            <a:r>
              <a:rPr lang="en-US" sz="2800" dirty="0"/>
              <a:t>TP3 Explain the Timing of Electrical Ignition Spark Distribution</a:t>
            </a:r>
          </a:p>
          <a:p>
            <a:r>
              <a:rPr lang="en-US" sz="2800" dirty="0"/>
              <a:t>TP4 Explain That all Engine Operations Must Proceed in Order</a:t>
            </a:r>
            <a:endParaRPr lang="en-CA" sz="2800" dirty="0"/>
          </a:p>
        </p:txBody>
      </p:sp>
      <p:grpSp>
        <p:nvGrpSpPr>
          <p:cNvPr id="11" name="Group 10">
            <a:extLst>
              <a:ext uri="{FF2B5EF4-FFF2-40B4-BE49-F238E27FC236}">
                <a16:creationId xmlns:a16="http://schemas.microsoft.com/office/drawing/2014/main" id="{B7A73C12-F0BE-4AA8-845B-8CE5359D6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F969367E-EAFB-4B65-ACBA-F5D36EE0B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5DA60E8A-7C25-441D-80F6-60E944794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34834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ckgrounds | Free PowerPoint templates and Google slides themes">
            <a:extLst>
              <a:ext uri="{FF2B5EF4-FFF2-40B4-BE49-F238E27FC236}">
                <a16:creationId xmlns:a16="http://schemas.microsoft.com/office/drawing/2014/main" id="{C43A247F-12D6-DE52-4ECE-2C0B52A9AF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338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327CDB5-B5C3-ADCB-9491-9B73568C2776}"/>
              </a:ext>
            </a:extLst>
          </p:cNvPr>
          <p:cNvSpPr>
            <a:spLocks noGrp="1"/>
          </p:cNvSpPr>
          <p:nvPr>
            <p:ph type="title"/>
          </p:nvPr>
        </p:nvSpPr>
        <p:spPr>
          <a:xfrm>
            <a:off x="0" y="233218"/>
            <a:ext cx="8339328" cy="1609344"/>
          </a:xfrm>
        </p:spPr>
        <p:txBody>
          <a:bodyPr>
            <a:normAutofit fontScale="90000"/>
          </a:bodyPr>
          <a:lstStyle/>
          <a:p>
            <a:r>
              <a:rPr lang="en-US" dirty="0"/>
              <a:t>TP1 Explain the Purposes of the Strokes of a Four-stroke</a:t>
            </a:r>
            <a:br>
              <a:rPr lang="en-US" dirty="0"/>
            </a:br>
            <a:r>
              <a:rPr lang="en-US" dirty="0"/>
              <a:t>Piston</a:t>
            </a:r>
            <a:endParaRPr lang="en-CA" dirty="0"/>
          </a:p>
        </p:txBody>
      </p:sp>
      <p:sp>
        <p:nvSpPr>
          <p:cNvPr id="3" name="Content Placeholder 2">
            <a:extLst>
              <a:ext uri="{FF2B5EF4-FFF2-40B4-BE49-F238E27FC236}">
                <a16:creationId xmlns:a16="http://schemas.microsoft.com/office/drawing/2014/main" id="{68CE4B11-9865-0C78-67FC-DC15BC749F14}"/>
              </a:ext>
            </a:extLst>
          </p:cNvPr>
          <p:cNvSpPr>
            <a:spLocks noGrp="1"/>
          </p:cNvSpPr>
          <p:nvPr>
            <p:ph idx="1"/>
          </p:nvPr>
        </p:nvSpPr>
        <p:spPr>
          <a:xfrm>
            <a:off x="-79458" y="1938528"/>
            <a:ext cx="8126179" cy="4050792"/>
          </a:xfrm>
        </p:spPr>
        <p:txBody>
          <a:bodyPr>
            <a:noAutofit/>
          </a:bodyPr>
          <a:lstStyle/>
          <a:p>
            <a:r>
              <a:rPr lang="en-US" sz="3200" dirty="0"/>
              <a:t>The parts of an engine work together in a cycle to turn the aircraft’s propeller. In most aircraft engines, this cycle has four distinct stages called strokes:</a:t>
            </a:r>
          </a:p>
        </p:txBody>
      </p:sp>
      <p:pic>
        <p:nvPicPr>
          <p:cNvPr id="7" name="Picture 6">
            <a:extLst>
              <a:ext uri="{FF2B5EF4-FFF2-40B4-BE49-F238E27FC236}">
                <a16:creationId xmlns:a16="http://schemas.microsoft.com/office/drawing/2014/main" id="{4073F236-65E2-DDE1-A229-5A073527B443}"/>
              </a:ext>
            </a:extLst>
          </p:cNvPr>
          <p:cNvPicPr>
            <a:picLocks noChangeAspect="1"/>
          </p:cNvPicPr>
          <p:nvPr/>
        </p:nvPicPr>
        <p:blipFill>
          <a:blip r:embed="rId3"/>
          <a:stretch>
            <a:fillRect/>
          </a:stretch>
        </p:blipFill>
        <p:spPr>
          <a:xfrm>
            <a:off x="8032812" y="747545"/>
            <a:ext cx="4173098" cy="3584448"/>
          </a:xfrm>
          <a:prstGeom prst="rect">
            <a:avLst/>
          </a:prstGeom>
        </p:spPr>
      </p:pic>
      <p:sp>
        <p:nvSpPr>
          <p:cNvPr id="5" name="TextBox 4">
            <a:extLst>
              <a:ext uri="{FF2B5EF4-FFF2-40B4-BE49-F238E27FC236}">
                <a16:creationId xmlns:a16="http://schemas.microsoft.com/office/drawing/2014/main" id="{A4B3CDE2-932E-50CB-7C63-AA1A74CF1C58}"/>
              </a:ext>
            </a:extLst>
          </p:cNvPr>
          <p:cNvSpPr txBox="1"/>
          <p:nvPr/>
        </p:nvSpPr>
        <p:spPr>
          <a:xfrm>
            <a:off x="78867" y="4208418"/>
            <a:ext cx="12034266" cy="2062103"/>
          </a:xfrm>
          <a:prstGeom prst="rect">
            <a:avLst/>
          </a:prstGeom>
          <a:noFill/>
        </p:spPr>
        <p:txBody>
          <a:bodyPr wrap="square">
            <a:spAutoFit/>
          </a:bodyPr>
          <a:lstStyle/>
          <a:p>
            <a:r>
              <a:rPr lang="en-US" sz="3200" dirty="0"/>
              <a:t>During the first (intake) stroke, the </a:t>
            </a:r>
            <a:r>
              <a:rPr lang="en-US" sz="3200" dirty="0">
                <a:solidFill>
                  <a:srgbClr val="FF0000"/>
                </a:solidFill>
              </a:rPr>
              <a:t>intake valve opens </a:t>
            </a:r>
            <a:r>
              <a:rPr lang="en-US" sz="3200" dirty="0"/>
              <a:t>to let the gasoline and air mixture into the cylinder and the piston moves down to draw the mixture into the cylinder. The </a:t>
            </a:r>
            <a:r>
              <a:rPr lang="en-US" sz="3200" dirty="0">
                <a:solidFill>
                  <a:srgbClr val="FF0000"/>
                </a:solidFill>
              </a:rPr>
              <a:t>exhaust valve is closed </a:t>
            </a:r>
            <a:r>
              <a:rPr lang="en-US" sz="3200" dirty="0"/>
              <a:t>during this stroke</a:t>
            </a:r>
            <a:endParaRPr lang="en-CA" sz="3200" dirty="0"/>
          </a:p>
        </p:txBody>
      </p:sp>
    </p:spTree>
    <p:extLst>
      <p:ext uri="{BB962C8B-B14F-4D97-AF65-F5344CB8AC3E}">
        <p14:creationId xmlns:p14="http://schemas.microsoft.com/office/powerpoint/2010/main" val="275919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lain PPT Background Images Archive - SlidesCorner">
            <a:extLst>
              <a:ext uri="{FF2B5EF4-FFF2-40B4-BE49-F238E27FC236}">
                <a16:creationId xmlns:a16="http://schemas.microsoft.com/office/drawing/2014/main" id="{38C6643A-36E8-7B3F-1C3D-052EDE7DEE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235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44E9BF3-2154-0FCB-6F70-598F839AB70E}"/>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72334976-45D2-10CC-A0D3-B5038E9D1274}"/>
              </a:ext>
            </a:extLst>
          </p:cNvPr>
          <p:cNvSpPr>
            <a:spLocks noGrp="1"/>
          </p:cNvSpPr>
          <p:nvPr>
            <p:ph idx="1"/>
          </p:nvPr>
        </p:nvSpPr>
        <p:spPr>
          <a:xfrm>
            <a:off x="1069848" y="2121408"/>
            <a:ext cx="5769864" cy="4050792"/>
          </a:xfrm>
        </p:spPr>
        <p:txBody>
          <a:bodyPr>
            <a:normAutofit/>
          </a:bodyPr>
          <a:lstStyle/>
          <a:p>
            <a:r>
              <a:rPr lang="en-US" sz="3200" dirty="0"/>
              <a:t>In the second (compression) stroke, </a:t>
            </a:r>
            <a:r>
              <a:rPr lang="en-US" sz="3200" dirty="0">
                <a:solidFill>
                  <a:srgbClr val="FF0000"/>
                </a:solidFill>
              </a:rPr>
              <a:t>both valves are closed</a:t>
            </a:r>
            <a:r>
              <a:rPr lang="en-US" sz="3200" dirty="0"/>
              <a:t> while the piston moves up to compress the mixture</a:t>
            </a:r>
            <a:endParaRPr lang="en-CA" sz="3200" dirty="0"/>
          </a:p>
        </p:txBody>
      </p:sp>
      <p:pic>
        <p:nvPicPr>
          <p:cNvPr id="5" name="Picture 4">
            <a:extLst>
              <a:ext uri="{FF2B5EF4-FFF2-40B4-BE49-F238E27FC236}">
                <a16:creationId xmlns:a16="http://schemas.microsoft.com/office/drawing/2014/main" id="{063E5FE8-CCC0-A37C-CCF9-382313897640}"/>
              </a:ext>
            </a:extLst>
          </p:cNvPr>
          <p:cNvPicPr>
            <a:picLocks noChangeAspect="1"/>
          </p:cNvPicPr>
          <p:nvPr/>
        </p:nvPicPr>
        <p:blipFill>
          <a:blip r:embed="rId3"/>
          <a:stretch>
            <a:fillRect/>
          </a:stretch>
        </p:blipFill>
        <p:spPr>
          <a:xfrm>
            <a:off x="6662652" y="2093976"/>
            <a:ext cx="4904507" cy="3992316"/>
          </a:xfrm>
          <a:prstGeom prst="rect">
            <a:avLst/>
          </a:prstGeom>
        </p:spPr>
      </p:pic>
    </p:spTree>
    <p:extLst>
      <p:ext uri="{BB962C8B-B14F-4D97-AF65-F5344CB8AC3E}">
        <p14:creationId xmlns:p14="http://schemas.microsoft.com/office/powerpoint/2010/main" val="1390500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lides Background - Google Workspace Marketplace">
            <a:extLst>
              <a:ext uri="{FF2B5EF4-FFF2-40B4-BE49-F238E27FC236}">
                <a16:creationId xmlns:a16="http://schemas.microsoft.com/office/drawing/2014/main" id="{9E4575B2-DD58-813A-DB50-EE7C4C8D6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0787E2-C498-9F7B-7294-D184A7CED10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6E21623-6A80-08C7-6973-533131A885AC}"/>
              </a:ext>
            </a:extLst>
          </p:cNvPr>
          <p:cNvSpPr>
            <a:spLocks noGrp="1"/>
          </p:cNvSpPr>
          <p:nvPr>
            <p:ph idx="1"/>
          </p:nvPr>
        </p:nvSpPr>
        <p:spPr>
          <a:xfrm>
            <a:off x="1069848" y="2121408"/>
            <a:ext cx="5879592" cy="4050792"/>
          </a:xfrm>
        </p:spPr>
        <p:txBody>
          <a:bodyPr>
            <a:normAutofit/>
          </a:bodyPr>
          <a:lstStyle/>
          <a:p>
            <a:r>
              <a:rPr lang="en-US" sz="3600" dirty="0">
                <a:solidFill>
                  <a:schemeClr val="bg1"/>
                </a:solidFill>
              </a:rPr>
              <a:t>In the third (power) stroke, </a:t>
            </a:r>
            <a:r>
              <a:rPr lang="en-US" sz="3600" dirty="0">
                <a:solidFill>
                  <a:srgbClr val="FF0000"/>
                </a:solidFill>
              </a:rPr>
              <a:t>both valves remain closed</a:t>
            </a:r>
            <a:r>
              <a:rPr lang="en-US" sz="3600" dirty="0">
                <a:solidFill>
                  <a:schemeClr val="bg1"/>
                </a:solidFill>
              </a:rPr>
              <a:t> while the </a:t>
            </a:r>
            <a:r>
              <a:rPr lang="en-US" sz="3600" dirty="0">
                <a:solidFill>
                  <a:srgbClr val="FF0000"/>
                </a:solidFill>
              </a:rPr>
              <a:t>spark plug ignites the gas</a:t>
            </a:r>
            <a:r>
              <a:rPr lang="en-US" sz="3600" dirty="0">
                <a:solidFill>
                  <a:schemeClr val="bg1"/>
                </a:solidFill>
              </a:rPr>
              <a:t>, which burns, expands and forces the piston down again.</a:t>
            </a:r>
            <a:endParaRPr lang="en-CA" sz="3600" dirty="0">
              <a:solidFill>
                <a:schemeClr val="bg1"/>
              </a:solidFill>
            </a:endParaRPr>
          </a:p>
        </p:txBody>
      </p:sp>
      <p:pic>
        <p:nvPicPr>
          <p:cNvPr id="5" name="Picture 4">
            <a:extLst>
              <a:ext uri="{FF2B5EF4-FFF2-40B4-BE49-F238E27FC236}">
                <a16:creationId xmlns:a16="http://schemas.microsoft.com/office/drawing/2014/main" id="{0AAA7ECC-397E-71B1-9800-21E7275FEB06}"/>
              </a:ext>
            </a:extLst>
          </p:cNvPr>
          <p:cNvPicPr>
            <a:picLocks noChangeAspect="1"/>
          </p:cNvPicPr>
          <p:nvPr/>
        </p:nvPicPr>
        <p:blipFill>
          <a:blip r:embed="rId3"/>
          <a:stretch>
            <a:fillRect/>
          </a:stretch>
        </p:blipFill>
        <p:spPr>
          <a:xfrm>
            <a:off x="7132320" y="2001358"/>
            <a:ext cx="4980829" cy="3960366"/>
          </a:xfrm>
          <a:prstGeom prst="rect">
            <a:avLst/>
          </a:prstGeom>
        </p:spPr>
      </p:pic>
    </p:spTree>
    <p:extLst>
      <p:ext uri="{BB962C8B-B14F-4D97-AF65-F5344CB8AC3E}">
        <p14:creationId xmlns:p14="http://schemas.microsoft.com/office/powerpoint/2010/main" val="656354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lide Background Green Images – Browse 41,284 Stock Photos, Vectors, and  Video | Adobe Stock">
            <a:extLst>
              <a:ext uri="{FF2B5EF4-FFF2-40B4-BE49-F238E27FC236}">
                <a16:creationId xmlns:a16="http://schemas.microsoft.com/office/drawing/2014/main" id="{01F0759B-D06E-77B8-1453-B5AD4D4FE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1BC78B3-AE34-77EE-6FC6-A4BA5D56022A}"/>
              </a:ext>
            </a:extLst>
          </p:cNvPr>
          <p:cNvSpPr>
            <a:spLocks noGrp="1"/>
          </p:cNvSpPr>
          <p:nvPr>
            <p:ph idx="1"/>
          </p:nvPr>
        </p:nvSpPr>
        <p:spPr>
          <a:xfrm>
            <a:off x="9402" y="201168"/>
            <a:ext cx="11868912" cy="4050792"/>
          </a:xfrm>
        </p:spPr>
        <p:txBody>
          <a:bodyPr>
            <a:normAutofit/>
          </a:bodyPr>
          <a:lstStyle/>
          <a:p>
            <a:r>
              <a:rPr lang="en-US" sz="3600" dirty="0">
                <a:solidFill>
                  <a:schemeClr val="bg1"/>
                </a:solidFill>
              </a:rPr>
              <a:t>In the fourth (exhaust) stroke, </a:t>
            </a:r>
            <a:r>
              <a:rPr lang="en-US" sz="3600" dirty="0">
                <a:solidFill>
                  <a:srgbClr val="FF0000"/>
                </a:solidFill>
              </a:rPr>
              <a:t>the exhaust valve is open</a:t>
            </a:r>
            <a:r>
              <a:rPr lang="en-US" sz="3600" dirty="0">
                <a:solidFill>
                  <a:schemeClr val="bg1"/>
                </a:solidFill>
              </a:rPr>
              <a:t> to let the burnt gases out while the </a:t>
            </a:r>
            <a:r>
              <a:rPr lang="en-US" sz="3600" dirty="0">
                <a:solidFill>
                  <a:srgbClr val="FF0000"/>
                </a:solidFill>
              </a:rPr>
              <a:t>intake valve is closed</a:t>
            </a:r>
            <a:r>
              <a:rPr lang="en-US" sz="3600" dirty="0">
                <a:solidFill>
                  <a:schemeClr val="bg1"/>
                </a:solidFill>
              </a:rPr>
              <a:t>. The piston moves up again to force the burned gases out through the open exhaust valve.</a:t>
            </a:r>
            <a:endParaRPr lang="en-CA" sz="3600" dirty="0">
              <a:solidFill>
                <a:schemeClr val="bg1"/>
              </a:solidFill>
            </a:endParaRPr>
          </a:p>
        </p:txBody>
      </p:sp>
      <p:pic>
        <p:nvPicPr>
          <p:cNvPr id="5" name="Picture 4">
            <a:extLst>
              <a:ext uri="{FF2B5EF4-FFF2-40B4-BE49-F238E27FC236}">
                <a16:creationId xmlns:a16="http://schemas.microsoft.com/office/drawing/2014/main" id="{5D0E45F2-DECF-9758-8BA0-C96076BDCBA6}"/>
              </a:ext>
            </a:extLst>
          </p:cNvPr>
          <p:cNvPicPr>
            <a:picLocks noChangeAspect="1"/>
          </p:cNvPicPr>
          <p:nvPr/>
        </p:nvPicPr>
        <p:blipFill>
          <a:blip r:embed="rId3"/>
          <a:stretch>
            <a:fillRect/>
          </a:stretch>
        </p:blipFill>
        <p:spPr>
          <a:xfrm>
            <a:off x="7307451" y="2460911"/>
            <a:ext cx="4727706" cy="3984433"/>
          </a:xfrm>
          <a:prstGeom prst="rect">
            <a:avLst/>
          </a:prstGeom>
        </p:spPr>
      </p:pic>
      <p:sp>
        <p:nvSpPr>
          <p:cNvPr id="6" name="TextBox 5">
            <a:extLst>
              <a:ext uri="{FF2B5EF4-FFF2-40B4-BE49-F238E27FC236}">
                <a16:creationId xmlns:a16="http://schemas.microsoft.com/office/drawing/2014/main" id="{0A18300E-66BC-D77C-019C-5986F6E8278A}"/>
              </a:ext>
            </a:extLst>
          </p:cNvPr>
          <p:cNvSpPr txBox="1"/>
          <p:nvPr/>
        </p:nvSpPr>
        <p:spPr>
          <a:xfrm>
            <a:off x="313686" y="2686514"/>
            <a:ext cx="6836922" cy="3416320"/>
          </a:xfrm>
          <a:prstGeom prst="rect">
            <a:avLst/>
          </a:prstGeom>
          <a:noFill/>
        </p:spPr>
        <p:txBody>
          <a:bodyPr wrap="square">
            <a:spAutoFit/>
          </a:bodyPr>
          <a:lstStyle/>
          <a:p>
            <a:r>
              <a:rPr lang="en-CA" sz="3600" dirty="0">
                <a:solidFill>
                  <a:schemeClr val="bg1"/>
                </a:solidFill>
              </a:rPr>
              <a:t>After the exhaust stroke, the whole process </a:t>
            </a:r>
            <a:r>
              <a:rPr lang="en-CA" sz="3600" dirty="0">
                <a:solidFill>
                  <a:srgbClr val="FF0000"/>
                </a:solidFill>
              </a:rPr>
              <a:t>repeats itself thousands of times per minute</a:t>
            </a:r>
            <a:r>
              <a:rPr lang="en-CA" sz="3600" dirty="0">
                <a:solidFill>
                  <a:schemeClr val="bg1"/>
                </a:solidFill>
              </a:rPr>
              <a:t>, causing the crankshaft</a:t>
            </a:r>
          </a:p>
          <a:p>
            <a:r>
              <a:rPr lang="en-CA" sz="3600" dirty="0">
                <a:solidFill>
                  <a:schemeClr val="bg1"/>
                </a:solidFill>
              </a:rPr>
              <a:t>to turn the propeller on the aircraft.</a:t>
            </a:r>
          </a:p>
        </p:txBody>
      </p:sp>
    </p:spTree>
    <p:extLst>
      <p:ext uri="{BB962C8B-B14F-4D97-AF65-F5344CB8AC3E}">
        <p14:creationId xmlns:p14="http://schemas.microsoft.com/office/powerpoint/2010/main" val="313381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79B21-DD86-036D-93F2-02EFACE62BCF}"/>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5475E18A-F539-9D8C-D378-242E8EFD6F1B}"/>
              </a:ext>
            </a:extLst>
          </p:cNvPr>
          <p:cNvSpPr>
            <a:spLocks noGrp="1"/>
          </p:cNvSpPr>
          <p:nvPr>
            <p:ph idx="1"/>
          </p:nvPr>
        </p:nvSpPr>
        <p:spPr/>
        <p:txBody>
          <a:bodyPr/>
          <a:lstStyle/>
          <a:p>
            <a:endParaRPr lang="en-CA"/>
          </a:p>
        </p:txBody>
      </p:sp>
      <p:pic>
        <p:nvPicPr>
          <p:cNvPr id="1026" name="Picture 2" descr="How Does a Piston Engine Work? | Boldmethod">
            <a:extLst>
              <a:ext uri="{FF2B5EF4-FFF2-40B4-BE49-F238E27FC236}">
                <a16:creationId xmlns:a16="http://schemas.microsoft.com/office/drawing/2014/main" id="{A32D5AD5-FECB-B8DE-B0BC-1111F31F2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50800"/>
            <a:ext cx="12191999" cy="675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100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AC87-632A-EB0A-CAE2-1F4795D074BB}"/>
              </a:ext>
            </a:extLst>
          </p:cNvPr>
          <p:cNvSpPr>
            <a:spLocks noGrp="1"/>
          </p:cNvSpPr>
          <p:nvPr>
            <p:ph type="title"/>
          </p:nvPr>
        </p:nvSpPr>
        <p:spPr/>
        <p:txBody>
          <a:bodyPr/>
          <a:lstStyle/>
          <a:p>
            <a:endParaRPr lang="en-CA"/>
          </a:p>
        </p:txBody>
      </p:sp>
      <p:pic>
        <p:nvPicPr>
          <p:cNvPr id="4" name="4 Stroke Engine Working Animation [Pu7g3uIG6Zo]">
            <a:hlinkClick r:id="" action="ppaction://media"/>
            <a:extLst>
              <a:ext uri="{FF2B5EF4-FFF2-40B4-BE49-F238E27FC236}">
                <a16:creationId xmlns:a16="http://schemas.microsoft.com/office/drawing/2014/main" id="{2D91F9B8-366A-F893-8F16-C6A8BBF8901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752601" y="0"/>
            <a:ext cx="9172574" cy="6878756"/>
          </a:xfrm>
        </p:spPr>
      </p:pic>
    </p:spTree>
    <p:extLst>
      <p:ext uri="{BB962C8B-B14F-4D97-AF65-F5344CB8AC3E}">
        <p14:creationId xmlns:p14="http://schemas.microsoft.com/office/powerpoint/2010/main" val="14522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18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212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6289-57F3-9DBF-BE71-8D0DE854E84A}"/>
              </a:ext>
            </a:extLst>
          </p:cNvPr>
          <p:cNvSpPr>
            <a:spLocks noGrp="1"/>
          </p:cNvSpPr>
          <p:nvPr>
            <p:ph type="title"/>
          </p:nvPr>
        </p:nvSpPr>
        <p:spPr>
          <a:xfrm>
            <a:off x="0" y="484632"/>
            <a:ext cx="6684963" cy="1609344"/>
          </a:xfrm>
        </p:spPr>
        <p:txBody>
          <a:bodyPr>
            <a:normAutofit fontScale="90000"/>
          </a:bodyPr>
          <a:lstStyle/>
          <a:p>
            <a:r>
              <a:rPr lang="en-US" dirty="0"/>
              <a:t>TP2 Identify and Explain the Operation of Valves and Camshafts</a:t>
            </a:r>
            <a:endParaRPr lang="en-CA" dirty="0"/>
          </a:p>
        </p:txBody>
      </p:sp>
      <p:sp>
        <p:nvSpPr>
          <p:cNvPr id="3" name="Content Placeholder 2">
            <a:extLst>
              <a:ext uri="{FF2B5EF4-FFF2-40B4-BE49-F238E27FC236}">
                <a16:creationId xmlns:a16="http://schemas.microsoft.com/office/drawing/2014/main" id="{7D3D92EE-039D-9F5A-B5DB-20F23A5DC15A}"/>
              </a:ext>
            </a:extLst>
          </p:cNvPr>
          <p:cNvSpPr>
            <a:spLocks noGrp="1"/>
          </p:cNvSpPr>
          <p:nvPr>
            <p:ph idx="1"/>
          </p:nvPr>
        </p:nvSpPr>
        <p:spPr>
          <a:xfrm>
            <a:off x="64008" y="2450592"/>
            <a:ext cx="6684963" cy="4050792"/>
          </a:xfrm>
        </p:spPr>
        <p:txBody>
          <a:bodyPr>
            <a:normAutofit/>
          </a:bodyPr>
          <a:lstStyle/>
          <a:p>
            <a:r>
              <a:rPr lang="en-US" sz="2800" dirty="0"/>
              <a:t>Since the crankshaft rotates in time with the piston movements, </a:t>
            </a:r>
            <a:r>
              <a:rPr lang="en-US" sz="2800" dirty="0">
                <a:solidFill>
                  <a:srgbClr val="FF0000"/>
                </a:solidFill>
              </a:rPr>
              <a:t>its rotation is used to provide signals to the valves</a:t>
            </a:r>
            <a:r>
              <a:rPr lang="en-US" sz="2800" dirty="0"/>
              <a:t>, telling them when to open. </a:t>
            </a:r>
          </a:p>
          <a:p>
            <a:r>
              <a:rPr lang="en-US" sz="2800" dirty="0"/>
              <a:t>The crankshaft turns a secondary shaft (camshaft) that has cams, raised on its surface. The shape of the cam is such that </a:t>
            </a:r>
            <a:r>
              <a:rPr lang="en-US" sz="2800" dirty="0">
                <a:solidFill>
                  <a:srgbClr val="FF0000"/>
                </a:solidFill>
              </a:rPr>
              <a:t>it mechanically pushes its associated valve open</a:t>
            </a:r>
            <a:endParaRPr lang="en-CA" sz="2800" dirty="0">
              <a:solidFill>
                <a:srgbClr val="FF0000"/>
              </a:solidFill>
            </a:endParaRPr>
          </a:p>
        </p:txBody>
      </p:sp>
      <p:pic>
        <p:nvPicPr>
          <p:cNvPr id="5122" name="Picture 2" descr="Single Overhead Cam Internal Combustion Engine — Mechanical Gifs">
            <a:extLst>
              <a:ext uri="{FF2B5EF4-FFF2-40B4-BE49-F238E27FC236}">
                <a16:creationId xmlns:a16="http://schemas.microsoft.com/office/drawing/2014/main" id="{DDE56ADE-BC8A-FAB4-D21C-83829DB83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4963" y="0"/>
            <a:ext cx="5507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649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3222-64FD-E4F8-248F-17C9CD287829}"/>
              </a:ext>
            </a:extLst>
          </p:cNvPr>
          <p:cNvSpPr>
            <a:spLocks noGrp="1"/>
          </p:cNvSpPr>
          <p:nvPr>
            <p:ph type="title"/>
          </p:nvPr>
        </p:nvSpPr>
        <p:spPr/>
        <p:txBody>
          <a:bodyPr>
            <a:normAutofit fontScale="90000"/>
          </a:bodyPr>
          <a:lstStyle/>
          <a:p>
            <a:r>
              <a:rPr lang="en-US" dirty="0"/>
              <a:t>TP3 Explain the Timing of Electrical Ignition Spark</a:t>
            </a:r>
            <a:br>
              <a:rPr lang="en-US" dirty="0"/>
            </a:br>
            <a:r>
              <a:rPr lang="en-US" dirty="0"/>
              <a:t>Distribution</a:t>
            </a:r>
            <a:endParaRPr lang="en-CA" dirty="0"/>
          </a:p>
        </p:txBody>
      </p:sp>
      <p:sp>
        <p:nvSpPr>
          <p:cNvPr id="3" name="Content Placeholder 2">
            <a:extLst>
              <a:ext uri="{FF2B5EF4-FFF2-40B4-BE49-F238E27FC236}">
                <a16:creationId xmlns:a16="http://schemas.microsoft.com/office/drawing/2014/main" id="{3EA98A0D-DC36-F4BD-BAAA-63061AFE97AC}"/>
              </a:ext>
            </a:extLst>
          </p:cNvPr>
          <p:cNvSpPr>
            <a:spLocks noGrp="1"/>
          </p:cNvSpPr>
          <p:nvPr>
            <p:ph idx="1"/>
          </p:nvPr>
        </p:nvSpPr>
        <p:spPr>
          <a:xfrm>
            <a:off x="0" y="2121408"/>
            <a:ext cx="11128248" cy="4050792"/>
          </a:xfrm>
        </p:spPr>
        <p:txBody>
          <a:bodyPr>
            <a:noAutofit/>
          </a:bodyPr>
          <a:lstStyle/>
          <a:p>
            <a:r>
              <a:rPr lang="en-US" sz="2800" dirty="0"/>
              <a:t>Efficient, complete burning takes time. </a:t>
            </a:r>
            <a:r>
              <a:rPr lang="en-US" sz="2800" dirty="0">
                <a:solidFill>
                  <a:srgbClr val="FF0000"/>
                </a:solidFill>
              </a:rPr>
              <a:t>Proper timing is required</a:t>
            </a:r>
            <a:r>
              <a:rPr lang="en-US" sz="2800" dirty="0"/>
              <a:t>. </a:t>
            </a:r>
          </a:p>
          <a:p>
            <a:r>
              <a:rPr lang="en-US" sz="2800" dirty="0"/>
              <a:t>To ensure that the fuel is burned completely, and that all energy is recovered from the fuel, </a:t>
            </a:r>
            <a:r>
              <a:rPr lang="en-US" sz="2800" dirty="0">
                <a:solidFill>
                  <a:srgbClr val="FF0000"/>
                </a:solidFill>
              </a:rPr>
              <a:t>the spark that sets off the detonation must be delivered while the piston is still rising on the compression stroke</a:t>
            </a:r>
            <a:r>
              <a:rPr lang="en-US" sz="2800" dirty="0"/>
              <a:t>. </a:t>
            </a:r>
          </a:p>
          <a:p>
            <a:r>
              <a:rPr lang="en-US" sz="2800" dirty="0"/>
              <a:t>If the spark arrives during the power stroke there is not enough time to burn the fuel completely and unburned fuel is exhausted. This would be an inefficient waste of fuel Therefore, the timing of the spark plug’s electrical signal must be exact.</a:t>
            </a:r>
            <a:endParaRPr lang="en-CA" sz="2800" dirty="0"/>
          </a:p>
        </p:txBody>
      </p:sp>
    </p:spTree>
    <p:extLst>
      <p:ext uri="{BB962C8B-B14F-4D97-AF65-F5344CB8AC3E}">
        <p14:creationId xmlns:p14="http://schemas.microsoft.com/office/powerpoint/2010/main" val="2229754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Backgrounds | Free PowerPoint templates and Google slides themes">
            <a:extLst>
              <a:ext uri="{FF2B5EF4-FFF2-40B4-BE49-F238E27FC236}">
                <a16:creationId xmlns:a16="http://schemas.microsoft.com/office/drawing/2014/main" id="{ECF5DD04-3D4A-3FF4-A66D-FCC70A905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3774CF5-E00E-6EEB-8C3F-B899FF1762FA}"/>
              </a:ext>
            </a:extLst>
          </p:cNvPr>
          <p:cNvSpPr>
            <a:spLocks noGrp="1"/>
          </p:cNvSpPr>
          <p:nvPr>
            <p:ph type="title"/>
          </p:nvPr>
        </p:nvSpPr>
        <p:spPr>
          <a:xfrm>
            <a:off x="6920229" y="416052"/>
            <a:ext cx="5544312" cy="1449324"/>
          </a:xfrm>
        </p:spPr>
        <p:txBody>
          <a:bodyPr>
            <a:normAutofit fontScale="90000"/>
          </a:bodyPr>
          <a:lstStyle/>
          <a:p>
            <a:r>
              <a:rPr lang="en-US" dirty="0"/>
              <a:t>TP4 Explain That all Engine Operations Must Proceed in Order</a:t>
            </a:r>
            <a:endParaRPr lang="en-CA" dirty="0"/>
          </a:p>
        </p:txBody>
      </p:sp>
      <p:sp>
        <p:nvSpPr>
          <p:cNvPr id="3" name="Content Placeholder 2">
            <a:extLst>
              <a:ext uri="{FF2B5EF4-FFF2-40B4-BE49-F238E27FC236}">
                <a16:creationId xmlns:a16="http://schemas.microsoft.com/office/drawing/2014/main" id="{880C9554-05EC-EF25-ACA5-A5277A3D1750}"/>
              </a:ext>
            </a:extLst>
          </p:cNvPr>
          <p:cNvSpPr>
            <a:spLocks noGrp="1"/>
          </p:cNvSpPr>
          <p:nvPr>
            <p:ph idx="1"/>
          </p:nvPr>
        </p:nvSpPr>
        <p:spPr>
          <a:xfrm>
            <a:off x="0" y="0"/>
            <a:ext cx="6920229" cy="4050792"/>
          </a:xfrm>
        </p:spPr>
        <p:txBody>
          <a:bodyPr>
            <a:noAutofit/>
          </a:bodyPr>
          <a:lstStyle/>
          <a:p>
            <a:r>
              <a:rPr lang="en-US" sz="2400" dirty="0"/>
              <a:t>The engine operation must proceed as follows:</a:t>
            </a:r>
          </a:p>
          <a:p>
            <a:r>
              <a:rPr lang="en-US" sz="2400" dirty="0"/>
              <a:t>Fuel and air mixture must be available for all cylinders, all the time, in a multi-cylinder engine</a:t>
            </a:r>
          </a:p>
          <a:p>
            <a:r>
              <a:rPr lang="en-US" sz="2400" dirty="0"/>
              <a:t>The </a:t>
            </a:r>
            <a:r>
              <a:rPr lang="en-US" sz="2400" dirty="0">
                <a:solidFill>
                  <a:srgbClr val="FF0000"/>
                </a:solidFill>
              </a:rPr>
              <a:t>intake stroke </a:t>
            </a:r>
            <a:r>
              <a:rPr lang="en-US" sz="2400" dirty="0"/>
              <a:t>of the piston (</a:t>
            </a:r>
            <a:r>
              <a:rPr lang="en-US" sz="2400" dirty="0">
                <a:solidFill>
                  <a:srgbClr val="00B0F0"/>
                </a:solidFill>
              </a:rPr>
              <a:t>intake valve open</a:t>
            </a:r>
            <a:r>
              <a:rPr lang="en-US" sz="2400" dirty="0"/>
              <a:t>)(</a:t>
            </a:r>
            <a:r>
              <a:rPr lang="en-US" sz="2400" dirty="0">
                <a:solidFill>
                  <a:schemeClr val="accent2">
                    <a:lumMod val="75000"/>
                  </a:schemeClr>
                </a:solidFill>
              </a:rPr>
              <a:t>exhaust valve closed</a:t>
            </a:r>
            <a:r>
              <a:rPr lang="en-US" sz="2400" dirty="0"/>
              <a:t>)</a:t>
            </a:r>
          </a:p>
          <a:p>
            <a:r>
              <a:rPr lang="en-US" sz="2400" dirty="0"/>
              <a:t>The </a:t>
            </a:r>
            <a:r>
              <a:rPr lang="en-US" sz="2400" dirty="0">
                <a:solidFill>
                  <a:srgbClr val="FF0000"/>
                </a:solidFill>
              </a:rPr>
              <a:t>compression stroke </a:t>
            </a:r>
            <a:r>
              <a:rPr lang="en-US" sz="2400" dirty="0"/>
              <a:t>of the piston (both valves closed)</a:t>
            </a:r>
          </a:p>
          <a:p>
            <a:r>
              <a:rPr lang="en-US" sz="2400" dirty="0"/>
              <a:t>Electrical signals must be delivered to </a:t>
            </a:r>
            <a:r>
              <a:rPr lang="en-US" sz="2400" dirty="0">
                <a:solidFill>
                  <a:srgbClr val="FF0000"/>
                </a:solidFill>
              </a:rPr>
              <a:t>spark plugs </a:t>
            </a:r>
            <a:r>
              <a:rPr lang="en-US" sz="2400" dirty="0"/>
              <a:t>just before the piston completes the power stroke, when both valves are closed</a:t>
            </a:r>
          </a:p>
          <a:p>
            <a:r>
              <a:rPr lang="en-US" sz="2400" dirty="0"/>
              <a:t>The </a:t>
            </a:r>
            <a:r>
              <a:rPr lang="en-US" sz="2400" dirty="0">
                <a:solidFill>
                  <a:srgbClr val="FF0000"/>
                </a:solidFill>
              </a:rPr>
              <a:t>power stroke </a:t>
            </a:r>
            <a:r>
              <a:rPr lang="en-US" sz="2400" dirty="0"/>
              <a:t>of the piston (both valves closed)</a:t>
            </a:r>
          </a:p>
          <a:p>
            <a:r>
              <a:rPr lang="en-US" sz="2400" dirty="0"/>
              <a:t>The </a:t>
            </a:r>
            <a:r>
              <a:rPr lang="en-US" sz="2400" dirty="0">
                <a:solidFill>
                  <a:srgbClr val="FF0000"/>
                </a:solidFill>
              </a:rPr>
              <a:t>exhaust stroke </a:t>
            </a:r>
            <a:r>
              <a:rPr lang="en-US" sz="2400" dirty="0"/>
              <a:t>of the piston (</a:t>
            </a:r>
            <a:r>
              <a:rPr lang="en-US" sz="2400" dirty="0">
                <a:solidFill>
                  <a:schemeClr val="accent2">
                    <a:lumMod val="50000"/>
                  </a:schemeClr>
                </a:solidFill>
              </a:rPr>
              <a:t>exhaust valve open</a:t>
            </a:r>
            <a:r>
              <a:rPr lang="en-US" sz="2400" dirty="0"/>
              <a:t>)(</a:t>
            </a:r>
            <a:r>
              <a:rPr lang="en-US" sz="2400" dirty="0">
                <a:solidFill>
                  <a:srgbClr val="00B0F0"/>
                </a:solidFill>
              </a:rPr>
              <a:t>intake valve closed</a:t>
            </a:r>
            <a:r>
              <a:rPr lang="en-US" sz="2400" dirty="0"/>
              <a:t>)</a:t>
            </a:r>
          </a:p>
          <a:p>
            <a:r>
              <a:rPr lang="en-US" sz="2400" dirty="0"/>
              <a:t>The camshaft must push each valve open and closed at the right times</a:t>
            </a:r>
            <a:endParaRPr lang="en-CA" sz="2400" dirty="0"/>
          </a:p>
        </p:txBody>
      </p:sp>
      <p:pic>
        <p:nvPicPr>
          <p:cNvPr id="6150" name="Picture 6">
            <a:extLst>
              <a:ext uri="{FF2B5EF4-FFF2-40B4-BE49-F238E27FC236}">
                <a16:creationId xmlns:a16="http://schemas.microsoft.com/office/drawing/2014/main" id="{03A983E3-207E-C57C-C66B-5347D96DE6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60" t="16788" r="3782"/>
          <a:stretch/>
        </p:blipFill>
        <p:spPr bwMode="auto">
          <a:xfrm>
            <a:off x="6920229" y="2231137"/>
            <a:ext cx="5271771" cy="4626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830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3300B-D19A-31F9-5B58-6CA386AA046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C18392A-E1BC-0AE8-61B3-57FCE2B47F9B}"/>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63354B6F-7EDC-F42E-CC4E-0FC352B412EC}"/>
              </a:ext>
            </a:extLst>
          </p:cNvPr>
          <p:cNvPicPr>
            <a:picLocks noChangeAspect="1"/>
          </p:cNvPicPr>
          <p:nvPr/>
        </p:nvPicPr>
        <p:blipFill>
          <a:blip r:embed="rId2"/>
          <a:stretch>
            <a:fillRect/>
          </a:stretch>
        </p:blipFill>
        <p:spPr>
          <a:xfrm>
            <a:off x="8557599" y="2236791"/>
            <a:ext cx="3324689" cy="3591426"/>
          </a:xfrm>
          <a:prstGeom prst="rect">
            <a:avLst/>
          </a:prstGeom>
        </p:spPr>
      </p:pic>
    </p:spTree>
    <p:extLst>
      <p:ext uri="{BB962C8B-B14F-4D97-AF65-F5344CB8AC3E}">
        <p14:creationId xmlns:p14="http://schemas.microsoft.com/office/powerpoint/2010/main" val="38617333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TM03090434[[fn=Wood Type]]</Template>
  <TotalTime>49</TotalTime>
  <Words>562</Words>
  <Application>Microsoft Office PowerPoint</Application>
  <PresentationFormat>Widescreen</PresentationFormat>
  <Paragraphs>30</Paragraphs>
  <Slides>12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Georgia</vt:lpstr>
      <vt:lpstr>Rockwell Extra Bold</vt:lpstr>
      <vt:lpstr>Trebuchet MS</vt:lpstr>
      <vt:lpstr>Wingdings</vt:lpstr>
      <vt:lpstr>Wood Type</vt:lpstr>
      <vt:lpstr>EOM232.03 – EXPLAIN THE CYCLES OF A FOUR-STROKE PISTON-POWERED ENGINE</vt:lpstr>
      <vt:lpstr>Teaching POints</vt:lpstr>
      <vt:lpstr>TP1 Explain the Purposes of the Strokes of a Four-stroke Piston</vt:lpstr>
      <vt:lpstr>PowerPoint Presentation</vt:lpstr>
      <vt:lpstr>PowerPoint Presentation</vt:lpstr>
      <vt:lpstr>PowerPoint Presentation</vt:lpstr>
      <vt:lpstr>PowerPoint Presentation</vt:lpstr>
      <vt:lpstr>PowerPoint Presentation</vt:lpstr>
      <vt:lpstr>TP2 Identify and Explain the Operation of Valves and Camshafts</vt:lpstr>
      <vt:lpstr>TP3 Explain the Timing of Electrical Ignition Spark Distribution</vt:lpstr>
      <vt:lpstr>TP4 Explain That all Engine Operations Must Proceed in Order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 Kevin cdt</dc:creator>
  <cp:lastModifiedBy>Kevin Zhu</cp:lastModifiedBy>
  <cp:revision>4</cp:revision>
  <dcterms:created xsi:type="dcterms:W3CDTF">2025-02-23T04:51:11Z</dcterms:created>
  <dcterms:modified xsi:type="dcterms:W3CDTF">2025-02-23T05:40:41Z</dcterms:modified>
</cp:coreProperties>
</file>