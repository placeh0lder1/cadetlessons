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53" r:id="rId5"/>
    <p:sldId id="329" r:id="rId6"/>
    <p:sldId id="354" r:id="rId7"/>
    <p:sldId id="355" r:id="rId8"/>
    <p:sldId id="359" r:id="rId9"/>
    <p:sldId id="356" r:id="rId10"/>
    <p:sldId id="357" r:id="rId11"/>
    <p:sldId id="3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66" autoAdjust="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728771"/>
            <a:ext cx="6327648" cy="2180543"/>
          </a:xfrm>
        </p:spPr>
        <p:txBody>
          <a:bodyPr/>
          <a:lstStyle/>
          <a:p>
            <a:r>
              <a:rPr lang="en-US" dirty="0"/>
              <a:t>EO M260.01 – EXPLAIN ASPECTS OF AIR TRAFFIC CONTROL (ATC)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/>
          <a:p>
            <a:r>
              <a:rPr lang="en-US" dirty="0"/>
              <a:t>Teaching Points</a:t>
            </a:r>
          </a:p>
        </p:txBody>
      </p:sp>
      <p:pic>
        <p:nvPicPr>
          <p:cNvPr id="12" name="Picture Placeholder 11" descr="A close up of white and pink flowers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TP1 Explain the Role of an Air Traffic Controller at an Aerodrome</a:t>
            </a:r>
          </a:p>
          <a:p>
            <a:r>
              <a:rPr lang="en-US" dirty="0"/>
              <a:t>TP2 Provide a Basic Overview of Radar Technology Used in ATC</a:t>
            </a:r>
          </a:p>
          <a:p>
            <a:r>
              <a:rPr lang="en-US" dirty="0"/>
              <a:t>TP3 Explain NORDO (Without Radio) Procedures at a Controlled Airport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" descr="A bouquet of flowers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The power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of communication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949E-2D46-6DD9-9745-9527F262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TP1 Explain the Role of an Air Traffic Controller at an Aerodrome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9F047-AD8B-3EF3-1082-41E2B97693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2826" y="2218182"/>
            <a:ext cx="10515600" cy="3392424"/>
          </a:xfrm>
        </p:spPr>
        <p:txBody>
          <a:bodyPr>
            <a:noAutofit/>
          </a:bodyPr>
          <a:lstStyle/>
          <a:p>
            <a:r>
              <a:rPr lang="en-US" sz="3000" dirty="0"/>
              <a:t>The ATC system is a </a:t>
            </a:r>
            <a:r>
              <a:rPr lang="en-US" sz="3000" dirty="0">
                <a:solidFill>
                  <a:srgbClr val="FF0000"/>
                </a:solidFill>
              </a:rPr>
              <a:t>vast network of people and equipment </a:t>
            </a:r>
            <a:r>
              <a:rPr lang="en-US" sz="3000" dirty="0"/>
              <a:t>that ensures the safe operation of commercial and private aircraft.</a:t>
            </a:r>
          </a:p>
          <a:p>
            <a:r>
              <a:rPr lang="en-US" sz="3000" dirty="0"/>
              <a:t>The air traffic controller’s’ immediate concern is </a:t>
            </a:r>
            <a:r>
              <a:rPr lang="en-US" sz="3000" dirty="0">
                <a:solidFill>
                  <a:srgbClr val="FF0000"/>
                </a:solidFill>
              </a:rPr>
              <a:t>safety</a:t>
            </a:r>
            <a:r>
              <a:rPr lang="en-US" sz="3000" dirty="0"/>
              <a:t>, but controllers must also direct planes efficiently to </a:t>
            </a:r>
            <a:r>
              <a:rPr lang="en-US" sz="3000" dirty="0">
                <a:solidFill>
                  <a:srgbClr val="FF0000"/>
                </a:solidFill>
              </a:rPr>
              <a:t>minimize delays</a:t>
            </a:r>
            <a:r>
              <a:rPr lang="en-US" sz="3000" dirty="0"/>
              <a:t>. Their main responsibility is to </a:t>
            </a:r>
            <a:r>
              <a:rPr lang="en-US" sz="3000" dirty="0">
                <a:solidFill>
                  <a:srgbClr val="FF0000"/>
                </a:solidFill>
              </a:rPr>
              <a:t>organize the flow of aircraft </a:t>
            </a:r>
            <a:r>
              <a:rPr lang="en-US" sz="3000" dirty="0"/>
              <a:t>and </a:t>
            </a:r>
            <a:r>
              <a:rPr lang="en-US" sz="3000" dirty="0">
                <a:solidFill>
                  <a:srgbClr val="FF0000"/>
                </a:solidFill>
              </a:rPr>
              <a:t>prevent collisions </a:t>
            </a:r>
            <a:r>
              <a:rPr lang="en-US" sz="3000" dirty="0"/>
              <a:t>into and out of the aerodrome.</a:t>
            </a:r>
          </a:p>
          <a:p>
            <a:r>
              <a:rPr lang="en-US" sz="3000" dirty="0"/>
              <a:t>In addition, air traffic controllers keep pilots informed about </a:t>
            </a:r>
            <a:r>
              <a:rPr lang="en-US" sz="3000" dirty="0">
                <a:solidFill>
                  <a:srgbClr val="FF0000"/>
                </a:solidFill>
              </a:rPr>
              <a:t>changes in weather conditions</a:t>
            </a:r>
            <a:r>
              <a:rPr lang="en-US" sz="3000" dirty="0"/>
              <a:t> such as wind shear, a sudden change in the velocity or direction of the wind that can cause the pilot to lose control of the aircraft.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4F36F-F899-835A-FA57-ADDB625A0A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43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061BB-E87E-F20F-4E69-6BD79CF410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484757"/>
            <a:ext cx="10515600" cy="3392424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0000"/>
                </a:solidFill>
              </a:rPr>
              <a:t>ATC Authorization</a:t>
            </a:r>
          </a:p>
          <a:p>
            <a:r>
              <a:rPr lang="en-US" sz="3500" dirty="0"/>
              <a:t>An ATC clearance is an authorization from an ATC unit for an </a:t>
            </a:r>
            <a:r>
              <a:rPr lang="en-US" sz="3500" dirty="0">
                <a:solidFill>
                  <a:srgbClr val="FF0000"/>
                </a:solidFill>
              </a:rPr>
              <a:t>aircraft to proceed within controlled airspace under specific conditions</a:t>
            </a:r>
            <a:r>
              <a:rPr lang="en-US" sz="3500" dirty="0"/>
              <a:t>. Some air traffic controllers regulate traffic through designated airspaces; others regulate airport arrivals and departures.</a:t>
            </a:r>
            <a:endParaRPr lang="en-CA" sz="3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1DA4C-4018-DE31-407A-886572D962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46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03C7-528B-8C1C-E212-C9BA02E6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TP2 Provide a Basic Overview of Radar Technology Used in ATC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B0D1-10B7-8C22-2496-8B40362F49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35052" y="1559455"/>
            <a:ext cx="12227052" cy="3392424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RADAR</a:t>
            </a:r>
          </a:p>
          <a:p>
            <a:r>
              <a:rPr lang="en-US" sz="3000" dirty="0"/>
              <a:t>The name “RADAR” is an abbreviation for “radio detection and ranging”. To operate, radar requires a </a:t>
            </a:r>
            <a:r>
              <a:rPr lang="en-US" sz="3000" dirty="0">
                <a:solidFill>
                  <a:srgbClr val="FF0000"/>
                </a:solidFill>
              </a:rPr>
              <a:t>highly directional radio transmitter/antenna </a:t>
            </a:r>
            <a:r>
              <a:rPr lang="en-US" sz="3000" dirty="0"/>
              <a:t>and a </a:t>
            </a:r>
            <a:br>
              <a:rPr lang="en-US" sz="3000" dirty="0"/>
            </a:br>
            <a:r>
              <a:rPr lang="en-US" sz="3000" dirty="0">
                <a:solidFill>
                  <a:srgbClr val="FF0000"/>
                </a:solidFill>
              </a:rPr>
              <a:t>scope/screen</a:t>
            </a:r>
            <a:r>
              <a:rPr lang="en-US" sz="3000" dirty="0"/>
              <a:t>, to display the information received by the antenna.</a:t>
            </a:r>
          </a:p>
          <a:p>
            <a:r>
              <a:rPr lang="en-US" sz="3000" dirty="0"/>
              <a:t>The use of radar in ATC greatly increases the utilization of the airspace and permits expansion of flight information services such as traffic and weather information and navigational assistance.</a:t>
            </a:r>
            <a:endParaRPr lang="en-CA" sz="3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1C98A-CE8A-F920-EB1C-8D132F4190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DA30D-0A7B-B3BA-4B06-FE407C24DF15}"/>
              </a:ext>
            </a:extLst>
          </p:cNvPr>
          <p:cNvSpPr txBox="1"/>
          <p:nvPr/>
        </p:nvSpPr>
        <p:spPr>
          <a:xfrm>
            <a:off x="3499106" y="4782483"/>
            <a:ext cx="76580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000" dirty="0"/>
              <a:t>ATC</a:t>
            </a:r>
          </a:p>
          <a:p>
            <a:r>
              <a:rPr lang="en-CA" sz="3000" dirty="0"/>
              <a:t>Fixing positions of airplanes in flight</a:t>
            </a:r>
          </a:p>
          <a:p>
            <a:r>
              <a:rPr lang="en-CA" sz="3000" dirty="0"/>
              <a:t>Detecting thunderstorm activity</a:t>
            </a:r>
          </a:p>
          <a:p>
            <a:r>
              <a:rPr lang="en-CA" sz="3000" dirty="0"/>
              <a:t>Approaching and landing guidance to airplanes.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33162-F55E-1294-05B5-4A3AB87796C6}"/>
              </a:ext>
            </a:extLst>
          </p:cNvPr>
          <p:cNvSpPr txBox="1"/>
          <p:nvPr/>
        </p:nvSpPr>
        <p:spPr>
          <a:xfrm>
            <a:off x="1716246" y="5398036"/>
            <a:ext cx="17828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>
                <a:solidFill>
                  <a:srgbClr val="FF0000"/>
                </a:solidFill>
              </a:rPr>
              <a:t>Used in:</a:t>
            </a:r>
          </a:p>
        </p:txBody>
      </p:sp>
    </p:spTree>
    <p:extLst>
      <p:ext uri="{BB962C8B-B14F-4D97-AF65-F5344CB8AC3E}">
        <p14:creationId xmlns:p14="http://schemas.microsoft.com/office/powerpoint/2010/main" val="1162813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B45A-6DA6-A3AF-15DE-8016CCAC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TP3 Explain NORDO (Without Radio) Procedures at a Controlled Airport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F2EA-C314-6309-B296-DF403A73A2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551813"/>
            <a:ext cx="10515600" cy="5010912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NORDO</a:t>
            </a:r>
          </a:p>
          <a:p>
            <a:r>
              <a:rPr lang="en-US" sz="3000" dirty="0"/>
              <a:t>Aircraft with </a:t>
            </a:r>
            <a:r>
              <a:rPr lang="en-US" sz="3000" dirty="0">
                <a:solidFill>
                  <a:srgbClr val="FF0000"/>
                </a:solidFill>
              </a:rPr>
              <a:t>no radio</a:t>
            </a:r>
            <a:r>
              <a:rPr lang="en-US" sz="3000" dirty="0"/>
              <a:t> (NORDO) are </a:t>
            </a:r>
            <a:r>
              <a:rPr lang="en-US" sz="3000" dirty="0">
                <a:solidFill>
                  <a:srgbClr val="FF0000"/>
                </a:solidFill>
              </a:rPr>
              <a:t>not permitted to operate </a:t>
            </a:r>
            <a:r>
              <a:rPr lang="en-US" sz="3000" dirty="0"/>
              <a:t>at most large controlled airports served by the scheduled air carriers. </a:t>
            </a:r>
          </a:p>
          <a:p>
            <a:r>
              <a:rPr lang="en-US" sz="3000" dirty="0"/>
              <a:t>Where they are permitted to operate (less busy controlled airports), they are </a:t>
            </a:r>
            <a:r>
              <a:rPr lang="en-US" sz="3000" dirty="0">
                <a:solidFill>
                  <a:srgbClr val="FF0000"/>
                </a:solidFill>
              </a:rPr>
              <a:t>directed by visual signals</a:t>
            </a:r>
            <a:r>
              <a:rPr lang="en-US" sz="3000" dirty="0"/>
              <a:t>. A pilot must be alert to the light </a:t>
            </a:r>
            <a:r>
              <a:rPr lang="en-US" sz="3000" dirty="0">
                <a:solidFill>
                  <a:srgbClr val="FF0000"/>
                </a:solidFill>
              </a:rPr>
              <a:t>signals from the tower letting you know what to do</a:t>
            </a:r>
            <a:r>
              <a:rPr lang="en-US" sz="3000" dirty="0"/>
              <a:t>.</a:t>
            </a:r>
          </a:p>
          <a:p>
            <a:r>
              <a:rPr lang="en-US" sz="3000" dirty="0"/>
              <a:t>Prior to initiating a NORDO flight, the pilot should contact the control tower to inform the controllers of their intentions and to secure a clearance for operation within the airspace. The tower will then be expecting the pilot and will be prepared to give the pilot light signals.</a:t>
            </a:r>
            <a:endParaRPr lang="en-CA" sz="3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B5DDE-B285-8569-67E8-AC3C0919B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863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482D-D474-735C-BF89-54044A45B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66342-55C3-7B2B-3692-E5A0A7639D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26" name="Picture 2" descr="Aviation Light Gun Signals - Aviation Light Signals - ATC - Pilot">
            <a:extLst>
              <a:ext uri="{FF2B5EF4-FFF2-40B4-BE49-F238E27FC236}">
                <a16:creationId xmlns:a16="http://schemas.microsoft.com/office/drawing/2014/main" id="{8E8EE05E-98A0-B51D-093B-3DB0D0CAA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085594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1AA6FB-9527-87E0-892F-2F3D4329F9D5}"/>
              </a:ext>
            </a:extLst>
          </p:cNvPr>
          <p:cNvSpPr txBox="1"/>
          <p:nvPr/>
        </p:nvSpPr>
        <p:spPr>
          <a:xfrm>
            <a:off x="1190625" y="2333625"/>
            <a:ext cx="3362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/>
              <a:t>Departing Aircraft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B9F5D-14C7-0D95-73EF-7B8AAE1AD6ED}"/>
              </a:ext>
            </a:extLst>
          </p:cNvPr>
          <p:cNvSpPr txBox="1"/>
          <p:nvPr/>
        </p:nvSpPr>
        <p:spPr>
          <a:xfrm>
            <a:off x="8191500" y="2333625"/>
            <a:ext cx="2962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/>
              <a:t>Arriving Aircraft</a:t>
            </a:r>
          </a:p>
        </p:txBody>
      </p:sp>
      <p:pic>
        <p:nvPicPr>
          <p:cNvPr id="1028" name="Picture 4" descr="Mastering ATC Light Gun Signals: A Guide for Pilots | Aviatek Flight  Simulators">
            <a:extLst>
              <a:ext uri="{FF2B5EF4-FFF2-40B4-BE49-F238E27FC236}">
                <a16:creationId xmlns:a16="http://schemas.microsoft.com/office/drawing/2014/main" id="{641E5598-697A-C359-0458-D011A9EAD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4752975"/>
            <a:ext cx="3214435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Quiz: Do You Know These 6 Light Gun Signals? | Boldmethod">
            <a:extLst>
              <a:ext uri="{FF2B5EF4-FFF2-40B4-BE49-F238E27FC236}">
                <a16:creationId xmlns:a16="http://schemas.microsoft.com/office/drawing/2014/main" id="{5FCC8EC3-2B3E-8099-66C0-2D7A28681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464" y="4542064"/>
            <a:ext cx="3907536" cy="220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75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{FE4D5821-0926-4276-AE99-EBDB17F42C1C}tf56410444_win32</Template>
  <TotalTime>24</TotalTime>
  <Words>460</Words>
  <Application>Microsoft Office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Baskerville Old Face</vt:lpstr>
      <vt:lpstr>Calibri</vt:lpstr>
      <vt:lpstr>Gill Sans Nova Light</vt:lpstr>
      <vt:lpstr>Custom</vt:lpstr>
      <vt:lpstr>EO M260.01 – EXPLAIN ASPECTS OF AIR TRAFFIC CONTROL (ATC)</vt:lpstr>
      <vt:lpstr>Teaching Points</vt:lpstr>
      <vt:lpstr>The power  of communication</vt:lpstr>
      <vt:lpstr>TP1 Explain the Role of an Air Traffic Controller at an Aerodrome </vt:lpstr>
      <vt:lpstr>PowerPoint Presentation</vt:lpstr>
      <vt:lpstr>TP2 Provide a Basic Overview of Radar Technology Used in ATC </vt:lpstr>
      <vt:lpstr>TP3 Explain NORDO (Without Radio) Procedures at a Controlled Airport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Zhu, Kevin cdt</dc:creator>
  <cp:lastModifiedBy>Kevin Zhu</cp:lastModifiedBy>
  <cp:revision>4</cp:revision>
  <dcterms:created xsi:type="dcterms:W3CDTF">2025-03-04T20:22:37Z</dcterms:created>
  <dcterms:modified xsi:type="dcterms:W3CDTF">2025-05-27T04:38:22Z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