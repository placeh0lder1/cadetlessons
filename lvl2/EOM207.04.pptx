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embeddedFontLst>
    <p:embeddedFont>
      <p:font typeface="Lato" panose="020F0502020204030203" pitchFamily="34" charset="0"/>
      <p:regular r:id="rId25"/>
      <p:bold r:id="rId26"/>
      <p:italic r:id="rId27"/>
      <p:boldItalic r:id="rId28"/>
    </p:embeddedFont>
    <p:embeddedFont>
      <p:font typeface="Raleway" pitchFamily="2" charset="0"/>
      <p:regular r:id="rId29"/>
      <p:bold r:id="rId30"/>
      <p:italic r:id="rId31"/>
      <p:boldItalic r:id="rId3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2bacf3b66f6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2bacf3b66f6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2bacf3b66f6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2bacf3b66f6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bacf3b66f6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bacf3b66f6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2bacf3b66f6_0_1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2bacf3b66f6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2bacf3b66f6_0_1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2bacf3b66f6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2bacf3b66f6_0_1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2bacf3b66f6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bacf3b66f6_0_1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bacf3b66f6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2bacf3b66f6_0_1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2bacf3b66f6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bacf3b66f6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bacf3b66f6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bacf3b66f6_0_1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bacf3b66f6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2bacf3b66f6_0_1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2bacf3b66f6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bacf3b66f6_0_1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bacf3b66f6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bacf3b66f6_0_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bacf3b66f6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2bacf3b66f6_0_14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2bacf3b66f6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2bacf3b66f6_0_1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2bacf3b66f6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2bacf3b66f6_0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2bacf3b66f6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acf3b66f6_0_2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2bacf3b66f6_0_2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2bacf3b66f6_0_1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2bacf3b66f6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2bacf3b66f6_0_1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7" name="Google Shape;207;g2bacf3b66f6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2bacf3b66f6_0_1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2bacf3b66f6_0_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2bacf3b66f6_0_20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2bacf3b66f6_0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EOM207.04 Identify Year 2 CSTC Training Opportunities</a:t>
            </a:r>
            <a:endParaRPr/>
          </a:p>
        </p:txBody>
      </p:sp>
      <p:sp>
        <p:nvSpPr>
          <p:cNvPr id="87" name="Google Shape;87;p13"/>
          <p:cNvSpPr txBox="1"/>
          <p:nvPr/>
        </p:nvSpPr>
        <p:spPr>
          <a:xfrm>
            <a:off x="941775" y="3173025"/>
            <a:ext cx="8229600" cy="677078"/>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CA" sz="1600" dirty="0">
                <a:solidFill>
                  <a:schemeClr val="accent1"/>
                </a:solidFill>
                <a:latin typeface="Lato"/>
                <a:ea typeface="Lato"/>
                <a:cs typeface="Lato"/>
                <a:sym typeface="Lato"/>
              </a:rPr>
              <a:t>By: </a:t>
            </a:r>
            <a:endParaRPr sz="1600" dirty="0">
              <a:solidFill>
                <a:schemeClr val="accent1"/>
              </a:solidFill>
              <a:latin typeface="Lato"/>
              <a:ea typeface="Lato"/>
              <a:cs typeface="Lato"/>
              <a:sym typeface="Lato"/>
            </a:endParaRPr>
          </a:p>
          <a:p>
            <a:pPr marL="0" lvl="0" indent="0" algn="l" rtl="0">
              <a:spcBef>
                <a:spcPts val="0"/>
              </a:spcBef>
              <a:spcAft>
                <a:spcPts val="0"/>
              </a:spcAft>
              <a:buNone/>
            </a:pPr>
            <a:r>
              <a:rPr lang="en" sz="1600" dirty="0">
                <a:solidFill>
                  <a:schemeClr val="accent1"/>
                </a:solidFill>
                <a:latin typeface="Lato"/>
                <a:ea typeface="Lato"/>
                <a:cs typeface="Lato"/>
                <a:sym typeface="Lato"/>
              </a:rPr>
              <a:t>30 min lesson</a:t>
            </a:r>
            <a:endParaRPr sz="1600" dirty="0">
              <a:solidFill>
                <a:schemeClr val="accent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2640"/>
              <a:t>Purpose</a:t>
            </a:r>
            <a:endParaRPr sz="2640"/>
          </a:p>
        </p:txBody>
      </p:sp>
      <p:sp>
        <p:nvSpPr>
          <p:cNvPr id="93" name="Google Shape;93;p1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68300" algn="l" rtl="0">
              <a:spcBef>
                <a:spcPts val="0"/>
              </a:spcBef>
              <a:spcAft>
                <a:spcPts val="0"/>
              </a:spcAft>
              <a:buSzPts val="2200"/>
              <a:buChar char="●"/>
            </a:pPr>
            <a:r>
              <a:rPr lang="en" sz="2200"/>
              <a:t>Get to know summer training opportunities for level 2</a:t>
            </a:r>
            <a:endParaRPr sz="2200"/>
          </a:p>
          <a:p>
            <a:pPr marL="457200" lvl="0" indent="-368300" algn="l" rtl="0">
              <a:spcBef>
                <a:spcPts val="0"/>
              </a:spcBef>
              <a:spcAft>
                <a:spcPts val="0"/>
              </a:spcAft>
              <a:buSzPts val="2200"/>
              <a:buChar char="●"/>
            </a:pPr>
            <a:r>
              <a:rPr lang="en" sz="2200"/>
              <a:t>Preview on summer courses for you to decide early</a:t>
            </a:r>
            <a:endParaRPr sz="2200"/>
          </a:p>
          <a:p>
            <a:pPr marL="457200" lvl="0" indent="-368300" algn="l" rtl="0">
              <a:spcBef>
                <a:spcPts val="0"/>
              </a:spcBef>
              <a:spcAft>
                <a:spcPts val="0"/>
              </a:spcAft>
              <a:buSzPts val="2200"/>
              <a:buChar char="●"/>
            </a:pPr>
            <a:r>
              <a:rPr lang="en" sz="2200"/>
              <a:t>Summer courses can open up many opportunities in air cadets in the future!</a:t>
            </a:r>
            <a:endParaRPr sz="2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Teaching Points</a:t>
            </a:r>
            <a:endParaRPr/>
          </a:p>
        </p:txBody>
      </p:sp>
      <p:sp>
        <p:nvSpPr>
          <p:cNvPr id="99" name="Google Shape;99;p15"/>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a:t>TP1: Discuss the Speciality Areas for Year Two CSTC Training</a:t>
            </a:r>
            <a:endParaRPr sz="2200"/>
          </a:p>
          <a:p>
            <a:pPr marL="0" lvl="0" indent="0" algn="l" rtl="0">
              <a:spcBef>
                <a:spcPts val="0"/>
              </a:spcBef>
              <a:spcAft>
                <a:spcPts val="0"/>
              </a:spcAft>
              <a:buNone/>
            </a:pPr>
            <a:endParaRPr sz="2200"/>
          </a:p>
          <a:p>
            <a:pPr marL="0" lvl="0" indent="0" algn="l" rtl="0">
              <a:spcBef>
                <a:spcPts val="0"/>
              </a:spcBef>
              <a:spcAft>
                <a:spcPts val="0"/>
              </a:spcAft>
              <a:buNone/>
            </a:pPr>
            <a:r>
              <a:rPr lang="en" sz="2200"/>
              <a:t>TP2: Describe Year Two CSTC Courses</a:t>
            </a:r>
            <a:endParaRPr sz="2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First Teaching Point: </a:t>
            </a:r>
            <a:r>
              <a:rPr lang="en" u="sng"/>
              <a:t>Discuss the Speciality Areas for Year Two CSTC Training</a:t>
            </a:r>
            <a:endParaRPr u="sng"/>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105" name="Google Shape;105;p16"/>
          <p:cNvPicPr preferRelativeResize="0"/>
          <p:nvPr/>
        </p:nvPicPr>
        <p:blipFill>
          <a:blip r:embed="rId3">
            <a:alphaModFix/>
          </a:blip>
          <a:stretch>
            <a:fillRect/>
          </a:stretch>
        </p:blipFill>
        <p:spPr>
          <a:xfrm>
            <a:off x="3586225" y="1853850"/>
            <a:ext cx="3979800" cy="29848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FITNESS AND SPORTS</a:t>
            </a:r>
            <a:endParaRPr/>
          </a:p>
        </p:txBody>
      </p:sp>
      <p:sp>
        <p:nvSpPr>
          <p:cNvPr id="111" name="Google Shape;111;p17"/>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200"/>
              <a:t>Cadets will improve individual fitness and sport knowledge and skills. Activities include:</a:t>
            </a:r>
            <a:endParaRPr sz="2200"/>
          </a:p>
          <a:p>
            <a:pPr marL="0" lvl="0" indent="0" algn="l" rtl="0">
              <a:spcBef>
                <a:spcPts val="1200"/>
              </a:spcBef>
              <a:spcAft>
                <a:spcPts val="0"/>
              </a:spcAft>
              <a:buNone/>
            </a:pPr>
            <a:r>
              <a:rPr lang="en" sz="2200"/>
              <a:t>• rules and regulations of sports</a:t>
            </a:r>
            <a:endParaRPr sz="2200"/>
          </a:p>
          <a:p>
            <a:pPr marL="0" lvl="0" indent="0" algn="l" rtl="0">
              <a:spcBef>
                <a:spcPts val="1200"/>
              </a:spcBef>
              <a:spcAft>
                <a:spcPts val="0"/>
              </a:spcAft>
              <a:buNone/>
            </a:pPr>
            <a:r>
              <a:rPr lang="en" sz="2200"/>
              <a:t>• personal fitness.</a:t>
            </a:r>
            <a:endParaRPr sz="2200"/>
          </a:p>
          <a:p>
            <a:pPr marL="0" lvl="0" indent="0" algn="l" rtl="0">
              <a:spcBef>
                <a:spcPts val="1200"/>
              </a:spcBef>
              <a:spcAft>
                <a:spcPts val="1200"/>
              </a:spcAft>
              <a:buNone/>
            </a:pPr>
            <a:endParaRPr sz="2200"/>
          </a:p>
        </p:txBody>
      </p:sp>
      <p:pic>
        <p:nvPicPr>
          <p:cNvPr id="112" name="Google Shape;112;p17"/>
          <p:cNvPicPr preferRelativeResize="0"/>
          <p:nvPr/>
        </p:nvPicPr>
        <p:blipFill>
          <a:blip r:embed="rId3">
            <a:alphaModFix/>
          </a:blip>
          <a:stretch>
            <a:fillRect/>
          </a:stretch>
        </p:blipFill>
        <p:spPr>
          <a:xfrm>
            <a:off x="5056600" y="2571750"/>
            <a:ext cx="2930974" cy="24570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8"/>
          <p:cNvSpPr txBox="1"/>
          <p:nvPr/>
        </p:nvSpPr>
        <p:spPr>
          <a:xfrm>
            <a:off x="811375" y="1466575"/>
            <a:ext cx="8345400" cy="172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accent1"/>
                </a:solidFill>
                <a:latin typeface="Lato"/>
                <a:ea typeface="Lato"/>
                <a:cs typeface="Lato"/>
                <a:sym typeface="Lato"/>
              </a:rPr>
              <a:t>Cadets will develop music knowledge and skills. Activities include:</a:t>
            </a:r>
            <a:endParaRPr sz="2000">
              <a:solidFill>
                <a:schemeClr val="accent1"/>
              </a:solidFill>
              <a:latin typeface="Lato"/>
              <a:ea typeface="Lato"/>
              <a:cs typeface="Lato"/>
              <a:sym typeface="Lato"/>
            </a:endParaRPr>
          </a:p>
          <a:p>
            <a:pPr marL="0" lvl="0" indent="0" algn="l" rtl="0">
              <a:spcBef>
                <a:spcPts val="0"/>
              </a:spcBef>
              <a:spcAft>
                <a:spcPts val="0"/>
              </a:spcAft>
              <a:buNone/>
            </a:pPr>
            <a:r>
              <a:rPr lang="en" sz="2000">
                <a:solidFill>
                  <a:schemeClr val="accent1"/>
                </a:solidFill>
                <a:latin typeface="Lato"/>
                <a:ea typeface="Lato"/>
                <a:cs typeface="Lato"/>
                <a:sym typeface="Lato"/>
              </a:rPr>
              <a:t>• music theory</a:t>
            </a:r>
            <a:endParaRPr sz="2000">
              <a:solidFill>
                <a:schemeClr val="accent1"/>
              </a:solidFill>
              <a:latin typeface="Lato"/>
              <a:ea typeface="Lato"/>
              <a:cs typeface="Lato"/>
              <a:sym typeface="Lato"/>
            </a:endParaRPr>
          </a:p>
          <a:p>
            <a:pPr marL="0" lvl="0" indent="0" algn="l" rtl="0">
              <a:spcBef>
                <a:spcPts val="0"/>
              </a:spcBef>
              <a:spcAft>
                <a:spcPts val="0"/>
              </a:spcAft>
              <a:buNone/>
            </a:pPr>
            <a:r>
              <a:rPr lang="en" sz="2000">
                <a:solidFill>
                  <a:schemeClr val="accent1"/>
                </a:solidFill>
                <a:latin typeface="Lato"/>
                <a:ea typeface="Lato"/>
                <a:cs typeface="Lato"/>
                <a:sym typeface="Lato"/>
              </a:rPr>
              <a:t>• playing an instrument as part of an ensemble</a:t>
            </a:r>
            <a:endParaRPr sz="2000">
              <a:solidFill>
                <a:schemeClr val="accent1"/>
              </a:solidFill>
              <a:latin typeface="Lato"/>
              <a:ea typeface="Lato"/>
              <a:cs typeface="Lato"/>
              <a:sym typeface="Lato"/>
            </a:endParaRPr>
          </a:p>
          <a:p>
            <a:pPr marL="0" lvl="0" indent="0" algn="l" rtl="0">
              <a:spcBef>
                <a:spcPts val="0"/>
              </a:spcBef>
              <a:spcAft>
                <a:spcPts val="0"/>
              </a:spcAft>
              <a:buNone/>
            </a:pPr>
            <a:r>
              <a:rPr lang="en" sz="2000">
                <a:solidFill>
                  <a:schemeClr val="accent1"/>
                </a:solidFill>
                <a:latin typeface="Lato"/>
                <a:ea typeface="Lato"/>
                <a:cs typeface="Lato"/>
                <a:sym typeface="Lato"/>
              </a:rPr>
              <a:t>• playing an instrument as part of a military band / pipe and drum band</a:t>
            </a:r>
            <a:endParaRPr sz="2000">
              <a:solidFill>
                <a:schemeClr val="accent1"/>
              </a:solidFill>
              <a:latin typeface="Lato"/>
              <a:ea typeface="Lato"/>
              <a:cs typeface="Lato"/>
              <a:sym typeface="Lato"/>
            </a:endParaRPr>
          </a:p>
          <a:p>
            <a:pPr marL="0" lvl="0" indent="0" algn="l" rtl="0">
              <a:spcBef>
                <a:spcPts val="0"/>
              </a:spcBef>
              <a:spcAft>
                <a:spcPts val="0"/>
              </a:spcAft>
              <a:buNone/>
            </a:pPr>
            <a:r>
              <a:rPr lang="en" sz="2000">
                <a:solidFill>
                  <a:schemeClr val="accent1"/>
                </a:solidFill>
                <a:latin typeface="Lato"/>
                <a:ea typeface="Lato"/>
                <a:cs typeface="Lato"/>
                <a:sym typeface="Lato"/>
              </a:rPr>
              <a:t>• developing individual music skills</a:t>
            </a:r>
            <a:endParaRPr sz="2000">
              <a:solidFill>
                <a:schemeClr val="accent1"/>
              </a:solidFill>
              <a:latin typeface="Lato"/>
              <a:ea typeface="Lato"/>
              <a:cs typeface="Lato"/>
              <a:sym typeface="Lato"/>
            </a:endParaRPr>
          </a:p>
        </p:txBody>
      </p:sp>
      <p:sp>
        <p:nvSpPr>
          <p:cNvPr id="118" name="Google Shape;118;p18"/>
          <p:cNvSpPr txBox="1"/>
          <p:nvPr/>
        </p:nvSpPr>
        <p:spPr>
          <a:xfrm>
            <a:off x="825850" y="648225"/>
            <a:ext cx="83454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latin typeface="Raleway"/>
                <a:ea typeface="Raleway"/>
                <a:cs typeface="Raleway"/>
                <a:sym typeface="Raleway"/>
              </a:rPr>
              <a:t>MUSIC: MIlitary Musician / Pipe &amp; Drum Musician</a:t>
            </a:r>
            <a:endParaRPr sz="2000" b="1">
              <a:latin typeface="Raleway"/>
              <a:ea typeface="Raleway"/>
              <a:cs typeface="Raleway"/>
              <a:sym typeface="Raleway"/>
            </a:endParaRPr>
          </a:p>
        </p:txBody>
      </p:sp>
      <p:pic>
        <p:nvPicPr>
          <p:cNvPr id="119" name="Google Shape;119;p18"/>
          <p:cNvPicPr preferRelativeResize="0"/>
          <p:nvPr/>
        </p:nvPicPr>
        <p:blipFill>
          <a:blip r:embed="rId3">
            <a:alphaModFix/>
          </a:blip>
          <a:stretch>
            <a:fillRect/>
          </a:stretch>
        </p:blipFill>
        <p:spPr>
          <a:xfrm>
            <a:off x="5339375" y="3190375"/>
            <a:ext cx="2473093" cy="1648326"/>
          </a:xfrm>
          <a:prstGeom prst="rect">
            <a:avLst/>
          </a:prstGeom>
          <a:noFill/>
          <a:ln>
            <a:noFill/>
          </a:ln>
        </p:spPr>
      </p:pic>
      <p:pic>
        <p:nvPicPr>
          <p:cNvPr id="120" name="Google Shape;120;p18"/>
          <p:cNvPicPr preferRelativeResize="0"/>
          <p:nvPr/>
        </p:nvPicPr>
        <p:blipFill>
          <a:blip r:embed="rId4">
            <a:alphaModFix/>
          </a:blip>
          <a:stretch>
            <a:fillRect/>
          </a:stretch>
        </p:blipFill>
        <p:spPr>
          <a:xfrm>
            <a:off x="1847600" y="3190375"/>
            <a:ext cx="1966276" cy="16483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9"/>
          <p:cNvSpPr txBox="1">
            <a:spLocks noGrp="1"/>
          </p:cNvSpPr>
          <p:nvPr>
            <p:ph type="title"/>
          </p:nvPr>
        </p:nvSpPr>
        <p:spPr>
          <a:xfrm>
            <a:off x="727650" y="5362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MARKSMANSHIP</a:t>
            </a:r>
            <a:endParaRPr/>
          </a:p>
        </p:txBody>
      </p:sp>
      <p:sp>
        <p:nvSpPr>
          <p:cNvPr id="126" name="Google Shape;126;p19"/>
          <p:cNvSpPr txBox="1">
            <a:spLocks noGrp="1"/>
          </p:cNvSpPr>
          <p:nvPr>
            <p:ph type="body" idx="1"/>
          </p:nvPr>
        </p:nvSpPr>
        <p:spPr>
          <a:xfrm>
            <a:off x="727650" y="136892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100"/>
              <a:t>Cadets will develop the knowledge and skills required to improve marksmanship and coaching abilities.</a:t>
            </a:r>
            <a:endParaRPr sz="2100"/>
          </a:p>
          <a:p>
            <a:pPr marL="0" lvl="0" indent="0" algn="l" rtl="0">
              <a:spcBef>
                <a:spcPts val="1200"/>
              </a:spcBef>
              <a:spcAft>
                <a:spcPts val="0"/>
              </a:spcAft>
              <a:buNone/>
            </a:pPr>
            <a:r>
              <a:rPr lang="en" sz="2100"/>
              <a:t>Activities include:</a:t>
            </a:r>
            <a:endParaRPr sz="2100"/>
          </a:p>
          <a:p>
            <a:pPr marL="0" lvl="0" indent="0" algn="l" rtl="0">
              <a:spcBef>
                <a:spcPts val="1200"/>
              </a:spcBef>
              <a:spcAft>
                <a:spcPts val="0"/>
              </a:spcAft>
              <a:buNone/>
            </a:pPr>
            <a:r>
              <a:rPr lang="en" sz="2100"/>
              <a:t>• acting as a range assistant</a:t>
            </a:r>
            <a:endParaRPr sz="2100"/>
          </a:p>
          <a:p>
            <a:pPr marL="0" lvl="0" indent="0" algn="l" rtl="0">
              <a:spcBef>
                <a:spcPts val="1200"/>
              </a:spcBef>
              <a:spcAft>
                <a:spcPts val="0"/>
              </a:spcAft>
              <a:buNone/>
            </a:pPr>
            <a:r>
              <a:rPr lang="en" sz="2100"/>
              <a:t>• carrying our basic </a:t>
            </a:r>
            <a:endParaRPr sz="2100"/>
          </a:p>
          <a:p>
            <a:pPr marL="0" lvl="0" indent="0" algn="l" rtl="0">
              <a:spcBef>
                <a:spcPts val="0"/>
              </a:spcBef>
              <a:spcAft>
                <a:spcPts val="0"/>
              </a:spcAft>
              <a:buNone/>
            </a:pPr>
            <a:r>
              <a:rPr lang="en" sz="2100"/>
              <a:t>marksmanship coaching duties</a:t>
            </a:r>
            <a:endParaRPr sz="2100"/>
          </a:p>
        </p:txBody>
      </p:sp>
      <p:pic>
        <p:nvPicPr>
          <p:cNvPr id="127" name="Google Shape;127;p19"/>
          <p:cNvPicPr preferRelativeResize="0"/>
          <p:nvPr/>
        </p:nvPicPr>
        <p:blipFill>
          <a:blip r:embed="rId3">
            <a:alphaModFix/>
          </a:blip>
          <a:stretch>
            <a:fillRect/>
          </a:stretch>
        </p:blipFill>
        <p:spPr>
          <a:xfrm>
            <a:off x="5129000" y="2115352"/>
            <a:ext cx="3735575" cy="24879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0"/>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LEADERSHIP</a:t>
            </a:r>
            <a:endParaRPr/>
          </a:p>
        </p:txBody>
      </p:sp>
      <p:sp>
        <p:nvSpPr>
          <p:cNvPr id="133" name="Google Shape;133;p20"/>
          <p:cNvSpPr txBox="1"/>
          <p:nvPr/>
        </p:nvSpPr>
        <p:spPr>
          <a:xfrm>
            <a:off x="579550" y="1970475"/>
            <a:ext cx="8316600" cy="2524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a:solidFill>
                  <a:schemeClr val="accent1"/>
                </a:solidFill>
                <a:latin typeface="Lato"/>
                <a:ea typeface="Lato"/>
                <a:cs typeface="Lato"/>
                <a:sym typeface="Lato"/>
              </a:rPr>
              <a:t>Cadets will develop the knowledge and skills required to improve leadership abilities in a peer and small group setting. Activities include:</a:t>
            </a:r>
            <a:endParaRPr sz="1900">
              <a:solidFill>
                <a:schemeClr val="accent1"/>
              </a:solidFill>
              <a:latin typeface="Lato"/>
              <a:ea typeface="Lato"/>
              <a:cs typeface="Lato"/>
              <a:sym typeface="Lato"/>
            </a:endParaRPr>
          </a:p>
          <a:p>
            <a:pPr marL="0" lvl="0" indent="0" algn="l" rtl="0">
              <a:spcBef>
                <a:spcPts val="0"/>
              </a:spcBef>
              <a:spcAft>
                <a:spcPts val="0"/>
              </a:spcAft>
              <a:buNone/>
            </a:pPr>
            <a:endParaRPr sz="1900">
              <a:solidFill>
                <a:schemeClr val="accent1"/>
              </a:solidFill>
              <a:latin typeface="Lato"/>
              <a:ea typeface="Lato"/>
              <a:cs typeface="Lato"/>
              <a:sym typeface="Lato"/>
            </a:endParaRPr>
          </a:p>
          <a:p>
            <a:pPr marL="0" lvl="0" indent="0" algn="l" rtl="0">
              <a:spcBef>
                <a:spcPts val="0"/>
              </a:spcBef>
              <a:spcAft>
                <a:spcPts val="0"/>
              </a:spcAft>
              <a:buNone/>
            </a:pPr>
            <a:r>
              <a:rPr lang="en" sz="1900">
                <a:solidFill>
                  <a:schemeClr val="accent1"/>
                </a:solidFill>
                <a:latin typeface="Lato"/>
                <a:ea typeface="Lato"/>
                <a:cs typeface="Lato"/>
                <a:sym typeface="Lato"/>
              </a:rPr>
              <a:t>• leadership</a:t>
            </a:r>
            <a:endParaRPr sz="1900">
              <a:solidFill>
                <a:schemeClr val="accent1"/>
              </a:solidFill>
              <a:latin typeface="Lato"/>
              <a:ea typeface="Lato"/>
              <a:cs typeface="Lato"/>
              <a:sym typeface="Lato"/>
            </a:endParaRPr>
          </a:p>
          <a:p>
            <a:pPr marL="0" lvl="0" indent="0" algn="l" rtl="0">
              <a:spcBef>
                <a:spcPts val="0"/>
              </a:spcBef>
              <a:spcAft>
                <a:spcPts val="0"/>
              </a:spcAft>
              <a:buNone/>
            </a:pPr>
            <a:r>
              <a:rPr lang="en" sz="1900">
                <a:solidFill>
                  <a:schemeClr val="accent1"/>
                </a:solidFill>
                <a:latin typeface="Lato"/>
                <a:ea typeface="Lato"/>
                <a:cs typeface="Lato"/>
                <a:sym typeface="Lato"/>
              </a:rPr>
              <a:t>• public speaking</a:t>
            </a:r>
            <a:endParaRPr sz="1900">
              <a:solidFill>
                <a:schemeClr val="accent1"/>
              </a:solidFill>
              <a:latin typeface="Lato"/>
              <a:ea typeface="Lato"/>
              <a:cs typeface="Lato"/>
              <a:sym typeface="Lato"/>
            </a:endParaRPr>
          </a:p>
          <a:p>
            <a:pPr marL="0" lvl="0" indent="0" algn="l" rtl="0">
              <a:spcBef>
                <a:spcPts val="0"/>
              </a:spcBef>
              <a:spcAft>
                <a:spcPts val="0"/>
              </a:spcAft>
              <a:buNone/>
            </a:pPr>
            <a:r>
              <a:rPr lang="en" sz="1900">
                <a:solidFill>
                  <a:schemeClr val="accent1"/>
                </a:solidFill>
                <a:latin typeface="Lato"/>
                <a:ea typeface="Lato"/>
                <a:cs typeface="Lato"/>
                <a:sym typeface="Lato"/>
              </a:rPr>
              <a:t>• problem solving</a:t>
            </a:r>
            <a:endParaRPr sz="1900">
              <a:solidFill>
                <a:schemeClr val="accent1"/>
              </a:solidFill>
              <a:latin typeface="Lato"/>
              <a:ea typeface="Lato"/>
              <a:cs typeface="Lato"/>
              <a:sym typeface="Lato"/>
            </a:endParaRPr>
          </a:p>
          <a:p>
            <a:pPr marL="0" lvl="0" indent="0" algn="l" rtl="0">
              <a:spcBef>
                <a:spcPts val="0"/>
              </a:spcBef>
              <a:spcAft>
                <a:spcPts val="0"/>
              </a:spcAft>
              <a:buNone/>
            </a:pPr>
            <a:r>
              <a:rPr lang="en" sz="1900">
                <a:solidFill>
                  <a:schemeClr val="accent1"/>
                </a:solidFill>
                <a:latin typeface="Lato"/>
                <a:ea typeface="Lato"/>
                <a:cs typeface="Lato"/>
                <a:sym typeface="Lato"/>
              </a:rPr>
              <a:t>• ceremonial drill</a:t>
            </a:r>
            <a:endParaRPr sz="1900">
              <a:solidFill>
                <a:schemeClr val="accent1"/>
              </a:solidFill>
              <a:latin typeface="Lato"/>
              <a:ea typeface="Lato"/>
              <a:cs typeface="Lato"/>
              <a:sym typeface="Lato"/>
            </a:endParaRPr>
          </a:p>
          <a:p>
            <a:pPr marL="0" lvl="0" indent="0" algn="l" rtl="0">
              <a:spcBef>
                <a:spcPts val="0"/>
              </a:spcBef>
              <a:spcAft>
                <a:spcPts val="0"/>
              </a:spcAft>
              <a:buNone/>
            </a:pPr>
            <a:endParaRPr sz="1900">
              <a:solidFill>
                <a:schemeClr val="accent1"/>
              </a:solidFill>
              <a:latin typeface="Lato"/>
              <a:ea typeface="Lato"/>
              <a:cs typeface="Lato"/>
              <a:sym typeface="Lato"/>
            </a:endParaRPr>
          </a:p>
        </p:txBody>
      </p:sp>
      <p:pic>
        <p:nvPicPr>
          <p:cNvPr id="134" name="Google Shape;134;p20"/>
          <p:cNvPicPr preferRelativeResize="0"/>
          <p:nvPr/>
        </p:nvPicPr>
        <p:blipFill>
          <a:blip r:embed="rId3">
            <a:alphaModFix/>
          </a:blip>
          <a:stretch>
            <a:fillRect/>
          </a:stretch>
        </p:blipFill>
        <p:spPr>
          <a:xfrm>
            <a:off x="4572000" y="2908500"/>
            <a:ext cx="3054300" cy="2036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1"/>
          <p:cNvSpPr txBox="1">
            <a:spLocks noGrp="1"/>
          </p:cNvSpPr>
          <p:nvPr>
            <p:ph type="title"/>
          </p:nvPr>
        </p:nvSpPr>
        <p:spPr>
          <a:xfrm>
            <a:off x="727650" y="5507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AVIATION</a:t>
            </a:r>
            <a:endParaRPr/>
          </a:p>
        </p:txBody>
      </p:sp>
      <p:sp>
        <p:nvSpPr>
          <p:cNvPr id="140" name="Google Shape;140;p21"/>
          <p:cNvSpPr txBox="1"/>
          <p:nvPr/>
        </p:nvSpPr>
        <p:spPr>
          <a:xfrm>
            <a:off x="522325" y="1666225"/>
            <a:ext cx="8302200" cy="2524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900">
                <a:solidFill>
                  <a:schemeClr val="accent1"/>
                </a:solidFill>
                <a:latin typeface="Lato"/>
                <a:ea typeface="Lato"/>
                <a:cs typeface="Lato"/>
                <a:sym typeface="Lato"/>
              </a:rPr>
              <a:t>Cadets will develop the knowledge and skills required to improve their understanding of the fundamentals of aviation. Activities will include aspects of:</a:t>
            </a:r>
            <a:endParaRPr sz="1900">
              <a:solidFill>
                <a:schemeClr val="accent1"/>
              </a:solidFill>
              <a:latin typeface="Lato"/>
              <a:ea typeface="Lato"/>
              <a:cs typeface="Lato"/>
              <a:sym typeface="Lato"/>
            </a:endParaRPr>
          </a:p>
          <a:p>
            <a:pPr marL="0" lvl="0" indent="0" algn="l" rtl="0">
              <a:spcBef>
                <a:spcPts val="0"/>
              </a:spcBef>
              <a:spcAft>
                <a:spcPts val="0"/>
              </a:spcAft>
              <a:buNone/>
            </a:pPr>
            <a:r>
              <a:rPr lang="en" sz="1900">
                <a:solidFill>
                  <a:schemeClr val="accent1"/>
                </a:solidFill>
                <a:latin typeface="Lato"/>
                <a:ea typeface="Lato"/>
                <a:cs typeface="Lato"/>
                <a:sym typeface="Lato"/>
              </a:rPr>
              <a:t>• meteorology</a:t>
            </a:r>
            <a:endParaRPr sz="1900">
              <a:solidFill>
                <a:schemeClr val="accent1"/>
              </a:solidFill>
              <a:latin typeface="Lato"/>
              <a:ea typeface="Lato"/>
              <a:cs typeface="Lato"/>
              <a:sym typeface="Lato"/>
            </a:endParaRPr>
          </a:p>
          <a:p>
            <a:pPr marL="0" lvl="0" indent="0" algn="l" rtl="0">
              <a:spcBef>
                <a:spcPts val="0"/>
              </a:spcBef>
              <a:spcAft>
                <a:spcPts val="0"/>
              </a:spcAft>
              <a:buNone/>
            </a:pPr>
            <a:r>
              <a:rPr lang="en" sz="1900">
                <a:solidFill>
                  <a:schemeClr val="accent1"/>
                </a:solidFill>
                <a:latin typeface="Lato"/>
                <a:ea typeface="Lato"/>
                <a:cs typeface="Lato"/>
                <a:sym typeface="Lato"/>
              </a:rPr>
              <a:t>• aero engines</a:t>
            </a:r>
            <a:endParaRPr sz="1900">
              <a:solidFill>
                <a:schemeClr val="accent1"/>
              </a:solidFill>
              <a:latin typeface="Lato"/>
              <a:ea typeface="Lato"/>
              <a:cs typeface="Lato"/>
              <a:sym typeface="Lato"/>
            </a:endParaRPr>
          </a:p>
          <a:p>
            <a:pPr marL="0" lvl="0" indent="0" algn="l" rtl="0">
              <a:spcBef>
                <a:spcPts val="0"/>
              </a:spcBef>
              <a:spcAft>
                <a:spcPts val="0"/>
              </a:spcAft>
              <a:buNone/>
            </a:pPr>
            <a:r>
              <a:rPr lang="en" sz="1900">
                <a:solidFill>
                  <a:schemeClr val="accent1"/>
                </a:solidFill>
                <a:latin typeface="Lato"/>
                <a:ea typeface="Lato"/>
                <a:cs typeface="Lato"/>
                <a:sym typeface="Lato"/>
              </a:rPr>
              <a:t>• air navigation</a:t>
            </a:r>
            <a:endParaRPr sz="1900">
              <a:solidFill>
                <a:schemeClr val="accent1"/>
              </a:solidFill>
              <a:latin typeface="Lato"/>
              <a:ea typeface="Lato"/>
              <a:cs typeface="Lato"/>
              <a:sym typeface="Lato"/>
            </a:endParaRPr>
          </a:p>
          <a:p>
            <a:pPr marL="0" lvl="0" indent="0" algn="l" rtl="0">
              <a:spcBef>
                <a:spcPts val="0"/>
              </a:spcBef>
              <a:spcAft>
                <a:spcPts val="0"/>
              </a:spcAft>
              <a:buNone/>
            </a:pPr>
            <a:r>
              <a:rPr lang="en" sz="1900">
                <a:solidFill>
                  <a:schemeClr val="accent1"/>
                </a:solidFill>
                <a:latin typeface="Lato"/>
                <a:ea typeface="Lato"/>
                <a:cs typeface="Lato"/>
                <a:sym typeface="Lato"/>
              </a:rPr>
              <a:t>• airmanship</a:t>
            </a:r>
            <a:endParaRPr sz="1900">
              <a:solidFill>
                <a:schemeClr val="accent1"/>
              </a:solidFill>
              <a:latin typeface="Lato"/>
              <a:ea typeface="Lato"/>
              <a:cs typeface="Lato"/>
              <a:sym typeface="Lato"/>
            </a:endParaRPr>
          </a:p>
          <a:p>
            <a:pPr marL="0" lvl="0" indent="0" algn="l" rtl="0">
              <a:spcBef>
                <a:spcPts val="0"/>
              </a:spcBef>
              <a:spcAft>
                <a:spcPts val="0"/>
              </a:spcAft>
              <a:buNone/>
            </a:pPr>
            <a:endParaRPr sz="1900">
              <a:solidFill>
                <a:schemeClr val="accent1"/>
              </a:solidFill>
              <a:latin typeface="Lato"/>
              <a:ea typeface="Lato"/>
              <a:cs typeface="Lato"/>
              <a:sym typeface="Lato"/>
            </a:endParaRPr>
          </a:p>
        </p:txBody>
      </p:sp>
      <p:pic>
        <p:nvPicPr>
          <p:cNvPr id="141" name="Google Shape;141;p21"/>
          <p:cNvPicPr preferRelativeResize="0"/>
          <p:nvPr/>
        </p:nvPicPr>
        <p:blipFill>
          <a:blip r:embed="rId3">
            <a:alphaModFix/>
          </a:blip>
          <a:stretch>
            <a:fillRect/>
          </a:stretch>
        </p:blipFill>
        <p:spPr>
          <a:xfrm>
            <a:off x="4317624" y="2470350"/>
            <a:ext cx="3419349" cy="22595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2"/>
          <p:cNvSpPr txBox="1">
            <a:spLocks noGrp="1"/>
          </p:cNvSpPr>
          <p:nvPr>
            <p:ph type="title"/>
          </p:nvPr>
        </p:nvSpPr>
        <p:spPr>
          <a:xfrm>
            <a:off x="727650" y="550725"/>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AVIATION TECHNOLOGY</a:t>
            </a:r>
            <a:endParaRPr/>
          </a:p>
        </p:txBody>
      </p:sp>
      <p:sp>
        <p:nvSpPr>
          <p:cNvPr id="147" name="Google Shape;147;p22"/>
          <p:cNvSpPr txBox="1"/>
          <p:nvPr/>
        </p:nvSpPr>
        <p:spPr>
          <a:xfrm>
            <a:off x="727650" y="1405400"/>
            <a:ext cx="8215200" cy="233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accent1"/>
                </a:solidFill>
                <a:latin typeface="Lato"/>
                <a:ea typeface="Lato"/>
                <a:cs typeface="Lato"/>
                <a:sym typeface="Lato"/>
              </a:rPr>
              <a:t>Cadets will develop knowledge and skills required to improve their understanding of the fundamentals of aviation technology. Activities will include aspects of aircraft:</a:t>
            </a:r>
            <a:endParaRPr sz="2000">
              <a:solidFill>
                <a:schemeClr val="accent1"/>
              </a:solidFill>
              <a:latin typeface="Lato"/>
              <a:ea typeface="Lato"/>
              <a:cs typeface="Lato"/>
              <a:sym typeface="Lato"/>
            </a:endParaRPr>
          </a:p>
          <a:p>
            <a:pPr marL="0" lvl="0" indent="0" algn="l" rtl="0">
              <a:spcBef>
                <a:spcPts val="0"/>
              </a:spcBef>
              <a:spcAft>
                <a:spcPts val="0"/>
              </a:spcAft>
              <a:buNone/>
            </a:pPr>
            <a:r>
              <a:rPr lang="en" sz="2000">
                <a:solidFill>
                  <a:schemeClr val="accent1"/>
                </a:solidFill>
                <a:latin typeface="Lato"/>
                <a:ea typeface="Lato"/>
                <a:cs typeface="Lato"/>
                <a:sym typeface="Lato"/>
              </a:rPr>
              <a:t>• fabrication</a:t>
            </a:r>
            <a:endParaRPr sz="2000">
              <a:solidFill>
                <a:schemeClr val="accent1"/>
              </a:solidFill>
              <a:latin typeface="Lato"/>
              <a:ea typeface="Lato"/>
              <a:cs typeface="Lato"/>
              <a:sym typeface="Lato"/>
            </a:endParaRPr>
          </a:p>
          <a:p>
            <a:pPr marL="0" lvl="0" indent="0" algn="l" rtl="0">
              <a:spcBef>
                <a:spcPts val="0"/>
              </a:spcBef>
              <a:spcAft>
                <a:spcPts val="0"/>
              </a:spcAft>
              <a:buNone/>
            </a:pPr>
            <a:r>
              <a:rPr lang="en" sz="2000">
                <a:solidFill>
                  <a:schemeClr val="accent1"/>
                </a:solidFill>
                <a:latin typeface="Lato"/>
                <a:ea typeface="Lato"/>
                <a:cs typeface="Lato"/>
                <a:sym typeface="Lato"/>
              </a:rPr>
              <a:t>• construction</a:t>
            </a:r>
            <a:endParaRPr sz="2000">
              <a:solidFill>
                <a:schemeClr val="accent1"/>
              </a:solidFill>
              <a:latin typeface="Lato"/>
              <a:ea typeface="Lato"/>
              <a:cs typeface="Lato"/>
              <a:sym typeface="Lato"/>
            </a:endParaRPr>
          </a:p>
          <a:p>
            <a:pPr marL="0" lvl="0" indent="0" algn="l" rtl="0">
              <a:spcBef>
                <a:spcPts val="0"/>
              </a:spcBef>
              <a:spcAft>
                <a:spcPts val="0"/>
              </a:spcAft>
              <a:buNone/>
            </a:pPr>
            <a:r>
              <a:rPr lang="en" sz="2000">
                <a:solidFill>
                  <a:schemeClr val="accent1"/>
                </a:solidFill>
                <a:latin typeface="Lato"/>
                <a:ea typeface="Lato"/>
                <a:cs typeface="Lato"/>
                <a:sym typeface="Lato"/>
              </a:rPr>
              <a:t>• maintenance</a:t>
            </a:r>
            <a:endParaRPr sz="2000">
              <a:solidFill>
                <a:schemeClr val="accent1"/>
              </a:solidFill>
              <a:latin typeface="Lato"/>
              <a:ea typeface="Lato"/>
              <a:cs typeface="Lato"/>
              <a:sym typeface="Lato"/>
            </a:endParaRPr>
          </a:p>
          <a:p>
            <a:pPr marL="0" lvl="0" indent="0" algn="l" rtl="0">
              <a:spcBef>
                <a:spcPts val="0"/>
              </a:spcBef>
              <a:spcAft>
                <a:spcPts val="0"/>
              </a:spcAft>
              <a:buNone/>
            </a:pPr>
            <a:endParaRPr sz="2000">
              <a:solidFill>
                <a:schemeClr val="accent1"/>
              </a:solidFill>
              <a:latin typeface="Lato"/>
              <a:ea typeface="Lato"/>
              <a:cs typeface="Lato"/>
              <a:sym typeface="Lato"/>
            </a:endParaRPr>
          </a:p>
        </p:txBody>
      </p:sp>
      <p:pic>
        <p:nvPicPr>
          <p:cNvPr id="148" name="Google Shape;148;p22"/>
          <p:cNvPicPr preferRelativeResize="0"/>
          <p:nvPr/>
        </p:nvPicPr>
        <p:blipFill>
          <a:blip r:embed="rId3">
            <a:alphaModFix/>
          </a:blip>
          <a:stretch>
            <a:fillRect/>
          </a:stretch>
        </p:blipFill>
        <p:spPr>
          <a:xfrm>
            <a:off x="4216228" y="2203200"/>
            <a:ext cx="4638324" cy="27482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3"/>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AEROSPACE</a:t>
            </a:r>
            <a:endParaRPr/>
          </a:p>
        </p:txBody>
      </p:sp>
      <p:sp>
        <p:nvSpPr>
          <p:cNvPr id="154" name="Google Shape;154;p23"/>
          <p:cNvSpPr txBox="1">
            <a:spLocks noGrp="1"/>
          </p:cNvSpPr>
          <p:nvPr>
            <p:ph type="body" idx="1"/>
          </p:nvPr>
        </p:nvSpPr>
        <p:spPr>
          <a:xfrm>
            <a:off x="729450" y="136892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100"/>
              <a:t>Cadets will develop knowledge and skills required to improve their understanding of the fundamentals of aerospace science. Activities will include aspects of:</a:t>
            </a:r>
            <a:endParaRPr sz="2100"/>
          </a:p>
          <a:p>
            <a:pPr marL="0" lvl="0" indent="0" algn="l" rtl="0">
              <a:spcBef>
                <a:spcPts val="1200"/>
              </a:spcBef>
              <a:spcAft>
                <a:spcPts val="0"/>
              </a:spcAft>
              <a:buNone/>
            </a:pPr>
            <a:r>
              <a:rPr lang="en" sz="2100"/>
              <a:t>• theoretical and practical principles of space science</a:t>
            </a:r>
            <a:endParaRPr sz="2100"/>
          </a:p>
          <a:p>
            <a:pPr marL="0" lvl="0" indent="0" algn="l" rtl="0">
              <a:spcBef>
                <a:spcPts val="1200"/>
              </a:spcBef>
              <a:spcAft>
                <a:spcPts val="0"/>
              </a:spcAft>
              <a:buNone/>
            </a:pPr>
            <a:r>
              <a:rPr lang="en" sz="2100"/>
              <a:t>• principles of project management.</a:t>
            </a:r>
            <a:endParaRPr sz="2100"/>
          </a:p>
          <a:p>
            <a:pPr marL="0" lvl="0" indent="0" algn="l" rtl="0">
              <a:spcBef>
                <a:spcPts val="1200"/>
              </a:spcBef>
              <a:spcAft>
                <a:spcPts val="1200"/>
              </a:spcAft>
              <a:buNone/>
            </a:pPr>
            <a:endParaRPr sz="2100"/>
          </a:p>
        </p:txBody>
      </p:sp>
      <p:pic>
        <p:nvPicPr>
          <p:cNvPr id="155" name="Google Shape;155;p23"/>
          <p:cNvPicPr preferRelativeResize="0"/>
          <p:nvPr/>
        </p:nvPicPr>
        <p:blipFill>
          <a:blip r:embed="rId3">
            <a:alphaModFix/>
          </a:blip>
          <a:stretch>
            <a:fillRect/>
          </a:stretch>
        </p:blipFill>
        <p:spPr>
          <a:xfrm>
            <a:off x="5512850" y="3129825"/>
            <a:ext cx="2609850" cy="17526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24"/>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AIRCREW SURVIVAL</a:t>
            </a:r>
            <a:endParaRPr/>
          </a:p>
        </p:txBody>
      </p:sp>
      <p:sp>
        <p:nvSpPr>
          <p:cNvPr id="161" name="Google Shape;161;p24"/>
          <p:cNvSpPr txBox="1"/>
          <p:nvPr/>
        </p:nvSpPr>
        <p:spPr>
          <a:xfrm>
            <a:off x="840350" y="1393075"/>
            <a:ext cx="8331000" cy="255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a:solidFill>
                  <a:schemeClr val="accent1"/>
                </a:solidFill>
                <a:latin typeface="Lato"/>
                <a:ea typeface="Lato"/>
                <a:cs typeface="Lato"/>
                <a:sym typeface="Lato"/>
              </a:rPr>
              <a:t>Cadets will develop the knowledge and skills required to improve aircrew survival abilities. Activities include:</a:t>
            </a:r>
            <a:endParaRPr sz="2200">
              <a:solidFill>
                <a:schemeClr val="accent1"/>
              </a:solidFill>
              <a:latin typeface="Lato"/>
              <a:ea typeface="Lato"/>
              <a:cs typeface="Lato"/>
              <a:sym typeface="Lato"/>
            </a:endParaRPr>
          </a:p>
          <a:p>
            <a:pPr marL="0" lvl="0" indent="0" algn="l" rtl="0">
              <a:spcBef>
                <a:spcPts val="0"/>
              </a:spcBef>
              <a:spcAft>
                <a:spcPts val="0"/>
              </a:spcAft>
              <a:buNone/>
            </a:pPr>
            <a:r>
              <a:rPr lang="en" sz="2200">
                <a:solidFill>
                  <a:schemeClr val="accent1"/>
                </a:solidFill>
                <a:latin typeface="Lato"/>
                <a:ea typeface="Lato"/>
                <a:cs typeface="Lato"/>
                <a:sym typeface="Lato"/>
              </a:rPr>
              <a:t>• fire construction,</a:t>
            </a:r>
            <a:endParaRPr sz="2200">
              <a:solidFill>
                <a:schemeClr val="accent1"/>
              </a:solidFill>
              <a:latin typeface="Lato"/>
              <a:ea typeface="Lato"/>
              <a:cs typeface="Lato"/>
              <a:sym typeface="Lato"/>
            </a:endParaRPr>
          </a:p>
          <a:p>
            <a:pPr marL="0" lvl="0" indent="0" algn="l" rtl="0">
              <a:spcBef>
                <a:spcPts val="0"/>
              </a:spcBef>
              <a:spcAft>
                <a:spcPts val="0"/>
              </a:spcAft>
              <a:buNone/>
            </a:pPr>
            <a:r>
              <a:rPr lang="en" sz="2200">
                <a:solidFill>
                  <a:schemeClr val="accent1"/>
                </a:solidFill>
                <a:latin typeface="Lato"/>
                <a:ea typeface="Lato"/>
                <a:cs typeface="Lato"/>
                <a:sym typeface="Lato"/>
              </a:rPr>
              <a:t>• shelter construction,</a:t>
            </a:r>
            <a:endParaRPr sz="2200">
              <a:solidFill>
                <a:schemeClr val="accent1"/>
              </a:solidFill>
              <a:latin typeface="Lato"/>
              <a:ea typeface="Lato"/>
              <a:cs typeface="Lato"/>
              <a:sym typeface="Lato"/>
            </a:endParaRPr>
          </a:p>
          <a:p>
            <a:pPr marL="0" lvl="0" indent="0" algn="l" rtl="0">
              <a:spcBef>
                <a:spcPts val="0"/>
              </a:spcBef>
              <a:spcAft>
                <a:spcPts val="0"/>
              </a:spcAft>
              <a:buNone/>
            </a:pPr>
            <a:r>
              <a:rPr lang="en" sz="2200">
                <a:solidFill>
                  <a:schemeClr val="accent1"/>
                </a:solidFill>
                <a:latin typeface="Lato"/>
                <a:ea typeface="Lato"/>
                <a:cs typeface="Lato"/>
                <a:sym typeface="Lato"/>
              </a:rPr>
              <a:t>• signal construction, and</a:t>
            </a:r>
            <a:endParaRPr sz="2200">
              <a:solidFill>
                <a:schemeClr val="accent1"/>
              </a:solidFill>
              <a:latin typeface="Lato"/>
              <a:ea typeface="Lato"/>
              <a:cs typeface="Lato"/>
              <a:sym typeface="Lato"/>
            </a:endParaRPr>
          </a:p>
          <a:p>
            <a:pPr marL="0" lvl="0" indent="0" algn="l" rtl="0">
              <a:spcBef>
                <a:spcPts val="0"/>
              </a:spcBef>
              <a:spcAft>
                <a:spcPts val="0"/>
              </a:spcAft>
              <a:buNone/>
            </a:pPr>
            <a:r>
              <a:rPr lang="en" sz="2200">
                <a:solidFill>
                  <a:schemeClr val="accent1"/>
                </a:solidFill>
                <a:latin typeface="Lato"/>
                <a:ea typeface="Lato"/>
                <a:cs typeface="Lato"/>
                <a:sym typeface="Lato"/>
              </a:rPr>
              <a:t>• food and water collection.</a:t>
            </a:r>
            <a:endParaRPr sz="2200">
              <a:solidFill>
                <a:schemeClr val="accent1"/>
              </a:solidFill>
              <a:latin typeface="Lato"/>
              <a:ea typeface="Lato"/>
              <a:cs typeface="Lato"/>
              <a:sym typeface="Lato"/>
            </a:endParaRPr>
          </a:p>
          <a:p>
            <a:pPr marL="0" lvl="0" indent="0" algn="l" rtl="0">
              <a:spcBef>
                <a:spcPts val="0"/>
              </a:spcBef>
              <a:spcAft>
                <a:spcPts val="0"/>
              </a:spcAft>
              <a:buNone/>
            </a:pPr>
            <a:endParaRPr sz="2200">
              <a:solidFill>
                <a:schemeClr val="accent1"/>
              </a:solidFill>
              <a:latin typeface="Lato"/>
              <a:ea typeface="Lato"/>
              <a:cs typeface="Lato"/>
              <a:sym typeface="Lato"/>
            </a:endParaRPr>
          </a:p>
        </p:txBody>
      </p:sp>
      <p:pic>
        <p:nvPicPr>
          <p:cNvPr id="162" name="Google Shape;162;p24"/>
          <p:cNvPicPr preferRelativeResize="0"/>
          <p:nvPr/>
        </p:nvPicPr>
        <p:blipFill>
          <a:blip r:embed="rId3">
            <a:alphaModFix/>
          </a:blip>
          <a:stretch>
            <a:fillRect/>
          </a:stretch>
        </p:blipFill>
        <p:spPr>
          <a:xfrm>
            <a:off x="5042050" y="2307175"/>
            <a:ext cx="3318124" cy="2488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5"/>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Discussion</a:t>
            </a:r>
            <a:endParaRPr/>
          </a:p>
        </p:txBody>
      </p:sp>
      <p:sp>
        <p:nvSpPr>
          <p:cNvPr id="168" name="Google Shape;168;p25"/>
          <p:cNvSpPr txBox="1">
            <a:spLocks noGrp="1"/>
          </p:cNvSpPr>
          <p:nvPr>
            <p:ph type="body" idx="1"/>
          </p:nvPr>
        </p:nvSpPr>
        <p:spPr>
          <a:xfrm>
            <a:off x="729450" y="1621675"/>
            <a:ext cx="7688700" cy="2261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300"/>
              <a:t>Q1. Which summer training activities interest you?</a:t>
            </a:r>
            <a:endParaRPr sz="2300"/>
          </a:p>
          <a:p>
            <a:pPr marL="0" lvl="0" indent="0" algn="l" rtl="0">
              <a:spcBef>
                <a:spcPts val="1200"/>
              </a:spcBef>
              <a:spcAft>
                <a:spcPts val="0"/>
              </a:spcAft>
              <a:buNone/>
            </a:pPr>
            <a:r>
              <a:rPr lang="en" sz="2300"/>
              <a:t>Q2. Who is interested in applying for summer training this year? Why?</a:t>
            </a:r>
            <a:endParaRPr sz="2300"/>
          </a:p>
          <a:p>
            <a:pPr marL="0" lvl="0" indent="0" algn="l" rtl="0">
              <a:spcBef>
                <a:spcPts val="1200"/>
              </a:spcBef>
              <a:spcAft>
                <a:spcPts val="1200"/>
              </a:spcAft>
              <a:buNone/>
            </a:pPr>
            <a:r>
              <a:rPr lang="en" sz="2300"/>
              <a:t>Q3. What specialty area are you interested in pursuing? Why?</a:t>
            </a:r>
            <a:endParaRPr sz="23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6"/>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Second Teaching Point: </a:t>
            </a:r>
            <a:r>
              <a:rPr lang="en" u="sng"/>
              <a:t>Describe Year Two CSTC Courses</a:t>
            </a:r>
            <a:endParaRPr u="sng"/>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174" name="Google Shape;174;p26"/>
          <p:cNvPicPr preferRelativeResize="0"/>
          <p:nvPr/>
        </p:nvPicPr>
        <p:blipFill>
          <a:blip r:embed="rId3">
            <a:alphaModFix/>
          </a:blip>
          <a:stretch>
            <a:fillRect/>
          </a:stretch>
        </p:blipFill>
        <p:spPr>
          <a:xfrm>
            <a:off x="2527400" y="2020750"/>
            <a:ext cx="4092800" cy="27235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7"/>
          <p:cNvSpPr txBox="1">
            <a:spLocks noGrp="1"/>
          </p:cNvSpPr>
          <p:nvPr>
            <p:ph type="title"/>
          </p:nvPr>
        </p:nvSpPr>
        <p:spPr>
          <a:xfrm>
            <a:off x="727650" y="594225"/>
            <a:ext cx="7688700" cy="535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990"/>
              <a:buNone/>
            </a:pPr>
            <a:r>
              <a:rPr lang="en" sz="1940"/>
              <a:t>PREREQUISITES FOR ATTENDING A YEAR TWO CSTC COURSE</a:t>
            </a:r>
            <a:endParaRPr sz="1940"/>
          </a:p>
        </p:txBody>
      </p:sp>
      <p:sp>
        <p:nvSpPr>
          <p:cNvPr id="180" name="Google Shape;180;p27"/>
          <p:cNvSpPr txBox="1"/>
          <p:nvPr/>
        </p:nvSpPr>
        <p:spPr>
          <a:xfrm>
            <a:off x="452375" y="1332275"/>
            <a:ext cx="8443800" cy="3879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u="sng">
                <a:solidFill>
                  <a:schemeClr val="accent1"/>
                </a:solidFill>
                <a:latin typeface="Lato"/>
                <a:ea typeface="Lato"/>
                <a:cs typeface="Lato"/>
                <a:sym typeface="Lato"/>
              </a:rPr>
              <a:t>The cadet must:</a:t>
            </a:r>
            <a:endParaRPr sz="2000" u="sng">
              <a:solidFill>
                <a:schemeClr val="accent1"/>
              </a:solidFill>
              <a:latin typeface="Lato"/>
              <a:ea typeface="Lato"/>
              <a:cs typeface="Lato"/>
              <a:sym typeface="Lato"/>
            </a:endParaRPr>
          </a:p>
          <a:p>
            <a:pPr marL="0" lvl="0" indent="0" algn="l" rtl="0">
              <a:spcBef>
                <a:spcPts val="0"/>
              </a:spcBef>
              <a:spcAft>
                <a:spcPts val="0"/>
              </a:spcAft>
              <a:buNone/>
            </a:pPr>
            <a:r>
              <a:rPr lang="en" sz="2000">
                <a:solidFill>
                  <a:schemeClr val="accent1"/>
                </a:solidFill>
                <a:latin typeface="Lato"/>
                <a:ea typeface="Lato"/>
                <a:cs typeface="Lato"/>
                <a:sym typeface="Lato"/>
              </a:rPr>
              <a:t>• be undergoing Proficiency Level Two training by the application deadline</a:t>
            </a:r>
            <a:endParaRPr sz="2000">
              <a:solidFill>
                <a:schemeClr val="accent1"/>
              </a:solidFill>
              <a:latin typeface="Lato"/>
              <a:ea typeface="Lato"/>
              <a:cs typeface="Lato"/>
              <a:sym typeface="Lato"/>
            </a:endParaRPr>
          </a:p>
          <a:p>
            <a:pPr marL="0" lvl="0" indent="0" algn="l" rtl="0">
              <a:spcBef>
                <a:spcPts val="0"/>
              </a:spcBef>
              <a:spcAft>
                <a:spcPts val="0"/>
              </a:spcAft>
              <a:buNone/>
            </a:pPr>
            <a:r>
              <a:rPr lang="en" sz="2000">
                <a:solidFill>
                  <a:schemeClr val="accent1"/>
                </a:solidFill>
                <a:latin typeface="Lato"/>
                <a:ea typeface="Lato"/>
                <a:cs typeface="Lato"/>
                <a:sym typeface="Lato"/>
              </a:rPr>
              <a:t>• successfully complete Proficiency Level Two by June 30 of the year the cadet wishes to attend the CSTC</a:t>
            </a:r>
            <a:endParaRPr sz="2000">
              <a:solidFill>
                <a:schemeClr val="accent1"/>
              </a:solidFill>
              <a:latin typeface="Lato"/>
              <a:ea typeface="Lato"/>
              <a:cs typeface="Lato"/>
              <a:sym typeface="Lato"/>
            </a:endParaRPr>
          </a:p>
          <a:p>
            <a:pPr marL="0" lvl="0" indent="0" algn="l" rtl="0">
              <a:spcBef>
                <a:spcPts val="0"/>
              </a:spcBef>
              <a:spcAft>
                <a:spcPts val="0"/>
              </a:spcAft>
              <a:buNone/>
            </a:pPr>
            <a:r>
              <a:rPr lang="en" sz="2000">
                <a:solidFill>
                  <a:schemeClr val="accent1"/>
                </a:solidFill>
                <a:latin typeface="Lato"/>
                <a:ea typeface="Lato"/>
                <a:cs typeface="Lato"/>
                <a:sym typeface="Lato"/>
              </a:rPr>
              <a:t>• be medically and physically fit</a:t>
            </a:r>
            <a:endParaRPr sz="2000">
              <a:solidFill>
                <a:schemeClr val="accent1"/>
              </a:solidFill>
              <a:latin typeface="Lato"/>
              <a:ea typeface="Lato"/>
              <a:cs typeface="Lato"/>
              <a:sym typeface="Lato"/>
            </a:endParaRPr>
          </a:p>
          <a:p>
            <a:pPr marL="0" lvl="0" indent="0" algn="l" rtl="0">
              <a:spcBef>
                <a:spcPts val="0"/>
              </a:spcBef>
              <a:spcAft>
                <a:spcPts val="0"/>
              </a:spcAft>
              <a:buNone/>
            </a:pPr>
            <a:r>
              <a:rPr lang="en" sz="2000">
                <a:solidFill>
                  <a:schemeClr val="accent1"/>
                </a:solidFill>
                <a:latin typeface="Lato"/>
                <a:ea typeface="Lato"/>
                <a:cs typeface="Lato"/>
                <a:sym typeface="Lato"/>
              </a:rPr>
              <a:t>• complete a CF 51 including the medical portion (application)</a:t>
            </a:r>
            <a:endParaRPr sz="2000">
              <a:solidFill>
                <a:schemeClr val="accent1"/>
              </a:solidFill>
              <a:latin typeface="Lato"/>
              <a:ea typeface="Lato"/>
              <a:cs typeface="Lato"/>
              <a:sym typeface="Lato"/>
            </a:endParaRPr>
          </a:p>
          <a:p>
            <a:pPr marL="0" lvl="0" indent="0" algn="l" rtl="0">
              <a:spcBef>
                <a:spcPts val="0"/>
              </a:spcBef>
              <a:spcAft>
                <a:spcPts val="0"/>
              </a:spcAft>
              <a:buNone/>
            </a:pPr>
            <a:r>
              <a:rPr lang="en" sz="2000">
                <a:solidFill>
                  <a:schemeClr val="accent1"/>
                </a:solidFill>
                <a:latin typeface="Lato"/>
                <a:ea typeface="Lato"/>
                <a:cs typeface="Lato"/>
                <a:sym typeface="Lato"/>
              </a:rPr>
              <a:t>• have parental consent</a:t>
            </a:r>
            <a:endParaRPr sz="2000">
              <a:solidFill>
                <a:schemeClr val="accent1"/>
              </a:solidFill>
              <a:latin typeface="Lato"/>
              <a:ea typeface="Lato"/>
              <a:cs typeface="Lato"/>
              <a:sym typeface="Lato"/>
            </a:endParaRPr>
          </a:p>
          <a:p>
            <a:pPr marL="0" lvl="0" indent="0" algn="l" rtl="0">
              <a:spcBef>
                <a:spcPts val="0"/>
              </a:spcBef>
              <a:spcAft>
                <a:spcPts val="0"/>
              </a:spcAft>
              <a:buNone/>
            </a:pPr>
            <a:r>
              <a:rPr lang="en" sz="2000">
                <a:solidFill>
                  <a:schemeClr val="accent1"/>
                </a:solidFill>
                <a:latin typeface="Lato"/>
                <a:ea typeface="Lato"/>
                <a:cs typeface="Lato"/>
                <a:sym typeface="Lato"/>
              </a:rPr>
              <a:t>• be recommended by the squadron Commanding Officer</a:t>
            </a:r>
            <a:endParaRPr sz="2000">
              <a:solidFill>
                <a:schemeClr val="accent1"/>
              </a:solidFill>
              <a:latin typeface="Lato"/>
              <a:ea typeface="Lato"/>
              <a:cs typeface="Lato"/>
              <a:sym typeface="Lato"/>
            </a:endParaRPr>
          </a:p>
          <a:p>
            <a:pPr marL="0" lvl="0" indent="0" algn="l" rtl="0">
              <a:spcBef>
                <a:spcPts val="0"/>
              </a:spcBef>
              <a:spcAft>
                <a:spcPts val="0"/>
              </a:spcAft>
              <a:buNone/>
            </a:pPr>
            <a:endParaRPr sz="2000">
              <a:solidFill>
                <a:schemeClr val="accent1"/>
              </a:solidFill>
              <a:latin typeface="Lato"/>
              <a:ea typeface="Lato"/>
              <a:cs typeface="Lato"/>
              <a:sym typeface="Lato"/>
            </a:endParaRPr>
          </a:p>
          <a:p>
            <a:pPr marL="0" lvl="0" indent="0" algn="l" rtl="0">
              <a:spcBef>
                <a:spcPts val="0"/>
              </a:spcBef>
              <a:spcAft>
                <a:spcPts val="0"/>
              </a:spcAft>
              <a:buNone/>
            </a:pPr>
            <a:r>
              <a:rPr lang="en" sz="2000">
                <a:solidFill>
                  <a:schemeClr val="accent1"/>
                </a:solidFill>
                <a:latin typeface="Lato"/>
                <a:ea typeface="Lato"/>
                <a:cs typeface="Lato"/>
                <a:sym typeface="Lato"/>
              </a:rPr>
              <a:t>!! Cadets do NOT have to complete </a:t>
            </a:r>
            <a:r>
              <a:rPr lang="en" sz="2000" b="1">
                <a:solidFill>
                  <a:schemeClr val="accent1"/>
                </a:solidFill>
                <a:latin typeface="Lato"/>
                <a:ea typeface="Lato"/>
                <a:cs typeface="Lato"/>
                <a:sym typeface="Lato"/>
              </a:rPr>
              <a:t>General Training (GT) </a:t>
            </a:r>
            <a:r>
              <a:rPr lang="en" sz="2000">
                <a:solidFill>
                  <a:schemeClr val="accent1"/>
                </a:solidFill>
                <a:latin typeface="Lato"/>
                <a:ea typeface="Lato"/>
                <a:cs typeface="Lato"/>
                <a:sym typeface="Lato"/>
              </a:rPr>
              <a:t>to apply for their first three-week course.</a:t>
            </a:r>
            <a:endParaRPr sz="2000">
              <a:solidFill>
                <a:schemeClr val="accent1"/>
              </a:solidFill>
              <a:latin typeface="Lato"/>
              <a:ea typeface="Lato"/>
              <a:cs typeface="Lato"/>
              <a:sym typeface="Lato"/>
            </a:endParaRPr>
          </a:p>
          <a:p>
            <a:pPr marL="0" lvl="0" indent="0" algn="l" rtl="0">
              <a:spcBef>
                <a:spcPts val="0"/>
              </a:spcBef>
              <a:spcAft>
                <a:spcPts val="0"/>
              </a:spcAft>
              <a:buNone/>
            </a:pPr>
            <a:endParaRPr sz="2000">
              <a:solidFill>
                <a:schemeClr val="accent1"/>
              </a:solidFill>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8"/>
          <p:cNvSpPr txBox="1">
            <a:spLocks noGrp="1"/>
          </p:cNvSpPr>
          <p:nvPr>
            <p:ph type="title"/>
          </p:nvPr>
        </p:nvSpPr>
        <p:spPr>
          <a:xfrm>
            <a:off x="729450" y="7090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Common Courses</a:t>
            </a:r>
            <a:endParaRPr/>
          </a:p>
        </p:txBody>
      </p:sp>
      <p:sp>
        <p:nvSpPr>
          <p:cNvPr id="186" name="Google Shape;186;p28"/>
          <p:cNvSpPr txBox="1"/>
          <p:nvPr/>
        </p:nvSpPr>
        <p:spPr>
          <a:xfrm>
            <a:off x="666500" y="1347475"/>
            <a:ext cx="8345400" cy="289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200" b="1" u="sng">
                <a:solidFill>
                  <a:schemeClr val="accent1"/>
                </a:solidFill>
                <a:latin typeface="Lato"/>
                <a:ea typeface="Lato"/>
                <a:cs typeface="Lato"/>
                <a:sym typeface="Lato"/>
              </a:rPr>
              <a:t>Basic Fitness and Sports.</a:t>
            </a:r>
            <a:r>
              <a:rPr lang="en" sz="2200">
                <a:solidFill>
                  <a:schemeClr val="accent1"/>
                </a:solidFill>
                <a:latin typeface="Lato"/>
                <a:ea typeface="Lato"/>
                <a:cs typeface="Lato"/>
                <a:sym typeface="Lato"/>
              </a:rPr>
              <a:t> The aim of this course is to improve the cadets’ knowledge and skills in individual fitness and sports.</a:t>
            </a:r>
            <a:endParaRPr sz="2200">
              <a:solidFill>
                <a:schemeClr val="accent1"/>
              </a:solidFill>
              <a:latin typeface="Lato"/>
              <a:ea typeface="Lato"/>
              <a:cs typeface="Lato"/>
              <a:sym typeface="Lato"/>
            </a:endParaRPr>
          </a:p>
          <a:p>
            <a:pPr marL="0" lvl="0" indent="0" algn="l" rtl="0">
              <a:spcBef>
                <a:spcPts val="0"/>
              </a:spcBef>
              <a:spcAft>
                <a:spcPts val="0"/>
              </a:spcAft>
              <a:buNone/>
            </a:pPr>
            <a:r>
              <a:rPr lang="en" sz="2200" b="1" u="sng">
                <a:solidFill>
                  <a:schemeClr val="accent1"/>
                </a:solidFill>
                <a:latin typeface="Lato"/>
                <a:ea typeface="Lato"/>
                <a:cs typeface="Lato"/>
                <a:sym typeface="Lato"/>
              </a:rPr>
              <a:t>Military Band – Basic Musician.</a:t>
            </a:r>
            <a:r>
              <a:rPr lang="en" sz="2200">
                <a:solidFill>
                  <a:schemeClr val="accent1"/>
                </a:solidFill>
                <a:latin typeface="Lato"/>
                <a:ea typeface="Lato"/>
                <a:cs typeface="Lato"/>
                <a:sym typeface="Lato"/>
              </a:rPr>
              <a:t> The aim of this course is to introduce fundamental music knowledge and skills, and for the cadets to achieve a basic music level.</a:t>
            </a:r>
            <a:endParaRPr sz="2200">
              <a:solidFill>
                <a:schemeClr val="accent1"/>
              </a:solidFill>
              <a:latin typeface="Lato"/>
              <a:ea typeface="Lato"/>
              <a:cs typeface="Lato"/>
              <a:sym typeface="Lato"/>
            </a:endParaRPr>
          </a:p>
          <a:p>
            <a:pPr marL="0" lvl="0" indent="0" algn="l" rtl="0">
              <a:spcBef>
                <a:spcPts val="0"/>
              </a:spcBef>
              <a:spcAft>
                <a:spcPts val="0"/>
              </a:spcAft>
              <a:buNone/>
            </a:pPr>
            <a:r>
              <a:rPr lang="en" sz="2200" b="1" u="sng">
                <a:solidFill>
                  <a:schemeClr val="accent1"/>
                </a:solidFill>
                <a:latin typeface="Lato"/>
                <a:ea typeface="Lato"/>
                <a:cs typeface="Lato"/>
                <a:sym typeface="Lato"/>
              </a:rPr>
              <a:t>Pipe and Drum Musician – Basic Pipe and Drum.</a:t>
            </a:r>
            <a:r>
              <a:rPr lang="en" sz="2200">
                <a:solidFill>
                  <a:schemeClr val="accent1"/>
                </a:solidFill>
                <a:latin typeface="Lato"/>
                <a:ea typeface="Lato"/>
                <a:cs typeface="Lato"/>
                <a:sym typeface="Lato"/>
              </a:rPr>
              <a:t> The aim of this course is to introduce fundamental music knowledge and skills, and for the cadets to achieve a basic music level.</a:t>
            </a:r>
            <a:endParaRPr sz="2200">
              <a:solidFill>
                <a:schemeClr val="accent1"/>
              </a:solidFill>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29"/>
          <p:cNvSpPr txBox="1"/>
          <p:nvPr/>
        </p:nvSpPr>
        <p:spPr>
          <a:xfrm>
            <a:off x="492600" y="1448900"/>
            <a:ext cx="83454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b="1" u="sng">
                <a:solidFill>
                  <a:schemeClr val="accent1"/>
                </a:solidFill>
                <a:latin typeface="Lato"/>
                <a:ea typeface="Lato"/>
                <a:cs typeface="Lato"/>
                <a:sym typeface="Lato"/>
              </a:rPr>
              <a:t>Basic Leadership. </a:t>
            </a:r>
            <a:r>
              <a:rPr lang="en" sz="2100">
                <a:solidFill>
                  <a:schemeClr val="accent1"/>
                </a:solidFill>
                <a:latin typeface="Lato"/>
                <a:ea typeface="Lato"/>
                <a:cs typeface="Lato"/>
                <a:sym typeface="Lato"/>
              </a:rPr>
              <a:t>The aim of this course is to build on the knowledge and skills required for an emerging leader to complete a leadership assignment in a peer and small group setting. This course also allows cadets to develop knowledge and skills in drill and ceremonial.</a:t>
            </a:r>
            <a:endParaRPr sz="2100">
              <a:solidFill>
                <a:schemeClr val="accent1"/>
              </a:solidFill>
              <a:latin typeface="Lato"/>
              <a:ea typeface="Lato"/>
              <a:cs typeface="Lato"/>
              <a:sym typeface="Lato"/>
            </a:endParaRPr>
          </a:p>
        </p:txBody>
      </p:sp>
      <p:sp>
        <p:nvSpPr>
          <p:cNvPr id="192" name="Google Shape;192;p29"/>
          <p:cNvSpPr txBox="1"/>
          <p:nvPr/>
        </p:nvSpPr>
        <p:spPr>
          <a:xfrm>
            <a:off x="492600" y="666475"/>
            <a:ext cx="83454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b="1">
                <a:solidFill>
                  <a:schemeClr val="accent1"/>
                </a:solidFill>
                <a:latin typeface="Raleway"/>
                <a:ea typeface="Raleway"/>
                <a:cs typeface="Raleway"/>
                <a:sym typeface="Raleway"/>
              </a:rPr>
              <a:t>Elemental Courses (1/3)</a:t>
            </a:r>
            <a:endParaRPr sz="2100" b="1">
              <a:solidFill>
                <a:schemeClr val="accent1"/>
              </a:solidFill>
              <a:latin typeface="Raleway"/>
              <a:ea typeface="Raleway"/>
              <a:cs typeface="Raleway"/>
              <a:sym typeface="Raleway"/>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0"/>
          <p:cNvSpPr txBox="1"/>
          <p:nvPr/>
        </p:nvSpPr>
        <p:spPr>
          <a:xfrm>
            <a:off x="492600" y="1448900"/>
            <a:ext cx="8345400" cy="3093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b="1" u="sng">
                <a:solidFill>
                  <a:schemeClr val="accent1"/>
                </a:solidFill>
                <a:latin typeface="Lato"/>
                <a:ea typeface="Lato"/>
                <a:cs typeface="Lato"/>
                <a:sym typeface="Lato"/>
              </a:rPr>
              <a:t>Basic Aviation.</a:t>
            </a:r>
            <a:r>
              <a:rPr lang="en" sz="2100">
                <a:solidFill>
                  <a:schemeClr val="accent1"/>
                </a:solidFill>
                <a:latin typeface="Lato"/>
                <a:ea typeface="Lato"/>
                <a:cs typeface="Lato"/>
                <a:sym typeface="Lato"/>
              </a:rPr>
              <a:t> The aim of the Basic Aviation course is to provide the cadets with the fundamentals of aviation including civilian, military and Air Cadet aviation opportunities, aviation history and basic airmanship.</a:t>
            </a:r>
            <a:endParaRPr sz="2100">
              <a:solidFill>
                <a:schemeClr val="accent1"/>
              </a:solidFill>
              <a:latin typeface="Lato"/>
              <a:ea typeface="Lato"/>
              <a:cs typeface="Lato"/>
              <a:sym typeface="Lato"/>
            </a:endParaRPr>
          </a:p>
          <a:p>
            <a:pPr marL="0" lvl="0" indent="0" algn="l" rtl="0">
              <a:spcBef>
                <a:spcPts val="0"/>
              </a:spcBef>
              <a:spcAft>
                <a:spcPts val="0"/>
              </a:spcAft>
              <a:buNone/>
            </a:pPr>
            <a:endParaRPr sz="2100">
              <a:solidFill>
                <a:schemeClr val="accent1"/>
              </a:solidFill>
              <a:latin typeface="Lato"/>
              <a:ea typeface="Lato"/>
              <a:cs typeface="Lato"/>
              <a:sym typeface="Lato"/>
            </a:endParaRPr>
          </a:p>
          <a:p>
            <a:pPr marL="0" lvl="0" indent="0" algn="l" rtl="0">
              <a:spcBef>
                <a:spcPts val="0"/>
              </a:spcBef>
              <a:spcAft>
                <a:spcPts val="0"/>
              </a:spcAft>
              <a:buNone/>
            </a:pPr>
            <a:r>
              <a:rPr lang="en" sz="2100" b="1" u="sng">
                <a:solidFill>
                  <a:schemeClr val="accent1"/>
                </a:solidFill>
                <a:latin typeface="Lato"/>
                <a:ea typeface="Lato"/>
                <a:cs typeface="Lato"/>
                <a:sym typeface="Lato"/>
              </a:rPr>
              <a:t>Basic Aerospace. </a:t>
            </a:r>
            <a:r>
              <a:rPr lang="en" sz="2100">
                <a:solidFill>
                  <a:schemeClr val="accent1"/>
                </a:solidFill>
                <a:latin typeface="Lato"/>
                <a:ea typeface="Lato"/>
                <a:cs typeface="Lato"/>
                <a:sym typeface="Lato"/>
              </a:rPr>
              <a:t>The aim of the Basic Aerospace course is to provide the cadets with the fundamentals of aerospace to include theoretical and practical principles of aerospace science and the principles of project management.</a:t>
            </a:r>
            <a:endParaRPr sz="2100">
              <a:solidFill>
                <a:schemeClr val="accent1"/>
              </a:solidFill>
              <a:latin typeface="Lato"/>
              <a:ea typeface="Lato"/>
              <a:cs typeface="Lato"/>
              <a:sym typeface="Lato"/>
            </a:endParaRPr>
          </a:p>
        </p:txBody>
      </p:sp>
      <p:sp>
        <p:nvSpPr>
          <p:cNvPr id="198" name="Google Shape;198;p30"/>
          <p:cNvSpPr txBox="1"/>
          <p:nvPr/>
        </p:nvSpPr>
        <p:spPr>
          <a:xfrm>
            <a:off x="492600" y="666475"/>
            <a:ext cx="83454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100" b="1">
                <a:solidFill>
                  <a:schemeClr val="accent1"/>
                </a:solidFill>
                <a:latin typeface="Raleway"/>
                <a:ea typeface="Raleway"/>
                <a:cs typeface="Raleway"/>
                <a:sym typeface="Raleway"/>
              </a:rPr>
              <a:t>Elemental Courses (2/3)</a:t>
            </a:r>
            <a:endParaRPr sz="2100" b="1">
              <a:solidFill>
                <a:schemeClr val="accent1"/>
              </a:solidFill>
              <a:latin typeface="Raleway"/>
              <a:ea typeface="Raleway"/>
              <a:cs typeface="Raleway"/>
              <a:sym typeface="Raleway"/>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1"/>
          <p:cNvSpPr txBox="1"/>
          <p:nvPr/>
        </p:nvSpPr>
        <p:spPr>
          <a:xfrm>
            <a:off x="399300" y="1361950"/>
            <a:ext cx="8345400" cy="3879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u="sng">
                <a:solidFill>
                  <a:schemeClr val="accent1"/>
                </a:solidFill>
                <a:latin typeface="Lato"/>
                <a:ea typeface="Lato"/>
                <a:cs typeface="Lato"/>
                <a:sym typeface="Lato"/>
              </a:rPr>
              <a:t>Basic Aviation Technology. </a:t>
            </a:r>
            <a:r>
              <a:rPr lang="en" sz="2000">
                <a:solidFill>
                  <a:schemeClr val="accent1"/>
                </a:solidFill>
                <a:latin typeface="Lato"/>
                <a:ea typeface="Lato"/>
                <a:cs typeface="Lato"/>
                <a:sym typeface="Lato"/>
              </a:rPr>
              <a:t>The aim of the Basic Aviation Technology course is to provide the cadets with the fundamentals of aviation technologies to include aircraft fabrication, construction and maintenance. Cadets are given ample opportunity for the practical application of theoretical and practical skills.</a:t>
            </a:r>
            <a:endParaRPr sz="2000">
              <a:solidFill>
                <a:schemeClr val="accent1"/>
              </a:solidFill>
              <a:latin typeface="Lato"/>
              <a:ea typeface="Lato"/>
              <a:cs typeface="Lato"/>
              <a:sym typeface="Lato"/>
            </a:endParaRPr>
          </a:p>
          <a:p>
            <a:pPr marL="0" lvl="0" indent="0" algn="l" rtl="0">
              <a:spcBef>
                <a:spcPts val="0"/>
              </a:spcBef>
              <a:spcAft>
                <a:spcPts val="0"/>
              </a:spcAft>
              <a:buNone/>
            </a:pPr>
            <a:endParaRPr sz="2000">
              <a:solidFill>
                <a:schemeClr val="accent1"/>
              </a:solidFill>
              <a:latin typeface="Lato"/>
              <a:ea typeface="Lato"/>
              <a:cs typeface="Lato"/>
              <a:sym typeface="Lato"/>
            </a:endParaRPr>
          </a:p>
          <a:p>
            <a:pPr marL="0" lvl="0" indent="0" algn="l" rtl="0">
              <a:spcBef>
                <a:spcPts val="0"/>
              </a:spcBef>
              <a:spcAft>
                <a:spcPts val="0"/>
              </a:spcAft>
              <a:buNone/>
            </a:pPr>
            <a:r>
              <a:rPr lang="en" sz="2000" b="1" u="sng">
                <a:solidFill>
                  <a:schemeClr val="accent1"/>
                </a:solidFill>
                <a:latin typeface="Lato"/>
                <a:ea typeface="Lato"/>
                <a:cs typeface="Lato"/>
                <a:sym typeface="Lato"/>
              </a:rPr>
              <a:t>Basic Survival. </a:t>
            </a:r>
            <a:r>
              <a:rPr lang="en" sz="2000">
                <a:solidFill>
                  <a:schemeClr val="accent1"/>
                </a:solidFill>
                <a:latin typeface="Lato"/>
                <a:ea typeface="Lato"/>
                <a:cs typeface="Lato"/>
                <a:sym typeface="Lato"/>
              </a:rPr>
              <a:t>The aim of the Basic Survival course is to allow cadets to apply the basic survival pattern including fire construction, shelter construction, signal construction and food and water collection. Cadets are given ample opportunity for the practical application of theoretical and practical skills.</a:t>
            </a:r>
            <a:endParaRPr sz="2000">
              <a:solidFill>
                <a:schemeClr val="accent1"/>
              </a:solidFill>
              <a:latin typeface="Lato"/>
              <a:ea typeface="Lato"/>
              <a:cs typeface="Lato"/>
              <a:sym typeface="Lato"/>
            </a:endParaRPr>
          </a:p>
          <a:p>
            <a:pPr marL="0" lvl="0" indent="0" algn="l" rtl="0">
              <a:spcBef>
                <a:spcPts val="0"/>
              </a:spcBef>
              <a:spcAft>
                <a:spcPts val="0"/>
              </a:spcAft>
              <a:buNone/>
            </a:pPr>
            <a:endParaRPr sz="2000">
              <a:solidFill>
                <a:schemeClr val="accent1"/>
              </a:solidFill>
              <a:latin typeface="Lato"/>
              <a:ea typeface="Lato"/>
              <a:cs typeface="Lato"/>
              <a:sym typeface="Lato"/>
            </a:endParaRPr>
          </a:p>
        </p:txBody>
      </p:sp>
      <p:sp>
        <p:nvSpPr>
          <p:cNvPr id="204" name="Google Shape;204;p31"/>
          <p:cNvSpPr txBox="1"/>
          <p:nvPr/>
        </p:nvSpPr>
        <p:spPr>
          <a:xfrm>
            <a:off x="536075" y="666475"/>
            <a:ext cx="8345400" cy="507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chemeClr val="accent1"/>
                </a:solidFill>
                <a:latin typeface="Raleway"/>
                <a:ea typeface="Raleway"/>
                <a:cs typeface="Raleway"/>
                <a:sym typeface="Raleway"/>
              </a:rPr>
              <a:t>Elemental Courses </a:t>
            </a:r>
            <a:r>
              <a:rPr lang="en" sz="2100" b="1">
                <a:solidFill>
                  <a:schemeClr val="accent1"/>
                </a:solidFill>
                <a:latin typeface="Raleway"/>
                <a:ea typeface="Raleway"/>
                <a:cs typeface="Raleway"/>
                <a:sym typeface="Raleway"/>
              </a:rPr>
              <a:t>(3/3)</a:t>
            </a:r>
            <a:endParaRPr sz="2000" b="1">
              <a:solidFill>
                <a:schemeClr val="accent1"/>
              </a:solidFill>
              <a:latin typeface="Raleway"/>
              <a:ea typeface="Raleway"/>
              <a:cs typeface="Raleway"/>
              <a:sym typeface="Raleway"/>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2"/>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TP2 Questions</a:t>
            </a:r>
            <a:endParaRPr/>
          </a:p>
        </p:txBody>
      </p:sp>
      <p:sp>
        <p:nvSpPr>
          <p:cNvPr id="210" name="Google Shape;210;p32"/>
          <p:cNvSpPr txBox="1"/>
          <p:nvPr/>
        </p:nvSpPr>
        <p:spPr>
          <a:xfrm>
            <a:off x="401100" y="1347475"/>
            <a:ext cx="8345400" cy="212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u="sng">
                <a:solidFill>
                  <a:schemeClr val="accent1"/>
                </a:solidFill>
                <a:latin typeface="Lato"/>
                <a:ea typeface="Lato"/>
                <a:cs typeface="Lato"/>
                <a:sym typeface="Lato"/>
              </a:rPr>
              <a:t>Q1. How many three-week courses can cadets choose from in year two?</a:t>
            </a:r>
            <a:endParaRPr sz="1800" u="sng">
              <a:solidFill>
                <a:schemeClr val="accent1"/>
              </a:solidFill>
              <a:latin typeface="Lato"/>
              <a:ea typeface="Lato"/>
              <a:cs typeface="Lato"/>
              <a:sym typeface="Lato"/>
            </a:endParaRPr>
          </a:p>
          <a:p>
            <a:pPr marL="0" lvl="0" indent="0" algn="l" rtl="0">
              <a:spcBef>
                <a:spcPts val="0"/>
              </a:spcBef>
              <a:spcAft>
                <a:spcPts val="0"/>
              </a:spcAft>
              <a:buNone/>
            </a:pPr>
            <a:endParaRPr sz="1800" u="sng">
              <a:solidFill>
                <a:schemeClr val="accent1"/>
              </a:solidFill>
              <a:latin typeface="Lato"/>
              <a:ea typeface="Lato"/>
              <a:cs typeface="Lato"/>
              <a:sym typeface="Lato"/>
            </a:endParaRPr>
          </a:p>
          <a:p>
            <a:pPr marL="0" lvl="0" indent="0" algn="l" rtl="0">
              <a:spcBef>
                <a:spcPts val="0"/>
              </a:spcBef>
              <a:spcAft>
                <a:spcPts val="0"/>
              </a:spcAft>
              <a:buNone/>
            </a:pPr>
            <a:endParaRPr sz="1800" u="sng">
              <a:solidFill>
                <a:schemeClr val="accent1"/>
              </a:solidFill>
              <a:latin typeface="Lato"/>
              <a:ea typeface="Lato"/>
              <a:cs typeface="Lato"/>
              <a:sym typeface="Lato"/>
            </a:endParaRPr>
          </a:p>
          <a:p>
            <a:pPr marL="0" lvl="0" indent="0" algn="l" rtl="0">
              <a:spcBef>
                <a:spcPts val="0"/>
              </a:spcBef>
              <a:spcAft>
                <a:spcPts val="0"/>
              </a:spcAft>
              <a:buNone/>
            </a:pPr>
            <a:r>
              <a:rPr lang="en" sz="1800" u="sng">
                <a:solidFill>
                  <a:schemeClr val="accent1"/>
                </a:solidFill>
                <a:latin typeface="Lato"/>
                <a:ea typeface="Lato"/>
                <a:cs typeface="Lato"/>
                <a:sym typeface="Lato"/>
              </a:rPr>
              <a:t>Q2. What are the common courses available in year two?</a:t>
            </a:r>
            <a:endParaRPr sz="1800" u="sng">
              <a:solidFill>
                <a:schemeClr val="accent1"/>
              </a:solidFill>
              <a:latin typeface="Lato"/>
              <a:ea typeface="Lato"/>
              <a:cs typeface="Lato"/>
              <a:sym typeface="Lato"/>
            </a:endParaRPr>
          </a:p>
          <a:p>
            <a:pPr marL="0" lvl="0" indent="0" algn="l" rtl="0">
              <a:spcBef>
                <a:spcPts val="0"/>
              </a:spcBef>
              <a:spcAft>
                <a:spcPts val="0"/>
              </a:spcAft>
              <a:buNone/>
            </a:pPr>
            <a:endParaRPr sz="1800" u="sng">
              <a:solidFill>
                <a:schemeClr val="accent1"/>
              </a:solidFill>
              <a:latin typeface="Lato"/>
              <a:ea typeface="Lato"/>
              <a:cs typeface="Lato"/>
              <a:sym typeface="Lato"/>
            </a:endParaRPr>
          </a:p>
          <a:p>
            <a:pPr marL="0" lvl="0" indent="0" algn="l" rtl="0">
              <a:spcBef>
                <a:spcPts val="0"/>
              </a:spcBef>
              <a:spcAft>
                <a:spcPts val="0"/>
              </a:spcAft>
              <a:buNone/>
            </a:pPr>
            <a:endParaRPr sz="1800" u="sng">
              <a:solidFill>
                <a:schemeClr val="accent1"/>
              </a:solidFill>
              <a:latin typeface="Lato"/>
              <a:ea typeface="Lato"/>
              <a:cs typeface="Lato"/>
              <a:sym typeface="Lato"/>
            </a:endParaRPr>
          </a:p>
          <a:p>
            <a:pPr marL="0" lvl="0" indent="0" algn="l" rtl="0">
              <a:spcBef>
                <a:spcPts val="0"/>
              </a:spcBef>
              <a:spcAft>
                <a:spcPts val="0"/>
              </a:spcAft>
              <a:buNone/>
            </a:pPr>
            <a:r>
              <a:rPr lang="en" sz="1800" u="sng">
                <a:solidFill>
                  <a:schemeClr val="accent1"/>
                </a:solidFill>
                <a:latin typeface="Lato"/>
                <a:ea typeface="Lato"/>
                <a:cs typeface="Lato"/>
                <a:sym typeface="Lato"/>
              </a:rPr>
              <a:t>Q3. What are the prerequisites to attend a year two CSTC course?</a:t>
            </a:r>
            <a:endParaRPr sz="1800" u="sng">
              <a:solidFill>
                <a:schemeClr val="accent1"/>
              </a:solidFill>
              <a:latin typeface="Lato"/>
              <a:ea typeface="Lato"/>
              <a:cs typeface="Lato"/>
              <a:sym typeface="Lato"/>
            </a:endParaRPr>
          </a:p>
        </p:txBody>
      </p:sp>
      <p:sp>
        <p:nvSpPr>
          <p:cNvPr id="211" name="Google Shape;211;p32"/>
          <p:cNvSpPr txBox="1"/>
          <p:nvPr/>
        </p:nvSpPr>
        <p:spPr>
          <a:xfrm>
            <a:off x="217325" y="1767625"/>
            <a:ext cx="83454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rgbClr val="FF0000"/>
                </a:solidFill>
                <a:latin typeface="Lato"/>
                <a:ea typeface="Lato"/>
                <a:cs typeface="Lato"/>
                <a:sym typeface="Lato"/>
              </a:rPr>
              <a:t>A1.  Eight (8) Courses</a:t>
            </a:r>
            <a:endParaRPr sz="1800">
              <a:solidFill>
                <a:srgbClr val="FF0000"/>
              </a:solidFill>
              <a:latin typeface="Lato"/>
              <a:ea typeface="Lato"/>
              <a:cs typeface="Lato"/>
              <a:sym typeface="Lato"/>
            </a:endParaRPr>
          </a:p>
        </p:txBody>
      </p:sp>
      <p:sp>
        <p:nvSpPr>
          <p:cNvPr id="212" name="Google Shape;212;p32"/>
          <p:cNvSpPr txBox="1"/>
          <p:nvPr/>
        </p:nvSpPr>
        <p:spPr>
          <a:xfrm>
            <a:off x="212700" y="2599600"/>
            <a:ext cx="8722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FF0000"/>
                </a:solidFill>
                <a:latin typeface="Lato"/>
                <a:ea typeface="Lato"/>
                <a:cs typeface="Lato"/>
                <a:sym typeface="Lato"/>
              </a:rPr>
              <a:t>A2. Basic Fitness and Sports, Basic Military Band Musician, and Basic Pipe and Drum Musician.</a:t>
            </a:r>
            <a:endParaRPr sz="1600">
              <a:solidFill>
                <a:srgbClr val="FF0000"/>
              </a:solidFill>
              <a:latin typeface="Lato"/>
              <a:ea typeface="Lato"/>
              <a:cs typeface="Lato"/>
              <a:sym typeface="Lato"/>
            </a:endParaRPr>
          </a:p>
        </p:txBody>
      </p:sp>
      <p:sp>
        <p:nvSpPr>
          <p:cNvPr id="213" name="Google Shape;213;p32"/>
          <p:cNvSpPr txBox="1"/>
          <p:nvPr/>
        </p:nvSpPr>
        <p:spPr>
          <a:xfrm>
            <a:off x="217325" y="3400975"/>
            <a:ext cx="8345400" cy="2016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a:solidFill>
                  <a:srgbClr val="FF0000"/>
                </a:solidFill>
                <a:latin typeface="Lato"/>
                <a:ea typeface="Lato"/>
                <a:cs typeface="Lato"/>
                <a:sym typeface="Lato"/>
              </a:rPr>
              <a:t>A3:	• Be proficiency level 2</a:t>
            </a:r>
            <a:endParaRPr sz="1700">
              <a:solidFill>
                <a:srgbClr val="FF0000"/>
              </a:solidFill>
              <a:latin typeface="Lato"/>
              <a:ea typeface="Lato"/>
              <a:cs typeface="Lato"/>
              <a:sym typeface="Lato"/>
            </a:endParaRPr>
          </a:p>
          <a:p>
            <a:pPr marL="457200" lvl="0" indent="0" algn="l" rtl="0">
              <a:spcBef>
                <a:spcPts val="0"/>
              </a:spcBef>
              <a:spcAft>
                <a:spcPts val="0"/>
              </a:spcAft>
              <a:buNone/>
            </a:pPr>
            <a:r>
              <a:rPr lang="en" sz="1700">
                <a:solidFill>
                  <a:srgbClr val="FF0000"/>
                </a:solidFill>
                <a:latin typeface="Lato"/>
                <a:ea typeface="Lato"/>
                <a:cs typeface="Lato"/>
                <a:sym typeface="Lato"/>
              </a:rPr>
              <a:t>• Complete level 2 at the end of the year (June 30)</a:t>
            </a:r>
            <a:endParaRPr sz="1700">
              <a:solidFill>
                <a:srgbClr val="FF0000"/>
              </a:solidFill>
              <a:latin typeface="Lato"/>
              <a:ea typeface="Lato"/>
              <a:cs typeface="Lato"/>
              <a:sym typeface="Lato"/>
            </a:endParaRPr>
          </a:p>
          <a:p>
            <a:pPr marL="457200" lvl="0" indent="0" algn="l" rtl="0">
              <a:spcBef>
                <a:spcPts val="0"/>
              </a:spcBef>
              <a:spcAft>
                <a:spcPts val="0"/>
              </a:spcAft>
              <a:buNone/>
            </a:pPr>
            <a:r>
              <a:rPr lang="en" sz="1700">
                <a:solidFill>
                  <a:srgbClr val="FF0000"/>
                </a:solidFill>
                <a:latin typeface="Lato"/>
                <a:ea typeface="Lato"/>
                <a:cs typeface="Lato"/>
                <a:sym typeface="Lato"/>
              </a:rPr>
              <a:t>• be medically and physically fit</a:t>
            </a:r>
            <a:endParaRPr sz="1700">
              <a:solidFill>
                <a:srgbClr val="FF0000"/>
              </a:solidFill>
              <a:latin typeface="Lato"/>
              <a:ea typeface="Lato"/>
              <a:cs typeface="Lato"/>
              <a:sym typeface="Lato"/>
            </a:endParaRPr>
          </a:p>
          <a:p>
            <a:pPr marL="457200" lvl="0" indent="0" algn="l" rtl="0">
              <a:spcBef>
                <a:spcPts val="0"/>
              </a:spcBef>
              <a:spcAft>
                <a:spcPts val="0"/>
              </a:spcAft>
              <a:buNone/>
            </a:pPr>
            <a:r>
              <a:rPr lang="en" sz="1700">
                <a:solidFill>
                  <a:srgbClr val="FF0000"/>
                </a:solidFill>
                <a:latin typeface="Lato"/>
                <a:ea typeface="Lato"/>
                <a:cs typeface="Lato"/>
                <a:sym typeface="Lato"/>
              </a:rPr>
              <a:t>• complete a CF-51 including the medical portion</a:t>
            </a:r>
            <a:endParaRPr sz="1700">
              <a:solidFill>
                <a:srgbClr val="FF0000"/>
              </a:solidFill>
              <a:latin typeface="Lato"/>
              <a:ea typeface="Lato"/>
              <a:cs typeface="Lato"/>
              <a:sym typeface="Lato"/>
            </a:endParaRPr>
          </a:p>
          <a:p>
            <a:pPr marL="457200" lvl="0" indent="0" algn="l" rtl="0">
              <a:spcBef>
                <a:spcPts val="0"/>
              </a:spcBef>
              <a:spcAft>
                <a:spcPts val="0"/>
              </a:spcAft>
              <a:buNone/>
            </a:pPr>
            <a:r>
              <a:rPr lang="en" sz="1700">
                <a:solidFill>
                  <a:srgbClr val="FF0000"/>
                </a:solidFill>
                <a:latin typeface="Lato"/>
                <a:ea typeface="Lato"/>
                <a:cs typeface="Lato"/>
                <a:sym typeface="Lato"/>
              </a:rPr>
              <a:t>• have parental consent</a:t>
            </a:r>
            <a:endParaRPr sz="1700">
              <a:solidFill>
                <a:srgbClr val="FF0000"/>
              </a:solidFill>
              <a:latin typeface="Lato"/>
              <a:ea typeface="Lato"/>
              <a:cs typeface="Lato"/>
              <a:sym typeface="Lato"/>
            </a:endParaRPr>
          </a:p>
          <a:p>
            <a:pPr marL="457200" lvl="0" indent="0" algn="l" rtl="0">
              <a:spcBef>
                <a:spcPts val="0"/>
              </a:spcBef>
              <a:spcAft>
                <a:spcPts val="0"/>
              </a:spcAft>
              <a:buNone/>
            </a:pPr>
            <a:r>
              <a:rPr lang="en" sz="1700">
                <a:solidFill>
                  <a:srgbClr val="FF0000"/>
                </a:solidFill>
                <a:latin typeface="Lato"/>
                <a:ea typeface="Lato"/>
                <a:cs typeface="Lato"/>
                <a:sym typeface="Lato"/>
              </a:rPr>
              <a:t>• be recommended by the squadron Commanding Officer.</a:t>
            </a:r>
            <a:endParaRPr sz="1700">
              <a:solidFill>
                <a:srgbClr val="FF0000"/>
              </a:solidFill>
              <a:latin typeface="Lato"/>
              <a:ea typeface="Lato"/>
              <a:cs typeface="Lato"/>
              <a:sym typeface="Lato"/>
            </a:endParaRPr>
          </a:p>
          <a:p>
            <a:pPr marL="0" lvl="0" indent="0" algn="l" rtl="0">
              <a:spcBef>
                <a:spcPts val="0"/>
              </a:spcBef>
              <a:spcAft>
                <a:spcPts val="0"/>
              </a:spcAft>
              <a:buNone/>
            </a:pPr>
            <a:endParaRPr sz="1700">
              <a:solidFill>
                <a:srgbClr val="FF0000"/>
              </a:solidFill>
              <a:latin typeface="Lato"/>
              <a:ea typeface="Lato"/>
              <a:cs typeface="Lato"/>
              <a:sym typeface="La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3"/>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Summary</a:t>
            </a:r>
            <a:endParaRPr/>
          </a:p>
        </p:txBody>
      </p:sp>
      <p:sp>
        <p:nvSpPr>
          <p:cNvPr id="219" name="Google Shape;219;p33"/>
          <p:cNvSpPr txBox="1">
            <a:spLocks noGrp="1"/>
          </p:cNvSpPr>
          <p:nvPr>
            <p:ph type="body" idx="1"/>
          </p:nvPr>
        </p:nvSpPr>
        <p:spPr>
          <a:xfrm>
            <a:off x="729450" y="1962950"/>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000"/>
              <a:t>We covered:</a:t>
            </a:r>
            <a:endParaRPr sz="2000"/>
          </a:p>
          <a:p>
            <a:pPr marL="457200" lvl="0" indent="-355600" algn="l" rtl="0">
              <a:spcBef>
                <a:spcPts val="1200"/>
              </a:spcBef>
              <a:spcAft>
                <a:spcPts val="0"/>
              </a:spcAft>
              <a:buSzPts val="2000"/>
              <a:buChar char="●"/>
            </a:pPr>
            <a:r>
              <a:rPr lang="en" sz="2000"/>
              <a:t>Many different areas of CSTC training opportunities</a:t>
            </a:r>
            <a:endParaRPr sz="2000"/>
          </a:p>
          <a:p>
            <a:pPr marL="457200" lvl="0" indent="-355600" algn="l" rtl="0">
              <a:spcBef>
                <a:spcPts val="0"/>
              </a:spcBef>
              <a:spcAft>
                <a:spcPts val="0"/>
              </a:spcAft>
              <a:buSzPts val="2000"/>
              <a:buChar char="●"/>
            </a:pPr>
            <a:r>
              <a:rPr lang="en" sz="2000"/>
              <a:t>8 available courses for level 2 cadets</a:t>
            </a:r>
            <a:endParaRPr sz="2000"/>
          </a:p>
          <a:p>
            <a:pPr marL="457200" lvl="0" indent="-355600" algn="l" rtl="0">
              <a:spcBef>
                <a:spcPts val="0"/>
              </a:spcBef>
              <a:spcAft>
                <a:spcPts val="0"/>
              </a:spcAft>
              <a:buSzPts val="2000"/>
              <a:buChar char="●"/>
            </a:pPr>
            <a:r>
              <a:rPr lang="en" sz="2000"/>
              <a:t>Requirements needed to attend the summer courses</a:t>
            </a:r>
            <a:endParaRPr sz="2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4"/>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sz="4488" i="1"/>
              <a:t>Thanks For Listening</a:t>
            </a:r>
            <a:endParaRPr sz="4488" i="1"/>
          </a:p>
          <a:p>
            <a:pPr marL="0" lvl="0" indent="0" algn="l" rtl="0">
              <a:spcBef>
                <a:spcPts val="0"/>
              </a:spcBef>
              <a:spcAft>
                <a:spcPts val="0"/>
              </a:spcAft>
              <a:buNone/>
            </a:pPr>
            <a:r>
              <a:rPr lang="en">
                <a:solidFill>
                  <a:srgbClr val="666666"/>
                </a:solidFill>
              </a:rPr>
              <a:t>EOM207.04 Identify Year Two CSTC Training Opportunities</a:t>
            </a:r>
            <a:endParaRPr>
              <a:solidFill>
                <a:srgbClr val="666666"/>
              </a:solidFill>
            </a:endParaRPr>
          </a:p>
        </p:txBody>
      </p:sp>
    </p:spTree>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986</Words>
  <Application>Microsoft Office PowerPoint</Application>
  <PresentationFormat>On-screen Show (16:9)</PresentationFormat>
  <Paragraphs>108</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Raleway</vt:lpstr>
      <vt:lpstr>Lato</vt:lpstr>
      <vt:lpstr>Arial</vt:lpstr>
      <vt:lpstr>Streamline</vt:lpstr>
      <vt:lpstr>EOM207.04 Identify Year 2 CSTC Training Opportunities</vt:lpstr>
      <vt:lpstr>Purpose</vt:lpstr>
      <vt:lpstr>Teaching Points</vt:lpstr>
      <vt:lpstr>First Teaching Point: Discuss the Speciality Areas for Year Two CSTC Training  </vt:lpstr>
      <vt:lpstr>FITNESS AND SPORTS</vt:lpstr>
      <vt:lpstr>PowerPoint Presentation</vt:lpstr>
      <vt:lpstr>MARKSMANSHIP</vt:lpstr>
      <vt:lpstr>LEADERSHIP</vt:lpstr>
      <vt:lpstr>AVIATION</vt:lpstr>
      <vt:lpstr>AVIATION TECHNOLOGY</vt:lpstr>
      <vt:lpstr>AEROSPACE</vt:lpstr>
      <vt:lpstr>AIRCREW SURVIVAL</vt:lpstr>
      <vt:lpstr>Discussion</vt:lpstr>
      <vt:lpstr>Second Teaching Point: Describe Year Two CSTC Courses  </vt:lpstr>
      <vt:lpstr>PREREQUISITES FOR ATTENDING A YEAR TWO CSTC COURSE</vt:lpstr>
      <vt:lpstr>Common Courses</vt:lpstr>
      <vt:lpstr>PowerPoint Presentation</vt:lpstr>
      <vt:lpstr>PowerPoint Presentation</vt:lpstr>
      <vt:lpstr>PowerPoint Presentation</vt:lpstr>
      <vt:lpstr>TP2 Questions</vt:lpstr>
      <vt:lpstr>Summary</vt:lpstr>
      <vt:lpstr>Thanks For Listening EOM207.04 Identify Year Two CSTC Training Opportunities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Kevin Zhu</cp:lastModifiedBy>
  <cp:revision>1</cp:revision>
  <dcterms:modified xsi:type="dcterms:W3CDTF">2025-06-08T10:57:39Z</dcterms:modified>
</cp:coreProperties>
</file>