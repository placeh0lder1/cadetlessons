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741" autoAdjust="0"/>
  </p:normalViewPr>
  <p:slideViewPr>
    <p:cSldViewPr snapToGrid="0">
      <p:cViewPr varScale="1">
        <p:scale>
          <a:sx n="85" d="100"/>
          <a:sy n="85" d="100"/>
        </p:scale>
        <p:origin x="15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134D04-1D7E-48E4-9F9D-F742EBBB9A6C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730438-8068-458A-AF9D-F091E2099574}">
      <dgm:prSet/>
      <dgm:spPr/>
      <dgm:t>
        <a:bodyPr/>
        <a:lstStyle/>
        <a:p>
          <a:r>
            <a:rPr lang="en-US" b="1"/>
            <a:t>TP1 Identify Aircraft Systems</a:t>
          </a:r>
        </a:p>
      </dgm:t>
    </dgm:pt>
    <dgm:pt modelId="{8E1AA983-55CD-4A1B-97A2-8001BB094770}" type="parTrans" cxnId="{731127B1-353A-4CD9-9A29-0A1F8CE1963F}">
      <dgm:prSet/>
      <dgm:spPr/>
      <dgm:t>
        <a:bodyPr/>
        <a:lstStyle/>
        <a:p>
          <a:endParaRPr lang="en-US"/>
        </a:p>
      </dgm:t>
    </dgm:pt>
    <dgm:pt modelId="{CB2DDBA1-5958-4270-A26E-620D593522E9}" type="sibTrans" cxnId="{731127B1-353A-4CD9-9A29-0A1F8CE1963F}">
      <dgm:prSet/>
      <dgm:spPr/>
      <dgm:t>
        <a:bodyPr/>
        <a:lstStyle/>
        <a:p>
          <a:endParaRPr lang="en-US"/>
        </a:p>
      </dgm:t>
    </dgm:pt>
    <dgm:pt modelId="{AA76745D-5D16-42CB-BB56-59F70E14A64B}">
      <dgm:prSet/>
      <dgm:spPr/>
      <dgm:t>
        <a:bodyPr/>
        <a:lstStyle/>
        <a:p>
          <a:r>
            <a:rPr lang="en-US" b="1"/>
            <a:t>TP2 Identify the Materials Used in Aircraft Manufacturing</a:t>
          </a:r>
        </a:p>
      </dgm:t>
    </dgm:pt>
    <dgm:pt modelId="{E71DDFFF-818A-43ED-930D-43CD47815682}" type="parTrans" cxnId="{3825A39C-2C36-40AA-BFC3-446E97E802F3}">
      <dgm:prSet/>
      <dgm:spPr/>
      <dgm:t>
        <a:bodyPr/>
        <a:lstStyle/>
        <a:p>
          <a:endParaRPr lang="en-US"/>
        </a:p>
      </dgm:t>
    </dgm:pt>
    <dgm:pt modelId="{2E4EA84D-D546-4943-87E2-8F8C96E73BF5}" type="sibTrans" cxnId="{3825A39C-2C36-40AA-BFC3-446E97E802F3}">
      <dgm:prSet/>
      <dgm:spPr/>
      <dgm:t>
        <a:bodyPr/>
        <a:lstStyle/>
        <a:p>
          <a:endParaRPr lang="en-US"/>
        </a:p>
      </dgm:t>
    </dgm:pt>
    <dgm:pt modelId="{ACE6425C-9165-4CE9-A8BC-43D0C527903C}">
      <dgm:prSet/>
      <dgm:spPr/>
      <dgm:t>
        <a:bodyPr/>
        <a:lstStyle/>
        <a:p>
          <a:r>
            <a:rPr lang="en-US" b="1"/>
            <a:t>TP3 Discuss Careers Within the Aircraft Manufacturing Industry</a:t>
          </a:r>
        </a:p>
      </dgm:t>
    </dgm:pt>
    <dgm:pt modelId="{8A45CEF3-0877-43A0-9BA5-04FBA66B8BF4}" type="parTrans" cxnId="{8BC00386-D0BD-4D87-BA93-10ED16FAADEF}">
      <dgm:prSet/>
      <dgm:spPr/>
      <dgm:t>
        <a:bodyPr/>
        <a:lstStyle/>
        <a:p>
          <a:endParaRPr lang="en-US"/>
        </a:p>
      </dgm:t>
    </dgm:pt>
    <dgm:pt modelId="{E8ADE8F5-9692-4BE7-AB30-D6B7A4DD149B}" type="sibTrans" cxnId="{8BC00386-D0BD-4D87-BA93-10ED16FAADEF}">
      <dgm:prSet/>
      <dgm:spPr/>
      <dgm:t>
        <a:bodyPr/>
        <a:lstStyle/>
        <a:p>
          <a:endParaRPr lang="en-US"/>
        </a:p>
      </dgm:t>
    </dgm:pt>
    <dgm:pt modelId="{CCF57522-540C-420D-A8EB-A962F5531D94}" type="pres">
      <dgm:prSet presAssocID="{FF134D04-1D7E-48E4-9F9D-F742EBBB9A6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7E95E4-22FA-44C1-B89C-00EC4CE2E33C}" type="pres">
      <dgm:prSet presAssocID="{56730438-8068-458A-AF9D-F091E2099574}" presName="hierRoot1" presStyleCnt="0"/>
      <dgm:spPr/>
    </dgm:pt>
    <dgm:pt modelId="{63605756-E358-44FB-8A01-785873D774F3}" type="pres">
      <dgm:prSet presAssocID="{56730438-8068-458A-AF9D-F091E2099574}" presName="composite" presStyleCnt="0"/>
      <dgm:spPr/>
    </dgm:pt>
    <dgm:pt modelId="{C0C98A08-1318-4BA9-A94B-A8E39657DBF5}" type="pres">
      <dgm:prSet presAssocID="{56730438-8068-458A-AF9D-F091E2099574}" presName="background" presStyleLbl="node0" presStyleIdx="0" presStyleCnt="3"/>
      <dgm:spPr/>
    </dgm:pt>
    <dgm:pt modelId="{B0A26D45-AC47-4A77-8F5B-27B1D2988782}" type="pres">
      <dgm:prSet presAssocID="{56730438-8068-458A-AF9D-F091E2099574}" presName="text" presStyleLbl="fgAcc0" presStyleIdx="0" presStyleCnt="3">
        <dgm:presLayoutVars>
          <dgm:chPref val="3"/>
        </dgm:presLayoutVars>
      </dgm:prSet>
      <dgm:spPr/>
    </dgm:pt>
    <dgm:pt modelId="{D15AB316-0E2B-4EE8-8A3B-156A58DBABC1}" type="pres">
      <dgm:prSet presAssocID="{56730438-8068-458A-AF9D-F091E2099574}" presName="hierChild2" presStyleCnt="0"/>
      <dgm:spPr/>
    </dgm:pt>
    <dgm:pt modelId="{4DDF8476-28CA-4F84-A816-6373ECF81201}" type="pres">
      <dgm:prSet presAssocID="{AA76745D-5D16-42CB-BB56-59F70E14A64B}" presName="hierRoot1" presStyleCnt="0"/>
      <dgm:spPr/>
    </dgm:pt>
    <dgm:pt modelId="{BE2ECF7A-948F-4BE1-8EEF-D59602A31F7A}" type="pres">
      <dgm:prSet presAssocID="{AA76745D-5D16-42CB-BB56-59F70E14A64B}" presName="composite" presStyleCnt="0"/>
      <dgm:spPr/>
    </dgm:pt>
    <dgm:pt modelId="{03E37983-75BC-4477-B839-869AA6D27615}" type="pres">
      <dgm:prSet presAssocID="{AA76745D-5D16-42CB-BB56-59F70E14A64B}" presName="background" presStyleLbl="node0" presStyleIdx="1" presStyleCnt="3"/>
      <dgm:spPr/>
    </dgm:pt>
    <dgm:pt modelId="{5B40D83B-31A6-4520-8582-509CB8261056}" type="pres">
      <dgm:prSet presAssocID="{AA76745D-5D16-42CB-BB56-59F70E14A64B}" presName="text" presStyleLbl="fgAcc0" presStyleIdx="1" presStyleCnt="3">
        <dgm:presLayoutVars>
          <dgm:chPref val="3"/>
        </dgm:presLayoutVars>
      </dgm:prSet>
      <dgm:spPr/>
    </dgm:pt>
    <dgm:pt modelId="{6F6545F6-55E2-4DFE-A7FB-D14A7E00DE9D}" type="pres">
      <dgm:prSet presAssocID="{AA76745D-5D16-42CB-BB56-59F70E14A64B}" presName="hierChild2" presStyleCnt="0"/>
      <dgm:spPr/>
    </dgm:pt>
    <dgm:pt modelId="{4F2FCFA7-89E3-4E00-A72D-B95748D585F4}" type="pres">
      <dgm:prSet presAssocID="{ACE6425C-9165-4CE9-A8BC-43D0C527903C}" presName="hierRoot1" presStyleCnt="0"/>
      <dgm:spPr/>
    </dgm:pt>
    <dgm:pt modelId="{2501761F-3932-4456-B527-DF4A3292F166}" type="pres">
      <dgm:prSet presAssocID="{ACE6425C-9165-4CE9-A8BC-43D0C527903C}" presName="composite" presStyleCnt="0"/>
      <dgm:spPr/>
    </dgm:pt>
    <dgm:pt modelId="{06DA8CB6-E5ED-42DD-8C16-264A862A15AA}" type="pres">
      <dgm:prSet presAssocID="{ACE6425C-9165-4CE9-A8BC-43D0C527903C}" presName="background" presStyleLbl="node0" presStyleIdx="2" presStyleCnt="3"/>
      <dgm:spPr/>
    </dgm:pt>
    <dgm:pt modelId="{1819C02D-4B80-4611-9201-05B3A86F17EA}" type="pres">
      <dgm:prSet presAssocID="{ACE6425C-9165-4CE9-A8BC-43D0C527903C}" presName="text" presStyleLbl="fgAcc0" presStyleIdx="2" presStyleCnt="3">
        <dgm:presLayoutVars>
          <dgm:chPref val="3"/>
        </dgm:presLayoutVars>
      </dgm:prSet>
      <dgm:spPr/>
    </dgm:pt>
    <dgm:pt modelId="{C7562980-75BC-4397-996D-A5599A5D1D3D}" type="pres">
      <dgm:prSet presAssocID="{ACE6425C-9165-4CE9-A8BC-43D0C527903C}" presName="hierChild2" presStyleCnt="0"/>
      <dgm:spPr/>
    </dgm:pt>
  </dgm:ptLst>
  <dgm:cxnLst>
    <dgm:cxn modelId="{703ED546-CFCB-4160-B730-F827AC5510AA}" type="presOf" srcId="{FF134D04-1D7E-48E4-9F9D-F742EBBB9A6C}" destId="{CCF57522-540C-420D-A8EB-A962F5531D94}" srcOrd="0" destOrd="0" presId="urn:microsoft.com/office/officeart/2005/8/layout/hierarchy1"/>
    <dgm:cxn modelId="{3C4E906F-3A59-41E0-A8E4-A126F28B7475}" type="presOf" srcId="{ACE6425C-9165-4CE9-A8BC-43D0C527903C}" destId="{1819C02D-4B80-4611-9201-05B3A86F17EA}" srcOrd="0" destOrd="0" presId="urn:microsoft.com/office/officeart/2005/8/layout/hierarchy1"/>
    <dgm:cxn modelId="{8BC00386-D0BD-4D87-BA93-10ED16FAADEF}" srcId="{FF134D04-1D7E-48E4-9F9D-F742EBBB9A6C}" destId="{ACE6425C-9165-4CE9-A8BC-43D0C527903C}" srcOrd="2" destOrd="0" parTransId="{8A45CEF3-0877-43A0-9BA5-04FBA66B8BF4}" sibTransId="{E8ADE8F5-9692-4BE7-AB30-D6B7A4DD149B}"/>
    <dgm:cxn modelId="{3825A39C-2C36-40AA-BFC3-446E97E802F3}" srcId="{FF134D04-1D7E-48E4-9F9D-F742EBBB9A6C}" destId="{AA76745D-5D16-42CB-BB56-59F70E14A64B}" srcOrd="1" destOrd="0" parTransId="{E71DDFFF-818A-43ED-930D-43CD47815682}" sibTransId="{2E4EA84D-D546-4943-87E2-8F8C96E73BF5}"/>
    <dgm:cxn modelId="{731127B1-353A-4CD9-9A29-0A1F8CE1963F}" srcId="{FF134D04-1D7E-48E4-9F9D-F742EBBB9A6C}" destId="{56730438-8068-458A-AF9D-F091E2099574}" srcOrd="0" destOrd="0" parTransId="{8E1AA983-55CD-4A1B-97A2-8001BB094770}" sibTransId="{CB2DDBA1-5958-4270-A26E-620D593522E9}"/>
    <dgm:cxn modelId="{FD7E93CE-DFBD-4B64-B767-99FFAB44BCA3}" type="presOf" srcId="{AA76745D-5D16-42CB-BB56-59F70E14A64B}" destId="{5B40D83B-31A6-4520-8582-509CB8261056}" srcOrd="0" destOrd="0" presId="urn:microsoft.com/office/officeart/2005/8/layout/hierarchy1"/>
    <dgm:cxn modelId="{98348FF1-3409-47F6-81F5-957C9974E916}" type="presOf" srcId="{56730438-8068-458A-AF9D-F091E2099574}" destId="{B0A26D45-AC47-4A77-8F5B-27B1D2988782}" srcOrd="0" destOrd="0" presId="urn:microsoft.com/office/officeart/2005/8/layout/hierarchy1"/>
    <dgm:cxn modelId="{D214A6F6-08C0-4E5F-8460-CA307103529D}" type="presParOf" srcId="{CCF57522-540C-420D-A8EB-A962F5531D94}" destId="{257E95E4-22FA-44C1-B89C-00EC4CE2E33C}" srcOrd="0" destOrd="0" presId="urn:microsoft.com/office/officeart/2005/8/layout/hierarchy1"/>
    <dgm:cxn modelId="{64926CF4-F147-45A3-878E-95B222CA68DA}" type="presParOf" srcId="{257E95E4-22FA-44C1-B89C-00EC4CE2E33C}" destId="{63605756-E358-44FB-8A01-785873D774F3}" srcOrd="0" destOrd="0" presId="urn:microsoft.com/office/officeart/2005/8/layout/hierarchy1"/>
    <dgm:cxn modelId="{ECBAC002-85E9-4FDD-BECB-815A8302DDBF}" type="presParOf" srcId="{63605756-E358-44FB-8A01-785873D774F3}" destId="{C0C98A08-1318-4BA9-A94B-A8E39657DBF5}" srcOrd="0" destOrd="0" presId="urn:microsoft.com/office/officeart/2005/8/layout/hierarchy1"/>
    <dgm:cxn modelId="{BD1B7D95-9105-4B3E-9712-15937A51F730}" type="presParOf" srcId="{63605756-E358-44FB-8A01-785873D774F3}" destId="{B0A26D45-AC47-4A77-8F5B-27B1D2988782}" srcOrd="1" destOrd="0" presId="urn:microsoft.com/office/officeart/2005/8/layout/hierarchy1"/>
    <dgm:cxn modelId="{4A6EFB84-CE62-4798-94AE-5B24F49B5C17}" type="presParOf" srcId="{257E95E4-22FA-44C1-B89C-00EC4CE2E33C}" destId="{D15AB316-0E2B-4EE8-8A3B-156A58DBABC1}" srcOrd="1" destOrd="0" presId="urn:microsoft.com/office/officeart/2005/8/layout/hierarchy1"/>
    <dgm:cxn modelId="{C6D19372-FED7-4951-B6D7-C65D3DCCB898}" type="presParOf" srcId="{CCF57522-540C-420D-A8EB-A962F5531D94}" destId="{4DDF8476-28CA-4F84-A816-6373ECF81201}" srcOrd="1" destOrd="0" presId="urn:microsoft.com/office/officeart/2005/8/layout/hierarchy1"/>
    <dgm:cxn modelId="{DAAA5C82-CD8D-429C-B459-F85EE4430D22}" type="presParOf" srcId="{4DDF8476-28CA-4F84-A816-6373ECF81201}" destId="{BE2ECF7A-948F-4BE1-8EEF-D59602A31F7A}" srcOrd="0" destOrd="0" presId="urn:microsoft.com/office/officeart/2005/8/layout/hierarchy1"/>
    <dgm:cxn modelId="{FC79467F-CBB7-4BD4-84F1-E5F0E5685BE7}" type="presParOf" srcId="{BE2ECF7A-948F-4BE1-8EEF-D59602A31F7A}" destId="{03E37983-75BC-4477-B839-869AA6D27615}" srcOrd="0" destOrd="0" presId="urn:microsoft.com/office/officeart/2005/8/layout/hierarchy1"/>
    <dgm:cxn modelId="{0D5835C0-D88C-4B83-98A0-4CD8469A6690}" type="presParOf" srcId="{BE2ECF7A-948F-4BE1-8EEF-D59602A31F7A}" destId="{5B40D83B-31A6-4520-8582-509CB8261056}" srcOrd="1" destOrd="0" presId="urn:microsoft.com/office/officeart/2005/8/layout/hierarchy1"/>
    <dgm:cxn modelId="{BB505C06-1146-421F-90F0-B28922ADEFAE}" type="presParOf" srcId="{4DDF8476-28CA-4F84-A816-6373ECF81201}" destId="{6F6545F6-55E2-4DFE-A7FB-D14A7E00DE9D}" srcOrd="1" destOrd="0" presId="urn:microsoft.com/office/officeart/2005/8/layout/hierarchy1"/>
    <dgm:cxn modelId="{16D0BB84-7B71-421C-A2E6-E10CAE878587}" type="presParOf" srcId="{CCF57522-540C-420D-A8EB-A962F5531D94}" destId="{4F2FCFA7-89E3-4E00-A72D-B95748D585F4}" srcOrd="2" destOrd="0" presId="urn:microsoft.com/office/officeart/2005/8/layout/hierarchy1"/>
    <dgm:cxn modelId="{0FB0F29E-71F3-44EA-83FC-A6DEE65D63D5}" type="presParOf" srcId="{4F2FCFA7-89E3-4E00-A72D-B95748D585F4}" destId="{2501761F-3932-4456-B527-DF4A3292F166}" srcOrd="0" destOrd="0" presId="urn:microsoft.com/office/officeart/2005/8/layout/hierarchy1"/>
    <dgm:cxn modelId="{3EDCA7E2-8282-48D0-BB58-DABF2103B1CF}" type="presParOf" srcId="{2501761F-3932-4456-B527-DF4A3292F166}" destId="{06DA8CB6-E5ED-42DD-8C16-264A862A15AA}" srcOrd="0" destOrd="0" presId="urn:microsoft.com/office/officeart/2005/8/layout/hierarchy1"/>
    <dgm:cxn modelId="{9ECE3C4F-457A-4D5D-9A4B-43DFDCE8BD63}" type="presParOf" srcId="{2501761F-3932-4456-B527-DF4A3292F166}" destId="{1819C02D-4B80-4611-9201-05B3A86F17EA}" srcOrd="1" destOrd="0" presId="urn:microsoft.com/office/officeart/2005/8/layout/hierarchy1"/>
    <dgm:cxn modelId="{B800E340-2A48-484E-B209-71C96896603A}" type="presParOf" srcId="{4F2FCFA7-89E3-4E00-A72D-B95748D585F4}" destId="{C7562980-75BC-4397-996D-A5599A5D1D3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98A08-1318-4BA9-A94B-A8E39657DBF5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0A26D45-AC47-4A77-8F5B-27B1D2988782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TP1 Identify Aircraft Systems</a:t>
          </a:r>
        </a:p>
      </dsp:txBody>
      <dsp:txXfrm>
        <a:off x="383617" y="1447754"/>
        <a:ext cx="2847502" cy="1768010"/>
      </dsp:txXfrm>
    </dsp:sp>
    <dsp:sp modelId="{03E37983-75BC-4477-B839-869AA6D27615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40D83B-31A6-4520-8582-509CB8261056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TP2 Identify the Materials Used in Aircraft Manufacturing</a:t>
          </a:r>
        </a:p>
      </dsp:txBody>
      <dsp:txXfrm>
        <a:off x="3998355" y="1447754"/>
        <a:ext cx="2847502" cy="1768010"/>
      </dsp:txXfrm>
    </dsp:sp>
    <dsp:sp modelId="{06DA8CB6-E5ED-42DD-8C16-264A862A15AA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819C02D-4B80-4611-9201-05B3A86F17EA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TP3 Discuss Careers Within the Aircraft Manufacturing Industry</a:t>
          </a:r>
        </a:p>
      </dsp:txBody>
      <dsp:txXfrm>
        <a:off x="7613092" y="1447754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336BA1-2128-4F73-A332-6D811055ADB5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E82F74-9746-4F6E-9265-9D1BA20FB06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5246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2F74-9746-4F6E-9265-9D1BA20FB06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0196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to World War II, few airplanes were equipped for flight without using ground reference navigation or pilotage.</a:t>
            </a:r>
          </a:p>
          <a:p>
            <a:r>
              <a:rPr lang="en-US" dirty="0"/>
              <a:t>Few decades later</a:t>
            </a:r>
          </a:p>
          <a:p>
            <a:r>
              <a:rPr lang="en-US" dirty="0"/>
              <a:t>Modern aircrafts have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Flight instruments such as altimeter, airspeed, vertical speed indictor. </a:t>
            </a:r>
            <a:r>
              <a:rPr lang="en-US" dirty="0"/>
              <a:t>Integrated circuits, containing microprocessors and other digital electronics, have revolutionized flight instrumentation and control systems. New generation flight instruments show textual and analog information on brightly </a:t>
            </a:r>
            <a:r>
              <a:rPr lang="en-US" dirty="0" err="1"/>
              <a:t>coloured</a:t>
            </a:r>
            <a:r>
              <a:rPr lang="en-US" dirty="0"/>
              <a:t> displays. </a:t>
            </a:r>
            <a:endParaRPr lang="en-CA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Component manufacturers or certified repair stations service many of the electrical components.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2F74-9746-4F6E-9265-9D1BA20FB06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3392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Q1. List the aircraft systems manufactured to be used in assembling an aircraft. </a:t>
            </a:r>
          </a:p>
          <a:p>
            <a:r>
              <a:rPr lang="en-US" sz="1200" dirty="0"/>
              <a:t>• Aircraft instrument systems</a:t>
            </a:r>
          </a:p>
          <a:p>
            <a:r>
              <a:rPr lang="en-US" sz="1200" dirty="0"/>
              <a:t>• Airframe electrical systems</a:t>
            </a:r>
          </a:p>
          <a:p>
            <a:r>
              <a:rPr lang="en-US" sz="1200" dirty="0"/>
              <a:t>• Hydraulic and pneumatic systems</a:t>
            </a:r>
          </a:p>
          <a:p>
            <a:r>
              <a:rPr lang="en-US" sz="1200" dirty="0"/>
              <a:t>• Aircraft landing gear systems</a:t>
            </a:r>
          </a:p>
          <a:p>
            <a:r>
              <a:rPr lang="en-US" sz="1200" dirty="0"/>
              <a:t>• Aircraft fuel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Q2. What do aircraft manufacturers equip larger aircraft with for their control systems?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A2. Aircraft manufacturers equip larger aircraft with hydraulic or pneumatic control systems for their primary control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Q3. What are some of the other components involved in manufacturing landing gear?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A3. Retraction systems, shock absorbing and non-shock absorbing systems, aircraft wheels, nose wheel steering systems and aircraft brakes are some of the other components involved in manufacturing landing gear</a:t>
            </a: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2F74-9746-4F6E-9265-9D1BA20FB06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029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Q1. List the aircraft systems manufactured to be used in assembling an aircraft. </a:t>
            </a:r>
          </a:p>
          <a:p>
            <a:r>
              <a:rPr lang="en-US" sz="1200" dirty="0"/>
              <a:t>• Aircraft instrument systems</a:t>
            </a:r>
          </a:p>
          <a:p>
            <a:r>
              <a:rPr lang="en-US" sz="1200" dirty="0"/>
              <a:t>• Airframe electrical systems</a:t>
            </a:r>
          </a:p>
          <a:p>
            <a:r>
              <a:rPr lang="en-US" sz="1200" dirty="0"/>
              <a:t>• Hydraulic and pneumatic systems</a:t>
            </a:r>
          </a:p>
          <a:p>
            <a:r>
              <a:rPr lang="en-US" sz="1200" dirty="0"/>
              <a:t>• Aircraft landing gear systems</a:t>
            </a:r>
          </a:p>
          <a:p>
            <a:r>
              <a:rPr lang="en-US" sz="1200" dirty="0"/>
              <a:t>• Aircraft fuel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Q2. What do aircraft manufacturers equip larger aircraft with for their control systems?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A2. Aircraft manufacturers equip larger aircraft with hydraulic or pneumatic control systems for their primary control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Q3. What are some of the other components involved in manufacturing landing gear?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A3. Retraction systems, shock absorbing and non-shock absorbing systems, aircraft wheels, nose wheel steering systems and aircraft brakes are some of the other components involved in manufacturing landing gear</a:t>
            </a: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2F74-9746-4F6E-9265-9D1BA20FB06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7205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Q1. What was the breakthrough that occurred in the aircraft </a:t>
            </a:r>
            <a:r>
              <a:rPr lang="en-US" dirty="0" err="1"/>
              <a:t>aluminium</a:t>
            </a:r>
            <a:r>
              <a:rPr lang="en-US" dirty="0"/>
              <a:t> industry? </a:t>
            </a:r>
          </a:p>
          <a:p>
            <a:r>
              <a:rPr lang="en-US" dirty="0"/>
              <a:t>Q2. Name four non-ferrous metals. </a:t>
            </a:r>
          </a:p>
          <a:p>
            <a:r>
              <a:rPr lang="en-US" dirty="0"/>
              <a:t>Q3. What are some of the more common non-ferrous metals used in aircraft manufacturing and repair? </a:t>
            </a:r>
          </a:p>
          <a:p>
            <a:r>
              <a:rPr lang="en-US" dirty="0"/>
              <a:t>A1. Metallurgists found that mixing, or alloying aluminum with other metals resulted in a much stronger material. </a:t>
            </a:r>
          </a:p>
          <a:p>
            <a:r>
              <a:rPr lang="en-US" dirty="0"/>
              <a:t>A2. Four non-ferrous metals are: • aluminum and its alloys, titanium, • nickel, and • copper. </a:t>
            </a:r>
          </a:p>
          <a:p>
            <a:r>
              <a:rPr lang="en-US" dirty="0"/>
              <a:t>A3. Aluminum, titanium, nickel and copper are some of the more common non-ferrous metals used in aircraft manufacturing and repair.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2F74-9746-4F6E-9265-9D1BA20FB06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076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E82F74-9746-4F6E-9265-9D1BA20FB06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212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3B79-B41D-577D-F6FB-79F3F7FB2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2CE60-44D1-B9EF-F5BF-41F9597C9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05FEC-C2F0-75C1-AF34-BAD9E5CA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3A93-B153-0603-CE31-709F7E1AC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10A7A-3EF4-AF0F-444E-E2C56E83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231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42F6-F75F-398F-B6C9-D5AF2037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436AC-B2B8-B4E1-63B8-4BA3A2AB4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94BE-ED2E-EB4E-F6E3-C8CB0AE3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9290A-4EA2-57E9-7AA1-3D023D76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55E81-1122-97A8-F58D-FD3FC168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198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B919-1A4B-1F4D-52E6-176F2D2A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F08D7-B9C1-078B-4397-4BC4FFF1F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C203-DEED-0324-9485-4D412638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564DE-FCF3-4D3A-C8AB-A3FD4F1B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D6A45-6751-F41F-3810-278FE578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6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5AB7-8D27-F752-2B4A-5F1B83A3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33D7C-041B-529F-D364-F5F8CB3FF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55C33-E65A-1E37-1BA3-292B1A141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75204-FF19-7DEC-8E0A-E2659931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CA807-C388-E0F8-07D0-24D839FD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E587F-71A5-74BF-3522-0C14030B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697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3C944-F75C-A74C-2C65-80F38863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3540D-1D09-26EC-A531-0D29D4B63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EF5-3FC9-C566-F45C-472547D6D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2F0DC3-A001-B1A0-CBD6-23A99D9BD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C68998-B92B-3894-5F1B-223970ED8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72CDC-14FD-3D8D-9F6F-772D2BAF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55BD5C-A482-F8B8-7068-9B73B314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5E51C-4911-EDF2-7AC3-1F64EE29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673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CF82-18C6-AC92-040A-5E0B3FABA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A31A09-5BC1-F11E-4EE8-021C64068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D5181-4E87-CE29-D754-1697334F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4B856-CE1F-3358-ADC1-16A1AFD0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05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8DB32-B89B-A557-6A07-34EF0A94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90F24-6F6A-872C-4850-4464BB78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CBA7-5E55-10ED-88AD-945DFA11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222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1D8F-4921-C176-5E81-B1A000D0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4218C-8336-A8BF-907C-41328297E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95163-17E7-B7FF-DF03-DB501987B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C2DC5-DA83-4228-EFA7-79C102B7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2D45C-0108-0E47-0A28-D27D0124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FCD7D-27B9-AE39-E036-2F155A36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021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706C6-2910-9BDC-D692-6047D4E3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FE099-9CCC-436F-425F-D9DD9F15E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A37AC-872C-C264-D49F-98A2EB65C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8C8F-504B-BD1C-129E-21D63E8C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58A36-7F03-BD8C-A87D-83A9CBDB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2ECB4-293A-311D-83EA-BCC2E320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713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4772-A7D2-2497-1035-084502DE5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69389-D138-3A4F-C62A-70DFE4E6B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4F5BD-FC5E-7CCF-2FE0-E6061432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562B0-9563-98AC-0A7C-B1BA658E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3CED4-D93F-4B32-5BDF-FAAEFB29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393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351548-6D88-B141-F7E3-25F3ABAE7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DCF62-76B4-A494-2C16-5114C6427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941CB-F170-13F6-5D02-1BCCDC06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833EF-0526-F380-2A16-8774DFBC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B287D-1E0D-DD68-3899-CF4E4A8C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038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CF23FA-7138-C001-F2D9-578CC846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169D9-9EF5-3C5A-598D-31D4E8EA5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0FC79-83AB-6044-5A04-8EE691AD4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65695-D019-4CF1-8412-858096FF717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FE38F-7EDD-82FB-707D-0C782756C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8540B-DD87-6BE4-D449-BCA94D6B3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5ADE7-6991-47E3-B507-CD5D665CC6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157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ACF597F8-76AA-44FA-8E6A-06223B66C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A6E12753-0A63-43EE-B28A-C989D033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B26FA385-76DA-40E9-9257-AA3E07FF6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262D75CA-F374-4878-8106-3EA5E970D6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938667A5-74E3-4EFD-8C45-F48F47427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31512EE2-F4CC-4E18-9CDA-B92C11122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B99E503B-9B4D-4EE3-A50F-15AC374F6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32F3179-0CD5-40C8-9939-D8355006F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Picture 6" descr="Engineering tech aviation GIF on GIFER - by Tera">
            <a:extLst>
              <a:ext uri="{FF2B5EF4-FFF2-40B4-BE49-F238E27FC236}">
                <a16:creationId xmlns:a16="http://schemas.microsoft.com/office/drawing/2014/main" id="{92B52ACC-3EF3-9ED5-723D-26506CC0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2669" y="29548"/>
            <a:ext cx="10691280" cy="601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5050B8-B71C-43A2-4A79-1C14350F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173" y="630936"/>
            <a:ext cx="7315200" cy="2702018"/>
          </a:xfrm>
          <a:noFill/>
        </p:spPr>
        <p:txBody>
          <a:bodyPr anchor="b">
            <a:normAutofit/>
          </a:bodyPr>
          <a:lstStyle/>
          <a:p>
            <a:r>
              <a:rPr lang="en-US" sz="4800" b="1">
                <a:solidFill>
                  <a:schemeClr val="bg1"/>
                </a:solidFill>
              </a:rPr>
              <a:t>EO M270.01 – IDENTIFY ASPECTS OF AIRCRAFT MANUFACTURING</a:t>
            </a:r>
            <a:endParaRPr lang="en-CA" sz="4800" b="1">
              <a:solidFill>
                <a:schemeClr val="bg1"/>
              </a:solidFill>
            </a:endParaRPr>
          </a:p>
        </p:txBody>
      </p:sp>
      <p:sp>
        <p:nvSpPr>
          <p:cNvPr id="4" name="AutoShape 2" descr="Engineering tech aviation GIF on GIFER - by Tera">
            <a:extLst>
              <a:ext uri="{FF2B5EF4-FFF2-40B4-BE49-F238E27FC236}">
                <a16:creationId xmlns:a16="http://schemas.microsoft.com/office/drawing/2014/main" id="{83C37ECC-8C36-43F8-8DCA-BF90D8D0D4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5" name="AutoShape 4" descr="Engineering tech aviation GIF on GIFER - by Tera">
            <a:extLst>
              <a:ext uri="{FF2B5EF4-FFF2-40B4-BE49-F238E27FC236}">
                <a16:creationId xmlns:a16="http://schemas.microsoft.com/office/drawing/2014/main" id="{820BB6C6-891B-69F1-AFCF-FF985CD36A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73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unset over water with clouds and stars&#10;&#10;Description automatically generated">
            <a:extLst>
              <a:ext uri="{FF2B5EF4-FFF2-40B4-BE49-F238E27FC236}">
                <a16:creationId xmlns:a16="http://schemas.microsoft.com/office/drawing/2014/main" id="{3075AA6F-6A6A-7A2E-F5AE-98E624C52F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28C5D6-C0DB-D30E-106F-ADB2680E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CA" b="1"/>
              <a:t>Teaching Points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7E5B76-9D23-8F45-6FB6-6C9EBBCE60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74973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59540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eel machine">
            <a:extLst>
              <a:ext uri="{FF2B5EF4-FFF2-40B4-BE49-F238E27FC236}">
                <a16:creationId xmlns:a16="http://schemas.microsoft.com/office/drawing/2014/main" id="{337DBD84-0684-ABF4-7683-3D2627324A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136" r="19599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08BB1-771E-C4D8-6F47-854191AB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TP1 Identify Aircraft Systems</a:t>
            </a:r>
            <a:endParaRPr lang="en-CA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CD40D-43EB-51D2-926F-4FA01B0E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84929"/>
            <a:ext cx="6232634" cy="3374137"/>
          </a:xfrm>
        </p:spPr>
        <p:txBody>
          <a:bodyPr anchor="ctr">
            <a:noAutofit/>
          </a:bodyPr>
          <a:lstStyle/>
          <a:p>
            <a:r>
              <a:rPr lang="en-CA" sz="3200" b="1" dirty="0"/>
              <a:t>AIRCRAFT INSTRUMENT SYSTEMS</a:t>
            </a:r>
          </a:p>
          <a:p>
            <a:r>
              <a:rPr lang="en-CA" sz="3200" b="1" dirty="0"/>
              <a:t>AIRFRAME ELECTRICAL SYSTEMS</a:t>
            </a:r>
          </a:p>
          <a:p>
            <a:r>
              <a:rPr lang="en-US" sz="3200" b="1" dirty="0"/>
              <a:t>HYDRAULIC AND PNEUMATIC POWER SYSTEMS</a:t>
            </a:r>
          </a:p>
          <a:p>
            <a:r>
              <a:rPr lang="en-CA" sz="3200" b="1" dirty="0"/>
              <a:t>AIRCRAFT LANDING GEAR SYSTEMS </a:t>
            </a:r>
            <a:endParaRPr lang="en-US" sz="3200" b="1" dirty="0"/>
          </a:p>
          <a:p>
            <a:r>
              <a:rPr lang="en-CA" sz="3200" b="1" dirty="0"/>
              <a:t>AIRCRAFT FUEL SYSTEMS</a:t>
            </a:r>
          </a:p>
        </p:txBody>
      </p:sp>
    </p:spTree>
    <p:extLst>
      <p:ext uri="{BB962C8B-B14F-4D97-AF65-F5344CB8AC3E}">
        <p14:creationId xmlns:p14="http://schemas.microsoft.com/office/powerpoint/2010/main" val="30947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imple Dark Background Stock Photos, Images and Backgrounds for Free  Download">
            <a:extLst>
              <a:ext uri="{FF2B5EF4-FFF2-40B4-BE49-F238E27FC236}">
                <a16:creationId xmlns:a16="http://schemas.microsoft.com/office/drawing/2014/main" id="{79354486-4164-5B5E-C65D-C312109D4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5810"/>
            <a:ext cx="12192000" cy="696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Basic Aircraft instrument systems">
            <a:extLst>
              <a:ext uri="{FF2B5EF4-FFF2-40B4-BE49-F238E27FC236}">
                <a16:creationId xmlns:a16="http://schemas.microsoft.com/office/drawing/2014/main" id="{A22228AB-5F60-D372-06E3-608844BCC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54218"/>
            <a:ext cx="4099034" cy="220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uide to aircraft electrical system | EEP">
            <a:extLst>
              <a:ext uri="{FF2B5EF4-FFF2-40B4-BE49-F238E27FC236}">
                <a16:creationId xmlns:a16="http://schemas.microsoft.com/office/drawing/2014/main" id="{3DEFF474-A9DB-65AE-6B4E-867E8E9C4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571" y="3530278"/>
            <a:ext cx="5154429" cy="332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66EC6-FAB1-A19C-D1CD-972D972B6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089524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3600" b="1" dirty="0">
                <a:solidFill>
                  <a:schemeClr val="bg1"/>
                </a:solidFill>
              </a:rPr>
              <a:t>AIRCRAFT INSTRUMENT SYSTEMS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Instruments that depict airspeed and altitude of aircraft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Engine operational parameters and electrical system performance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Microprocessors and other digital electronics</a:t>
            </a:r>
          </a:p>
          <a:p>
            <a:pPr marL="0" indent="0">
              <a:buNone/>
            </a:pPr>
            <a:r>
              <a:rPr lang="en-CA" sz="3600" b="1" dirty="0">
                <a:solidFill>
                  <a:schemeClr val="bg1"/>
                </a:solidFill>
              </a:rPr>
              <a:t>AIRFRAME ELECTRICAL SYSTEMS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Generate and route electricity to </a:t>
            </a:r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various aircraft components </a:t>
            </a:r>
            <a:r>
              <a:rPr lang="en-CA" sz="3600" b="1" dirty="0">
                <a:solidFill>
                  <a:schemeClr val="bg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49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imple Dark Background Stock Photos, Images and Backgrounds for Free  Download">
            <a:extLst>
              <a:ext uri="{FF2B5EF4-FFF2-40B4-BE49-F238E27FC236}">
                <a16:creationId xmlns:a16="http://schemas.microsoft.com/office/drawing/2014/main" id="{9CE19D26-4B92-7B23-C5FD-04DEDED8D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244324"/>
            <a:ext cx="12429067" cy="710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56FC-FC56-0B80-B155-863ABF4D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6927" y="0"/>
            <a:ext cx="884305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HYDRAULIC AND PNEUMATIC POWER SYSTEMS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Necessity to operate systems remotely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Instead of cables or pushrods operating the brakes, hydraulic pressure was used to solve routing problems and multiple forces on the braking surfaces</a:t>
            </a:r>
          </a:p>
          <a:p>
            <a:pPr marL="0" indent="0">
              <a:buNone/>
            </a:pPr>
            <a:r>
              <a:rPr lang="en-CA" sz="3600" b="1" dirty="0">
                <a:solidFill>
                  <a:schemeClr val="bg1"/>
                </a:solidFill>
              </a:rPr>
              <a:t>AIRCRAFT LANDING GEAR SYSTEMS</a:t>
            </a:r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Retraction systems, shock absorbing and non-shock absorbing systems, aircraft wheels, nose wheel steering systems and aircraft brakes</a:t>
            </a:r>
            <a:endParaRPr lang="en-CA" sz="3600" b="1" dirty="0">
              <a:solidFill>
                <a:schemeClr val="bg1"/>
              </a:solidFill>
            </a:endParaRPr>
          </a:p>
        </p:txBody>
      </p:sp>
      <p:pic>
        <p:nvPicPr>
          <p:cNvPr id="5122" name="Picture 2" descr="The Power of Aircraft Hydraulic System - Aeroclass.org">
            <a:extLst>
              <a:ext uri="{FF2B5EF4-FFF2-40B4-BE49-F238E27FC236}">
                <a16:creationId xmlns:a16="http://schemas.microsoft.com/office/drawing/2014/main" id="{D6EBA7A7-2895-3ADE-C896-D9CF9A500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177" y="-6095"/>
            <a:ext cx="3618823" cy="254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What you should know about…Landing-gear">
            <a:extLst>
              <a:ext uri="{FF2B5EF4-FFF2-40B4-BE49-F238E27FC236}">
                <a16:creationId xmlns:a16="http://schemas.microsoft.com/office/drawing/2014/main" id="{298CF521-D462-8CF4-4C6E-79838E736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177" y="2534856"/>
            <a:ext cx="3618823" cy="2261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Nose Wheels — What Can Go Wrong - Hangar Flying">
            <a:extLst>
              <a:ext uri="{FF2B5EF4-FFF2-40B4-BE49-F238E27FC236}">
                <a16:creationId xmlns:a16="http://schemas.microsoft.com/office/drawing/2014/main" id="{8D741182-4EBE-6870-F6BA-2F756C15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3176" y="4796620"/>
            <a:ext cx="3618823" cy="1240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11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imple Dark Background Stock Photos, Images and Backgrounds for Free  Download">
            <a:extLst>
              <a:ext uri="{FF2B5EF4-FFF2-40B4-BE49-F238E27FC236}">
                <a16:creationId xmlns:a16="http://schemas.microsoft.com/office/drawing/2014/main" id="{2588876F-8CA0-8E29-230E-5023C85EE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857"/>
            <a:ext cx="12192000" cy="696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CFBC7-692A-8D22-A6C5-DEA611BC3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6" y="0"/>
            <a:ext cx="11990408" cy="8565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4400" b="1" dirty="0">
                <a:solidFill>
                  <a:schemeClr val="bg1"/>
                </a:solidFill>
              </a:rPr>
              <a:t>AIRCRAFT FUEL SYSTEMS</a:t>
            </a:r>
          </a:p>
          <a:p>
            <a:pPr marL="0" indent="0">
              <a:buNone/>
            </a:pPr>
            <a:endParaRPr lang="en-CA" sz="4400" b="1" dirty="0">
              <a:solidFill>
                <a:schemeClr val="bg1"/>
              </a:solidFill>
            </a:endParaRPr>
          </a:p>
          <a:p>
            <a:r>
              <a:rPr lang="en-US" sz="4400" b="1" dirty="0">
                <a:solidFill>
                  <a:schemeClr val="bg1"/>
                </a:solidFill>
              </a:rPr>
              <a:t>Every fuel system has: 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1or more fuel tanks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Tubing to carry the fuel from </a:t>
            </a:r>
            <a:br>
              <a:rPr lang="en-US" sz="4400" b="1" dirty="0">
                <a:solidFill>
                  <a:schemeClr val="bg1"/>
                </a:solidFill>
              </a:rPr>
            </a:br>
            <a:r>
              <a:rPr lang="en-US" sz="4400" b="1" dirty="0">
                <a:solidFill>
                  <a:schemeClr val="bg1"/>
                </a:solidFill>
              </a:rPr>
              <a:t>the tank(s) to the engine(s) 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Valves to control the flow of fuel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Provisions for trapping water and contaminants and a method for indicating the fuel quantity</a:t>
            </a:r>
            <a:endParaRPr lang="en-CA" sz="44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7E3814-928B-CFE7-D3C8-8CE3A1F2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337" y="-9380"/>
            <a:ext cx="4390663" cy="437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A908C9-78BA-A85E-4EA3-B3726D4863F7}"/>
              </a:ext>
            </a:extLst>
          </p:cNvPr>
          <p:cNvSpPr txBox="1"/>
          <p:nvPr/>
        </p:nvSpPr>
        <p:spPr>
          <a:xfrm>
            <a:off x="-89705" y="0"/>
            <a:ext cx="54256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Q1. List the aircraft systems manufactured to be used in assembling an aircraft.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EE82B-89C3-50C2-B024-4E76A29D80A3}"/>
              </a:ext>
            </a:extLst>
          </p:cNvPr>
          <p:cNvSpPr txBox="1"/>
          <p:nvPr/>
        </p:nvSpPr>
        <p:spPr>
          <a:xfrm>
            <a:off x="-47745" y="1531387"/>
            <a:ext cx="89327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• Aircraft instrument systems</a:t>
            </a:r>
          </a:p>
          <a:p>
            <a:r>
              <a:rPr lang="en-US" sz="3200" dirty="0"/>
              <a:t>• Airframe electrical systems</a:t>
            </a:r>
          </a:p>
          <a:p>
            <a:r>
              <a:rPr lang="en-US" sz="3200" dirty="0"/>
              <a:t>• Hydraulic and pneumatic systems</a:t>
            </a:r>
          </a:p>
          <a:p>
            <a:r>
              <a:rPr lang="en-US" sz="3200" dirty="0"/>
              <a:t>• Aircraft landing gear systems</a:t>
            </a:r>
          </a:p>
          <a:p>
            <a:r>
              <a:rPr lang="en-US" sz="3200" dirty="0"/>
              <a:t>• Aircraft fuel systems.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B7695-277E-C050-C0F1-99B5FD5C3FAF}"/>
              </a:ext>
            </a:extLst>
          </p:cNvPr>
          <p:cNvSpPr txBox="1"/>
          <p:nvPr/>
        </p:nvSpPr>
        <p:spPr>
          <a:xfrm>
            <a:off x="5084180" y="30590"/>
            <a:ext cx="72775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Q2. What do aircraft manufacturers equip larger aircraft with for their control systems?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B2393-037A-F6E4-AE2C-4DB3BE5CA9CC}"/>
              </a:ext>
            </a:extLst>
          </p:cNvPr>
          <p:cNvSpPr txBox="1"/>
          <p:nvPr/>
        </p:nvSpPr>
        <p:spPr>
          <a:xfrm>
            <a:off x="6358843" y="1600250"/>
            <a:ext cx="609407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A2. Aircraft manufacturers equip larger aircraft with hydraulic or pneumatic control systems for their primary control systems.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AAECAC-9F87-9A45-1769-AA7BCA3C7094}"/>
              </a:ext>
            </a:extLst>
          </p:cNvPr>
          <p:cNvSpPr txBox="1"/>
          <p:nvPr/>
        </p:nvSpPr>
        <p:spPr>
          <a:xfrm>
            <a:off x="0" y="4287492"/>
            <a:ext cx="123617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Q3. What are some of the other components involved in manufacturing landing gear?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C5B0F-3CD1-FC39-974A-94FA49F571E2}"/>
              </a:ext>
            </a:extLst>
          </p:cNvPr>
          <p:cNvSpPr txBox="1"/>
          <p:nvPr/>
        </p:nvSpPr>
        <p:spPr>
          <a:xfrm>
            <a:off x="0" y="5295847"/>
            <a:ext cx="130562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A3. Retraction systems, shock absorbing and non-shock absorbing systems, aircraft wheels, nose wheel steering systems and aircraft brakes are some of the other components involved in manufacturing landing gear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467506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imple Dark Background Stock Photos, Images and Backgrounds for Free  Download">
            <a:extLst>
              <a:ext uri="{FF2B5EF4-FFF2-40B4-BE49-F238E27FC236}">
                <a16:creationId xmlns:a16="http://schemas.microsoft.com/office/drawing/2014/main" id="{5295F3F0-A11F-5BF3-B965-53C04168B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0127"/>
            <a:ext cx="12474222" cy="712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2E8807-6E46-56E7-2F99-D3C7223F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" y="228462"/>
            <a:ext cx="10515600" cy="1325563"/>
          </a:xfrm>
        </p:spPr>
        <p:txBody>
          <a:bodyPr/>
          <a:lstStyle/>
          <a:p>
            <a:r>
              <a:rPr lang="en-CA" b="1" dirty="0">
                <a:solidFill>
                  <a:schemeClr val="bg1"/>
                </a:solidFill>
              </a:rPr>
              <a:t>TP2 </a:t>
            </a:r>
            <a:r>
              <a:rPr lang="en-US" b="1" dirty="0">
                <a:solidFill>
                  <a:schemeClr val="bg1"/>
                </a:solidFill>
              </a:rPr>
              <a:t>Identify the Materials Used in Aircraft Manufacturing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EDC6-4815-2DB6-B69A-D9865CA1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573" y="1443627"/>
            <a:ext cx="8597462" cy="4351338"/>
          </a:xfrm>
        </p:spPr>
        <p:txBody>
          <a:bodyPr>
            <a:noAutofit/>
          </a:bodyPr>
          <a:lstStyle/>
          <a:p>
            <a:r>
              <a:rPr lang="en-CA" sz="4000" b="1" dirty="0">
                <a:solidFill>
                  <a:schemeClr val="bg1"/>
                </a:solidFill>
              </a:rPr>
              <a:t>The first aircraft was created using </a:t>
            </a:r>
            <a:r>
              <a:rPr lang="en-US" sz="4000" b="1" dirty="0">
                <a:solidFill>
                  <a:schemeClr val="bg1"/>
                </a:solidFill>
              </a:rPr>
              <a:t>steel, wire, cable, silk and wood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Metallurgists found that alloying aluminum with other metals resulted in an equivalent to structural steel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Today, military aircraft are constructed of about 65% aluminum and 35% of other alloys</a:t>
            </a:r>
            <a:endParaRPr lang="en-CA" sz="40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WHAT ARE THE METALLIC SOLIDS? – Computer Aided Design &amp; The 118 Elements">
            <a:extLst>
              <a:ext uri="{FF2B5EF4-FFF2-40B4-BE49-F238E27FC236}">
                <a16:creationId xmlns:a16="http://schemas.microsoft.com/office/drawing/2014/main" id="{BAD4DEFE-FA56-9C91-D366-AEBE024C8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5669" y="4113245"/>
            <a:ext cx="4146331" cy="274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erson and child running in front of a metal structure&#10;&#10;Description automatically generated">
            <a:extLst>
              <a:ext uri="{FF2B5EF4-FFF2-40B4-BE49-F238E27FC236}">
                <a16:creationId xmlns:a16="http://schemas.microsoft.com/office/drawing/2014/main" id="{3C66C33F-12AF-9254-62E3-2D677A7023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1802435"/>
            <a:ext cx="40576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2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imple Dark Background Stock Photos, Images and Backgrounds for Free  Download">
            <a:extLst>
              <a:ext uri="{FF2B5EF4-FFF2-40B4-BE49-F238E27FC236}">
                <a16:creationId xmlns:a16="http://schemas.microsoft.com/office/drawing/2014/main" id="{BDF8AC49-ED9C-8E3C-B3CF-6B7C84DB9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82" y="-115818"/>
            <a:ext cx="12204181" cy="697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181F-830A-F1F6-9942-C51C679E1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6186" y="0"/>
            <a:ext cx="12896193" cy="3779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3200" b="1" dirty="0">
                <a:solidFill>
                  <a:schemeClr val="bg1"/>
                </a:solidFill>
              </a:rPr>
              <a:t>NON-FERROUS METALS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Aluminum and Its Alloys. Pure aluminum lacks sufficient strength</a:t>
            </a:r>
            <a:endParaRPr lang="en-CA" sz="3200" b="1" dirty="0">
              <a:solidFill>
                <a:schemeClr val="bg1"/>
              </a:solidFill>
            </a:endParaRPr>
          </a:p>
          <a:p>
            <a:pPr lvl="1"/>
            <a:r>
              <a:rPr lang="en-CA" sz="3200" b="1" dirty="0">
                <a:solidFill>
                  <a:schemeClr val="bg1"/>
                </a:solidFill>
              </a:rPr>
              <a:t>When alloyed, is as strong as steel with 1/3 weight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Titanium and Its Alloys -lightweight metals with very high strength</a:t>
            </a:r>
          </a:p>
          <a:p>
            <a:r>
              <a:rPr lang="en-CA" sz="3200" b="1" dirty="0">
                <a:solidFill>
                  <a:schemeClr val="bg1"/>
                </a:solidFill>
              </a:rPr>
              <a:t>Nickel Alloys</a:t>
            </a:r>
            <a:endParaRPr lang="en-US" sz="3200" b="1" dirty="0">
              <a:solidFill>
                <a:schemeClr val="bg1"/>
              </a:solidFill>
            </a:endParaRPr>
          </a:p>
          <a:p>
            <a:pPr lvl="1"/>
            <a:r>
              <a:rPr lang="en-CA" sz="3200" b="1" dirty="0">
                <a:solidFill>
                  <a:srgbClr val="FF0000"/>
                </a:solidFill>
              </a:rPr>
              <a:t>Monel</a:t>
            </a:r>
            <a:r>
              <a:rPr lang="en-CA" sz="32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works well in gears that require high strength/toughness</a:t>
            </a:r>
          </a:p>
          <a:p>
            <a:pPr lvl="1"/>
            <a:r>
              <a:rPr lang="en-CA" sz="3200" b="1" dirty="0">
                <a:solidFill>
                  <a:srgbClr val="FF0000"/>
                </a:solidFill>
              </a:rPr>
              <a:t>Inconel</a:t>
            </a:r>
            <a:r>
              <a:rPr lang="en-CA" sz="32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used in turbine engines to maintain their strength and corrosion resistance under extremely high temperatures</a:t>
            </a:r>
          </a:p>
          <a:p>
            <a:r>
              <a:rPr lang="en-CA" sz="3200" b="1" dirty="0">
                <a:solidFill>
                  <a:schemeClr val="bg1"/>
                </a:solidFill>
              </a:rPr>
              <a:t>Copper - </a:t>
            </a:r>
            <a:r>
              <a:rPr lang="en-US" sz="3200" b="1" dirty="0">
                <a:solidFill>
                  <a:schemeClr val="bg1"/>
                </a:solidFill>
              </a:rPr>
              <a:t>primary metal used for electrical wiring</a:t>
            </a:r>
            <a:endParaRPr lang="en-CA" sz="3200" b="1" dirty="0">
              <a:solidFill>
                <a:schemeClr val="bg1"/>
              </a:solidFill>
            </a:endParaRPr>
          </a:p>
        </p:txBody>
      </p:sp>
      <p:pic>
        <p:nvPicPr>
          <p:cNvPr id="3074" name="Picture 2" descr="Aluminum or Aluminium Alloys - List">
            <a:extLst>
              <a:ext uri="{FF2B5EF4-FFF2-40B4-BE49-F238E27FC236}">
                <a16:creationId xmlns:a16="http://schemas.microsoft.com/office/drawing/2014/main" id="{A85BAD2A-B9EF-7351-DC15-426C027AD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7614"/>
            <a:ext cx="3265125" cy="217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ypes of Titanium Alloys: Grades, Properties, and Uses - WayKen">
            <a:extLst>
              <a:ext uri="{FF2B5EF4-FFF2-40B4-BE49-F238E27FC236}">
                <a16:creationId xmlns:a16="http://schemas.microsoft.com/office/drawing/2014/main" id="{DD684395-8C01-76E8-346C-23BE51E247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55"/>
          <a:stretch/>
        </p:blipFill>
        <p:spPr bwMode="auto">
          <a:xfrm>
            <a:off x="3265125" y="4685816"/>
            <a:ext cx="3820638" cy="217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nconel | Global Metals Vendor And Distributor | Avion Alloys">
            <a:extLst>
              <a:ext uri="{FF2B5EF4-FFF2-40B4-BE49-F238E27FC236}">
                <a16:creationId xmlns:a16="http://schemas.microsoft.com/office/drawing/2014/main" id="{1D55604E-76A9-4EBB-B542-88C72C8C6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763" y="4685816"/>
            <a:ext cx="3251772" cy="21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Bare Copper Wire, Bright, 14 AWG, 0.064&quot; Diameter, 80' Length (Pack of 1)">
            <a:extLst>
              <a:ext uri="{FF2B5EF4-FFF2-40B4-BE49-F238E27FC236}">
                <a16:creationId xmlns:a16="http://schemas.microsoft.com/office/drawing/2014/main" id="{4C0121F9-4A0C-F6D5-BF81-90D361F5C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535" y="4685814"/>
            <a:ext cx="1759872" cy="217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2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imple Dark Background Stock Photos, Images and Backgrounds for Free  Download">
            <a:extLst>
              <a:ext uri="{FF2B5EF4-FFF2-40B4-BE49-F238E27FC236}">
                <a16:creationId xmlns:a16="http://schemas.microsoft.com/office/drawing/2014/main" id="{54425598-96D2-6798-3D54-49557CF8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857"/>
            <a:ext cx="12192000" cy="696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5AF91E-7523-A8CB-8FED-95A26789A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3997" cy="1040524"/>
          </a:xfrm>
        </p:spPr>
        <p:txBody>
          <a:bodyPr>
            <a:normAutofit fontScale="90000"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TP2 </a:t>
            </a:r>
            <a:r>
              <a:rPr lang="en-US" b="1" dirty="0">
                <a:solidFill>
                  <a:schemeClr val="bg1"/>
                </a:solidFill>
              </a:rPr>
              <a:t>Identify the Materials Used in Aircraft Manufacturing</a:t>
            </a:r>
            <a:endParaRPr lang="en-CA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What's fiberglass, and how does the delicate material reinforce thousands  of products?">
            <a:extLst>
              <a:ext uri="{FF2B5EF4-FFF2-40B4-BE49-F238E27FC236}">
                <a16:creationId xmlns:a16="http://schemas.microsoft.com/office/drawing/2014/main" id="{201BF21F-4D4A-D494-7A55-6C4EF62B0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457200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ramid Based Fibers: Kevlar and Nomex">
            <a:extLst>
              <a:ext uri="{FF2B5EF4-FFF2-40B4-BE49-F238E27FC236}">
                <a16:creationId xmlns:a16="http://schemas.microsoft.com/office/drawing/2014/main" id="{870BD3FA-5592-2E49-21B8-D6E22D173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15240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aphite cloth-Sunwell seals">
            <a:extLst>
              <a:ext uri="{FF2B5EF4-FFF2-40B4-BE49-F238E27FC236}">
                <a16:creationId xmlns:a16="http://schemas.microsoft.com/office/drawing/2014/main" id="{F5BDF013-66B4-A38C-4FD0-EF378B8D5D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1129"/>
          <a:stretch/>
        </p:blipFill>
        <p:spPr bwMode="auto">
          <a:xfrm>
            <a:off x="9144000" y="0"/>
            <a:ext cx="3047999" cy="219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46011-5F9C-1583-882E-F87280685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4082" y="1040525"/>
            <a:ext cx="11761075" cy="4351338"/>
          </a:xfrm>
        </p:spPr>
        <p:txBody>
          <a:bodyPr>
            <a:noAutofit/>
          </a:bodyPr>
          <a:lstStyle/>
          <a:p>
            <a:r>
              <a:rPr lang="en-CA" sz="3600" b="1" dirty="0">
                <a:solidFill>
                  <a:schemeClr val="bg1"/>
                </a:solidFill>
              </a:rPr>
              <a:t>COMPOSITE FIBRES</a:t>
            </a:r>
          </a:p>
          <a:p>
            <a:r>
              <a:rPr lang="en-CA" sz="3600" b="1" dirty="0">
                <a:solidFill>
                  <a:srgbClr val="FF0000"/>
                </a:solidFill>
              </a:rPr>
              <a:t>Graphite Fibres</a:t>
            </a:r>
          </a:p>
          <a:p>
            <a:pPr lvl="1"/>
            <a:r>
              <a:rPr lang="en-US" sz="3600" b="1" dirty="0">
                <a:solidFill>
                  <a:schemeClr val="bg1"/>
                </a:solidFill>
              </a:rPr>
              <a:t>Extremely lightweight, strong, and tough</a:t>
            </a:r>
            <a:endParaRPr lang="en-CA" sz="3600" b="1" dirty="0">
              <a:solidFill>
                <a:schemeClr val="bg1"/>
              </a:solidFill>
            </a:endParaRPr>
          </a:p>
          <a:p>
            <a:r>
              <a:rPr lang="en-CA" sz="3600" b="1" dirty="0">
                <a:solidFill>
                  <a:srgbClr val="FF0000"/>
                </a:solidFill>
              </a:rPr>
              <a:t>Kevlar Fibre</a:t>
            </a:r>
          </a:p>
          <a:p>
            <a:pPr lvl="1"/>
            <a:r>
              <a:rPr lang="en-US" sz="3600" b="1" dirty="0">
                <a:solidFill>
                  <a:schemeClr val="bg1"/>
                </a:solidFill>
              </a:rPr>
              <a:t>Useful where damage from sand or other </a:t>
            </a:r>
          </a:p>
          <a:p>
            <a:pPr marL="457200" lvl="1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debris occur - landing gear/behind propellers</a:t>
            </a:r>
            <a:endParaRPr lang="en-CA" sz="3600" b="1" dirty="0">
              <a:solidFill>
                <a:schemeClr val="bg1"/>
              </a:solidFill>
            </a:endParaRPr>
          </a:p>
          <a:p>
            <a:r>
              <a:rPr lang="en-CA" sz="3600" b="1" dirty="0">
                <a:solidFill>
                  <a:srgbClr val="FF0000"/>
                </a:solidFill>
              </a:rPr>
              <a:t>Glass Fibre/Fibreglass</a:t>
            </a:r>
          </a:p>
          <a:p>
            <a:pPr lvl="1"/>
            <a:r>
              <a:rPr lang="en-CA" sz="3600" b="1" dirty="0">
                <a:solidFill>
                  <a:schemeClr val="bg1"/>
                </a:solidFill>
              </a:rPr>
              <a:t>Hardens when heated</a:t>
            </a:r>
          </a:p>
          <a:p>
            <a:pPr lvl="1"/>
            <a:r>
              <a:rPr lang="en-US" sz="3600" b="1" dirty="0">
                <a:solidFill>
                  <a:schemeClr val="bg1"/>
                </a:solidFill>
              </a:rPr>
              <a:t>Fibres gathered in a loose mat saturated </a:t>
            </a:r>
          </a:p>
          <a:p>
            <a:pPr marL="457200" lvl="1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with resin, molded into desired shape</a:t>
            </a:r>
            <a:endParaRPr lang="en-CA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78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BB62-C3E2-1032-456C-FB447BFE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F4E2-A2F9-A5A5-0FDE-FF07CE2D8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Q1. What was the breakthrough that occurred in the aircraft </a:t>
            </a:r>
            <a:r>
              <a:rPr lang="en-US" dirty="0" err="1"/>
              <a:t>aluminium</a:t>
            </a:r>
            <a:r>
              <a:rPr lang="en-US" dirty="0"/>
              <a:t> industry? </a:t>
            </a:r>
          </a:p>
          <a:p>
            <a:r>
              <a:rPr lang="en-US" dirty="0"/>
              <a:t>Q2. Name four non-ferrous metals. </a:t>
            </a:r>
          </a:p>
          <a:p>
            <a:r>
              <a:rPr lang="en-US" dirty="0"/>
              <a:t>Q3. What are some of the more common non-ferrous metals used in aircraft manufacturing and repair? </a:t>
            </a:r>
          </a:p>
          <a:p>
            <a:r>
              <a:rPr lang="en-US" dirty="0"/>
              <a:t>A1. Metallurgists found that mixing, or alloying aluminum with other metals resulted in a much stronger material. </a:t>
            </a:r>
          </a:p>
          <a:p>
            <a:r>
              <a:rPr lang="en-US" dirty="0"/>
              <a:t>A2. Four non-ferrous metals are: • aluminum and its alloys, titanium, • nickel, and • copper. </a:t>
            </a:r>
          </a:p>
          <a:p>
            <a:r>
              <a:rPr lang="en-US" dirty="0"/>
              <a:t>A3. Aluminum, titanium, nickel and copper are some of the more common non-ferrous metals used in aircraft manufacturing and repair.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02432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F02B-F3F3-64F9-FA9D-CB91B7B0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TP3 Discuss Careers Within the Aircraft Manufacturing Industry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01E28-25AD-EBE1-106F-EC99D7CC799A}"/>
              </a:ext>
            </a:extLst>
          </p:cNvPr>
          <p:cNvSpPr txBox="1"/>
          <p:nvPr/>
        </p:nvSpPr>
        <p:spPr>
          <a:xfrm>
            <a:off x="112889" y="1951672"/>
            <a:ext cx="11446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Q1. Share with the class three pieces of interesting information that you did not know about careers in the aircraft manufacturing industry. </a:t>
            </a:r>
          </a:p>
          <a:p>
            <a:r>
              <a:rPr lang="en-US" dirty="0"/>
              <a:t>Q2. Why did you find this information interesting? </a:t>
            </a:r>
          </a:p>
          <a:p>
            <a:r>
              <a:rPr lang="en-US" dirty="0"/>
              <a:t>Q3. What was the most interesting career to you? </a:t>
            </a:r>
          </a:p>
          <a:p>
            <a:r>
              <a:rPr lang="en-US" dirty="0"/>
              <a:t>Q4. What are the primary responsibilities of the career that you found most interesting? 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247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1108</Words>
  <Application>Microsoft Office PowerPoint</Application>
  <PresentationFormat>Widescreen</PresentationFormat>
  <Paragraphs>113</Paragraphs>
  <Slides>12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EO M270.01 – IDENTIFY ASPECTS OF AIRCRAFT MANUFACTURING</vt:lpstr>
      <vt:lpstr>Teaching Points</vt:lpstr>
      <vt:lpstr>TP1 Identify Aircraft Systems</vt:lpstr>
      <vt:lpstr>PowerPoint Presentation</vt:lpstr>
      <vt:lpstr>PowerPoint Presentation</vt:lpstr>
      <vt:lpstr>PowerPoint Presentation</vt:lpstr>
      <vt:lpstr>PowerPoint Presentation</vt:lpstr>
      <vt:lpstr>TP2 Identify the Materials Used in Aircraft Manufacturing</vt:lpstr>
      <vt:lpstr>PowerPoint Presentation</vt:lpstr>
      <vt:lpstr>TP2 Identify the Materials Used in Aircraft Manufacturing</vt:lpstr>
      <vt:lpstr>PowerPoint Presentation</vt:lpstr>
      <vt:lpstr>TP3 Discuss Careers Within the Aircraft Manufacturing Industry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 M270.01 – IDENTIFY ASPECTS OF AIRCRAFT MANUFACTURING</dc:title>
  <dc:creator>kevin zhu</dc:creator>
  <cp:lastModifiedBy>Kevin Zhu</cp:lastModifiedBy>
  <cp:revision>14</cp:revision>
  <dcterms:created xsi:type="dcterms:W3CDTF">2024-03-07T07:26:00Z</dcterms:created>
  <dcterms:modified xsi:type="dcterms:W3CDTF">2025-05-26T01:37:02Z</dcterms:modified>
</cp:coreProperties>
</file>