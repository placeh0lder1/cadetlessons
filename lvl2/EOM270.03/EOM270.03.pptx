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6858000" cy="9144000"/>
  <p:embeddedFontLst>
    <p:embeddedFont>
      <p:font typeface="Merriweather" panose="00000500000000000000" pitchFamily="2" charset="0"/>
      <p:regular r:id="rId35"/>
      <p:bold r:id="rId36"/>
      <p:italic r:id="rId37"/>
      <p:boldItalic r:id="rId38"/>
    </p:embeddedFont>
    <p:embeddedFont>
      <p:font typeface="Roboto" panose="020000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c85f5e97ed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c85f5e97ed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c85f5e97ed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c85f5e97ed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c85f5e97ed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2c85f5e97ed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c85f5e97ed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c85f5e97ed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c85f5e97ed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c85f5e97ed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c85f5e97ed_0_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2c85f5e97ed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c85f5e97ed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c85f5e97ed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c85f5e97ed_0_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c85f5e97ed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c85f5e97ed_0_1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c85f5e97ed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c85f5e97ed_0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c85f5e97ed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c85f5e97ed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c85f5e97ed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c85f5e97ed_0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c85f5e97ed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c85f5e97ed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c85f5e97ed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c85f5e97ed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c85f5e97e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c85f5e97ed_0_1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2c85f5e97ed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c85f5e97ed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c85f5e97ed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6d15050528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6d1505052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c85f5e97ed_0_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c85f5e97ed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6d15050528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6d15050528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c85f5e97ed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c85f5e97ed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6d15050528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6d15050528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c85f5e97ed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c85f5e97ed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26d15050528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26d1505052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c85f5e97ed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c85f5e97ed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6d15050528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6d15050528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c85f5e97ed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c85f5e97ed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85f5e97ed_0_2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85f5e97ed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85f5e97ed_0_1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85f5e97ed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85f5e97ed_0_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85f5e97ed_0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6d15050528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6d15050528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6d15050528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6d15050528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hyperlink" Target="https://drive.google.com/file/d/1pKMXXa1GJhPmMrX-D-P3r_1JrDzQyQxi/view" TargetMode="External"/><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p:nvPr>
        </p:nvSpPr>
        <p:spPr>
          <a:xfrm>
            <a:off x="311700" y="539725"/>
            <a:ext cx="8832300" cy="2176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EO M270.03 – Discuss Education And Employment Opportunities In Aircraft Manufacturing And Maintenance</a:t>
            </a:r>
            <a:endParaRPr/>
          </a:p>
          <a:p>
            <a:pPr marL="0" lvl="0" indent="0" algn="l" rtl="0">
              <a:spcBef>
                <a:spcPts val="0"/>
              </a:spcBef>
              <a:spcAft>
                <a:spcPts val="0"/>
              </a:spcAft>
              <a:buNone/>
            </a:pPr>
            <a:endParaRPr/>
          </a:p>
        </p:txBody>
      </p:sp>
      <p:sp>
        <p:nvSpPr>
          <p:cNvPr id="65" name="Google Shape;65;p13"/>
          <p:cNvSpPr txBox="1">
            <a:spLocks noGrp="1"/>
          </p:cNvSpPr>
          <p:nvPr>
            <p:ph type="subTitle" idx="1"/>
          </p:nvPr>
        </p:nvSpPr>
        <p:spPr>
          <a:xfrm>
            <a:off x="446150" y="2716237"/>
            <a:ext cx="4242600" cy="1667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By: </a:t>
            </a:r>
          </a:p>
          <a:p>
            <a:pPr marL="0" lvl="0" indent="0" algn="l" rtl="0">
              <a:spcBef>
                <a:spcPts val="0"/>
              </a:spcBef>
              <a:spcAft>
                <a:spcPts val="0"/>
              </a:spcAft>
              <a:buNone/>
            </a:pPr>
            <a:endParaRPr dirty="0"/>
          </a:p>
          <a:p>
            <a:pPr marL="0" lvl="0" indent="0" algn="l" rtl="0">
              <a:spcBef>
                <a:spcPts val="0"/>
              </a:spcBef>
              <a:spcAft>
                <a:spcPts val="0"/>
              </a:spcAft>
              <a:buNone/>
            </a:pPr>
            <a:r>
              <a:rPr lang="en" dirty="0"/>
              <a:t>60 min / 1 hr</a:t>
            </a:r>
            <a:endParaRPr dirty="0"/>
          </a:p>
        </p:txBody>
      </p:sp>
      <p:pic>
        <p:nvPicPr>
          <p:cNvPr id="66" name="Google Shape;66;p13"/>
          <p:cNvPicPr preferRelativeResize="0"/>
          <p:nvPr/>
        </p:nvPicPr>
        <p:blipFill>
          <a:blip r:embed="rId3">
            <a:alphaModFix/>
          </a:blip>
          <a:stretch>
            <a:fillRect/>
          </a:stretch>
        </p:blipFill>
        <p:spPr>
          <a:xfrm>
            <a:off x="5670400" y="3597000"/>
            <a:ext cx="4206474" cy="17766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311700" y="414075"/>
            <a:ext cx="8520600" cy="1282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Purpose</a:t>
            </a:r>
            <a:endParaRPr/>
          </a:p>
        </p:txBody>
      </p:sp>
      <p:sp>
        <p:nvSpPr>
          <p:cNvPr id="72" name="Google Shape;72;p14"/>
          <p:cNvSpPr txBox="1"/>
          <p:nvPr/>
        </p:nvSpPr>
        <p:spPr>
          <a:xfrm>
            <a:off x="506500" y="1696575"/>
            <a:ext cx="7429500" cy="1539300"/>
          </a:xfrm>
          <a:prstGeom prst="rect">
            <a:avLst/>
          </a:prstGeom>
          <a:noFill/>
          <a:ln>
            <a:noFill/>
          </a:ln>
        </p:spPr>
        <p:txBody>
          <a:bodyPr spcFirstLastPara="1" wrap="square" lIns="91425" tIns="91425" rIns="91425" bIns="91425" anchor="t" anchorCtr="0">
            <a:spAutoFit/>
          </a:bodyPr>
          <a:lstStyle/>
          <a:p>
            <a:pPr marL="457200" lvl="0" indent="-368300" algn="l" rtl="0">
              <a:lnSpc>
                <a:spcPct val="150000"/>
              </a:lnSpc>
              <a:spcBef>
                <a:spcPts val="0"/>
              </a:spcBef>
              <a:spcAft>
                <a:spcPts val="0"/>
              </a:spcAft>
              <a:buClr>
                <a:schemeClr val="dk2"/>
              </a:buClr>
              <a:buSzPts val="2200"/>
              <a:buFont typeface="Roboto"/>
              <a:buChar char="●"/>
            </a:pPr>
            <a:r>
              <a:rPr lang="en" sz="2200">
                <a:solidFill>
                  <a:schemeClr val="dk2"/>
                </a:solidFill>
                <a:latin typeface="Roboto"/>
                <a:ea typeface="Roboto"/>
                <a:cs typeface="Roboto"/>
                <a:sym typeface="Roboto"/>
              </a:rPr>
              <a:t>Learn about employers</a:t>
            </a:r>
            <a:endParaRPr sz="2200">
              <a:solidFill>
                <a:schemeClr val="dk2"/>
              </a:solidFill>
              <a:latin typeface="Roboto"/>
              <a:ea typeface="Roboto"/>
              <a:cs typeface="Roboto"/>
              <a:sym typeface="Roboto"/>
            </a:endParaRPr>
          </a:p>
          <a:p>
            <a:pPr marL="457200" lvl="0" indent="-368300" algn="l" rtl="0">
              <a:lnSpc>
                <a:spcPct val="150000"/>
              </a:lnSpc>
              <a:spcBef>
                <a:spcPts val="0"/>
              </a:spcBef>
              <a:spcAft>
                <a:spcPts val="0"/>
              </a:spcAft>
              <a:buClr>
                <a:schemeClr val="dk2"/>
              </a:buClr>
              <a:buSzPts val="2200"/>
              <a:buFont typeface="Roboto"/>
              <a:buChar char="●"/>
            </a:pPr>
            <a:r>
              <a:rPr lang="en" sz="2200">
                <a:solidFill>
                  <a:schemeClr val="dk2"/>
                </a:solidFill>
                <a:latin typeface="Roboto"/>
                <a:ea typeface="Roboto"/>
                <a:cs typeface="Roboto"/>
                <a:sym typeface="Roboto"/>
              </a:rPr>
              <a:t>Present career opportunities in the aircraft industry</a:t>
            </a:r>
            <a:endParaRPr sz="2200">
              <a:solidFill>
                <a:schemeClr val="dk2"/>
              </a:solidFill>
              <a:latin typeface="Roboto"/>
              <a:ea typeface="Roboto"/>
              <a:cs typeface="Roboto"/>
              <a:sym typeface="Roboto"/>
            </a:endParaRPr>
          </a:p>
          <a:p>
            <a:pPr marL="457200" lvl="0" indent="-368300" algn="l" rtl="0">
              <a:lnSpc>
                <a:spcPct val="150000"/>
              </a:lnSpc>
              <a:spcBef>
                <a:spcPts val="0"/>
              </a:spcBef>
              <a:spcAft>
                <a:spcPts val="0"/>
              </a:spcAft>
              <a:buClr>
                <a:schemeClr val="dk2"/>
              </a:buClr>
              <a:buSzPts val="2200"/>
              <a:buFont typeface="Roboto"/>
              <a:buChar char="●"/>
            </a:pPr>
            <a:r>
              <a:rPr lang="en" sz="2200">
                <a:solidFill>
                  <a:schemeClr val="dk2"/>
                </a:solidFill>
                <a:latin typeface="Roboto"/>
                <a:ea typeface="Roboto"/>
                <a:cs typeface="Roboto"/>
                <a:sym typeface="Roboto"/>
              </a:rPr>
              <a:t>Education paths</a:t>
            </a:r>
            <a:endParaRPr sz="22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311700" y="187175"/>
            <a:ext cx="8520600" cy="623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u="sng"/>
              <a:t>Teaching Point 1:</a:t>
            </a:r>
            <a:r>
              <a:rPr lang="en"/>
              <a:t> Introduce the Aircraft Manufacturing and Maintenance Industry</a:t>
            </a:r>
            <a:endParaRPr/>
          </a:p>
          <a:p>
            <a:pPr marL="0" lvl="0" indent="0" algn="l" rtl="0">
              <a:spcBef>
                <a:spcPts val="0"/>
              </a:spcBef>
              <a:spcAft>
                <a:spcPts val="0"/>
              </a:spcAft>
              <a:buNone/>
            </a:pPr>
            <a:endParaRPr/>
          </a:p>
        </p:txBody>
      </p:sp>
      <p:sp>
        <p:nvSpPr>
          <p:cNvPr id="78" name="Google Shape;78;p15"/>
          <p:cNvSpPr txBox="1">
            <a:spLocks noGrp="1"/>
          </p:cNvSpPr>
          <p:nvPr>
            <p:ph type="body" idx="1"/>
          </p:nvPr>
        </p:nvSpPr>
        <p:spPr>
          <a:xfrm>
            <a:off x="311700" y="1550525"/>
            <a:ext cx="2615400" cy="3076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b="1"/>
              <a:t>Part 1: Employers in Canada</a:t>
            </a:r>
            <a:endParaRPr sz="1800" b="1"/>
          </a:p>
          <a:p>
            <a:pPr marL="0" lvl="0" indent="0" algn="l" rtl="0">
              <a:spcBef>
                <a:spcPts val="1200"/>
              </a:spcBef>
              <a:spcAft>
                <a:spcPts val="1200"/>
              </a:spcAft>
              <a:buNone/>
            </a:pPr>
            <a:r>
              <a:rPr lang="en" sz="1800"/>
              <a:t>Learn about different companies/employers</a:t>
            </a:r>
            <a:endParaRPr sz="1800"/>
          </a:p>
        </p:txBody>
      </p:sp>
      <p:sp>
        <p:nvSpPr>
          <p:cNvPr id="79" name="Google Shape;79;p15"/>
          <p:cNvSpPr txBox="1">
            <a:spLocks noGrp="1"/>
          </p:cNvSpPr>
          <p:nvPr>
            <p:ph type="body" idx="2"/>
          </p:nvPr>
        </p:nvSpPr>
        <p:spPr>
          <a:xfrm>
            <a:off x="3244588" y="1550525"/>
            <a:ext cx="2711400" cy="3076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b="1"/>
              <a:t>Part 2: Career options</a:t>
            </a:r>
            <a:endParaRPr sz="1800" b="1"/>
          </a:p>
          <a:p>
            <a:pPr marL="0" lvl="0" indent="0" algn="l" rtl="0">
              <a:spcBef>
                <a:spcPts val="1200"/>
              </a:spcBef>
              <a:spcAft>
                <a:spcPts val="0"/>
              </a:spcAft>
              <a:buNone/>
            </a:pPr>
            <a:endParaRPr sz="1800"/>
          </a:p>
          <a:p>
            <a:pPr marL="0" lvl="0" indent="0" algn="l" rtl="0">
              <a:spcBef>
                <a:spcPts val="1200"/>
              </a:spcBef>
              <a:spcAft>
                <a:spcPts val="1200"/>
              </a:spcAft>
              <a:buNone/>
            </a:pPr>
            <a:r>
              <a:rPr lang="en" sz="1800"/>
              <a:t>Learn about career choices, their tasks, and education requirement</a:t>
            </a:r>
            <a:endParaRPr sz="1800"/>
          </a:p>
        </p:txBody>
      </p:sp>
      <p:sp>
        <p:nvSpPr>
          <p:cNvPr id="80" name="Google Shape;80;p15"/>
          <p:cNvSpPr txBox="1">
            <a:spLocks noGrp="1"/>
          </p:cNvSpPr>
          <p:nvPr>
            <p:ph type="body" idx="2"/>
          </p:nvPr>
        </p:nvSpPr>
        <p:spPr>
          <a:xfrm>
            <a:off x="6273475" y="1602075"/>
            <a:ext cx="2711400" cy="3076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b="1"/>
              <a:t>Part 3: Education and training institutions</a:t>
            </a:r>
            <a:endParaRPr sz="1800" b="1"/>
          </a:p>
          <a:p>
            <a:pPr marL="0" lvl="0" indent="0" algn="l" rtl="0">
              <a:spcBef>
                <a:spcPts val="1200"/>
              </a:spcBef>
              <a:spcAft>
                <a:spcPts val="1200"/>
              </a:spcAft>
              <a:buNone/>
            </a:pPr>
            <a:r>
              <a:rPr lang="en" sz="1800"/>
              <a:t>Information on places to receive education and training</a:t>
            </a:r>
            <a:endParaRPr sz="1800"/>
          </a:p>
        </p:txBody>
      </p:sp>
      <p:cxnSp>
        <p:nvCxnSpPr>
          <p:cNvPr id="81" name="Google Shape;81;p15"/>
          <p:cNvCxnSpPr/>
          <p:nvPr/>
        </p:nvCxnSpPr>
        <p:spPr>
          <a:xfrm>
            <a:off x="2971800" y="1315575"/>
            <a:ext cx="33600" cy="3843600"/>
          </a:xfrm>
          <a:prstGeom prst="straightConnector1">
            <a:avLst/>
          </a:prstGeom>
          <a:noFill/>
          <a:ln w="9525" cap="flat" cmpd="sng">
            <a:solidFill>
              <a:schemeClr val="dk2"/>
            </a:solidFill>
            <a:prstDash val="solid"/>
            <a:round/>
            <a:headEnd type="none" w="med" len="med"/>
            <a:tailEnd type="none" w="med" len="med"/>
          </a:ln>
        </p:spPr>
      </p:cxnSp>
      <p:cxnSp>
        <p:nvCxnSpPr>
          <p:cNvPr id="82" name="Google Shape;82;p15"/>
          <p:cNvCxnSpPr/>
          <p:nvPr/>
        </p:nvCxnSpPr>
        <p:spPr>
          <a:xfrm>
            <a:off x="6097938" y="1315575"/>
            <a:ext cx="33600" cy="38436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a:spLocks noGrp="1"/>
          </p:cNvSpPr>
          <p:nvPr>
            <p:ph type="title"/>
          </p:nvPr>
        </p:nvSpPr>
        <p:spPr>
          <a:xfrm>
            <a:off x="311700" y="355250"/>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Part 1 Overview</a:t>
            </a:r>
            <a:endParaRPr/>
          </a:p>
        </p:txBody>
      </p:sp>
      <p:sp>
        <p:nvSpPr>
          <p:cNvPr id="88" name="Google Shape;88;p16"/>
          <p:cNvSpPr txBox="1"/>
          <p:nvPr/>
        </p:nvSpPr>
        <p:spPr>
          <a:xfrm>
            <a:off x="506500" y="1394025"/>
            <a:ext cx="7765800" cy="398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a:solidFill>
                  <a:schemeClr val="dk2"/>
                </a:solidFill>
                <a:latin typeface="Roboto"/>
                <a:ea typeface="Roboto"/>
                <a:cs typeface="Roboto"/>
                <a:sym typeface="Roboto"/>
              </a:rPr>
              <a:t>Provide information about the employers in Canada, such as:</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Rolls-Royce Canada,</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Standard Aero,</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Aerospace and Defence Industries Association of Nova Scotia (ADIANS),</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Air Canada Technical Services,</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CHC Helicopter Corporation,</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Field Aviation,</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Goderich Aircraft Inc.,</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Canadian Heli Structures Ltd., and</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Bombardier.</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900">
              <a:solidFill>
                <a:schemeClr val="dk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311700" y="2992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1.a) Rolls-Royce Canada</a:t>
            </a:r>
            <a:endParaRPr/>
          </a:p>
        </p:txBody>
      </p:sp>
      <p:sp>
        <p:nvSpPr>
          <p:cNvPr id="94" name="Google Shape;94;p17"/>
          <p:cNvSpPr txBox="1"/>
          <p:nvPr/>
        </p:nvSpPr>
        <p:spPr>
          <a:xfrm>
            <a:off x="311700" y="1292550"/>
            <a:ext cx="8802000" cy="4063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latin typeface="Roboto"/>
                <a:ea typeface="Roboto"/>
                <a:cs typeface="Roboto"/>
                <a:sym typeface="Roboto"/>
              </a:rPr>
              <a:t>Facilities in Montréal, Quebec, and Vancouver, British Columbia.</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Repair and overhaul on aero engines &amp; development for the energy business</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Montréal facility is the largest. Annual sales are in excess of $600 million, 90 percent of which is exported.</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Vancouver-based Marine Propulsion division of Rolls-Royce manufactures an integrated unit that performs steering and propulsion functions.</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Test facility was constructed with the financial assistance of the Government of Quebec. Test bed for the industrial Trent engine as well as a provider of electricity to the City of Montréal</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1.b) Standard Aero</a:t>
            </a:r>
            <a:endParaRPr/>
          </a:p>
        </p:txBody>
      </p:sp>
      <p:sp>
        <p:nvSpPr>
          <p:cNvPr id="100" name="Google Shape;100;p18"/>
          <p:cNvSpPr txBox="1"/>
          <p:nvPr/>
        </p:nvSpPr>
        <p:spPr>
          <a:xfrm>
            <a:off x="428075" y="1584500"/>
            <a:ext cx="7964100" cy="164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One of the world’s largest independent small gas turbine engine and accessories repair and overhaul companies. Standard Aero services engines used on corporate/business aircraft, commercial airliners, helicopters, and government/military aircraft. </a:t>
            </a:r>
            <a:endParaRPr sz="1900">
              <a:solidFill>
                <a:schemeClr val="dk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a:spLocks noGrp="1"/>
          </p:cNvSpPr>
          <p:nvPr>
            <p:ph type="title"/>
          </p:nvPr>
        </p:nvSpPr>
        <p:spPr>
          <a:xfrm>
            <a:off x="362750" y="262800"/>
            <a:ext cx="8520600" cy="623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1.c) Aerospace And Defence Industries Association Of Nova Scotia (ADIANS)</a:t>
            </a:r>
            <a:endParaRPr/>
          </a:p>
        </p:txBody>
      </p:sp>
      <p:sp>
        <p:nvSpPr>
          <p:cNvPr id="106" name="Google Shape;106;p19"/>
          <p:cNvSpPr txBox="1"/>
          <p:nvPr/>
        </p:nvSpPr>
        <p:spPr>
          <a:xfrm>
            <a:off x="362750" y="1308425"/>
            <a:ext cx="8781300" cy="40635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    ADIANS supports the growing and diversified aerospace and defence industry. 80 percent of its revenue comes from maintaining the Department of National Defence’s (DND) $25 billion worth of assets.</a:t>
            </a:r>
            <a:endParaRPr sz="1800">
              <a:solidFill>
                <a:schemeClr val="dk2"/>
              </a:solidFill>
              <a:latin typeface="Roboto"/>
              <a:ea typeface="Roboto"/>
              <a:cs typeface="Roboto"/>
              <a:sym typeface="Roboto"/>
            </a:endParaRPr>
          </a:p>
          <a:p>
            <a:pPr marL="457200" lvl="0" indent="-342900" algn="l" rtl="0">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    Range of products and services from advanced composite materials to training to transmitters and receivers.</a:t>
            </a:r>
            <a:endParaRPr sz="1800">
              <a:solidFill>
                <a:schemeClr val="dk2"/>
              </a:solidFill>
              <a:latin typeface="Roboto"/>
              <a:ea typeface="Roboto"/>
              <a:cs typeface="Roboto"/>
              <a:sym typeface="Roboto"/>
            </a:endParaRPr>
          </a:p>
          <a:p>
            <a:pPr marL="457200" lvl="0" indent="-342900" algn="l" rtl="0">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    ADIANS’ initiatives foster sector strength in military and commercial development at the local, national and international level. </a:t>
            </a:r>
            <a:endParaRPr sz="1800">
              <a:solidFill>
                <a:schemeClr val="dk2"/>
              </a:solidFill>
              <a:latin typeface="Roboto"/>
              <a:ea typeface="Roboto"/>
              <a:cs typeface="Roboto"/>
              <a:sym typeface="Roboto"/>
            </a:endParaRPr>
          </a:p>
          <a:p>
            <a:pPr marL="457200" lvl="0" indent="-342900" algn="l" rtl="0">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    Helps access government programs for industrial development and facilitates discussion and cooperation amongst industry, government, and all levels of academia.</a:t>
            </a:r>
            <a:endParaRPr sz="1800">
              <a:solidFill>
                <a:schemeClr val="dk2"/>
              </a:solidFill>
              <a:latin typeface="Roboto"/>
              <a:ea typeface="Roboto"/>
              <a:cs typeface="Roboto"/>
              <a:sym typeface="Roboto"/>
            </a:endParaRPr>
          </a:p>
          <a:p>
            <a:pPr marL="457200" lvl="0" indent="-342900" algn="l" rtl="0">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    ADIANS’ development of an aerospace and defence sector export strategy, enhances current and future opportunities for manufacturers, suppliers and service companies.</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1.d) Air Canada Technical Services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2" name="Google Shape;112;p20"/>
          <p:cNvSpPr txBox="1"/>
          <p:nvPr/>
        </p:nvSpPr>
        <p:spPr>
          <a:xfrm>
            <a:off x="375475" y="1374250"/>
            <a:ext cx="8393100" cy="358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2"/>
                </a:solidFill>
                <a:latin typeface="Roboto"/>
                <a:ea typeface="Roboto"/>
                <a:cs typeface="Roboto"/>
                <a:sym typeface="Roboto"/>
              </a:rPr>
              <a:t>Provides quick and high quality maintenance, repair and overhaul services to commercial airlines, leasing companies and the military. </a:t>
            </a:r>
            <a:endParaRPr sz="1700">
              <a:solidFill>
                <a:schemeClr val="dk2"/>
              </a:solidFill>
              <a:latin typeface="Roboto"/>
              <a:ea typeface="Roboto"/>
              <a:cs typeface="Roboto"/>
              <a:sym typeface="Roboto"/>
            </a:endParaRPr>
          </a:p>
          <a:p>
            <a:pPr marL="0" lvl="0" indent="0" algn="l" rtl="0">
              <a:spcBef>
                <a:spcPts val="0"/>
              </a:spcBef>
              <a:spcAft>
                <a:spcPts val="0"/>
              </a:spcAft>
              <a:buNone/>
            </a:pP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u="sng">
                <a:solidFill>
                  <a:schemeClr val="dk2"/>
                </a:solidFill>
                <a:latin typeface="Roboto"/>
                <a:ea typeface="Roboto"/>
                <a:cs typeface="Roboto"/>
                <a:sym typeface="Roboto"/>
              </a:rPr>
              <a:t>OPERATIONS</a:t>
            </a:r>
            <a:endParaRPr sz="1700" u="sng">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Airframe Maintenance - Cabin, painting, modification</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Component Maintenance - Instruments, fuel system, landing gear</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Engine Maintenance - includes repairs and overhauls</a:t>
            </a:r>
            <a:endParaRPr sz="1700">
              <a:solidFill>
                <a:schemeClr val="dk2"/>
              </a:solidFill>
              <a:latin typeface="Roboto"/>
              <a:ea typeface="Roboto"/>
              <a:cs typeface="Roboto"/>
              <a:sym typeface="Roboto"/>
            </a:endParaRPr>
          </a:p>
          <a:p>
            <a:pPr marL="0" lvl="0" indent="0" algn="l" rtl="0">
              <a:spcBef>
                <a:spcPts val="0"/>
              </a:spcBef>
              <a:spcAft>
                <a:spcPts val="0"/>
              </a:spcAft>
              <a:buNone/>
            </a:pP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u="sng">
                <a:solidFill>
                  <a:schemeClr val="dk2"/>
                </a:solidFill>
                <a:latin typeface="Roboto"/>
                <a:ea typeface="Roboto"/>
                <a:cs typeface="Roboto"/>
                <a:sym typeface="Roboto"/>
              </a:rPr>
              <a:t>Other services include:</a:t>
            </a:r>
            <a:endParaRPr sz="1700" u="sng">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On-wing support,</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Quick engine change,</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Thrust reversers,</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Engine components repairs.</a:t>
            </a:r>
            <a:endParaRPr sz="1700">
              <a:solidFill>
                <a:schemeClr val="dk2"/>
              </a:solidFill>
              <a:latin typeface="Roboto"/>
              <a:ea typeface="Roboto"/>
              <a:cs typeface="Roboto"/>
              <a:sym typeface="Roboto"/>
            </a:endParaRPr>
          </a:p>
        </p:txBody>
      </p:sp>
      <p:sp>
        <p:nvSpPr>
          <p:cNvPr id="113" name="Google Shape;113;p20"/>
          <p:cNvSpPr txBox="1"/>
          <p:nvPr/>
        </p:nvSpPr>
        <p:spPr>
          <a:xfrm>
            <a:off x="4572000" y="3388800"/>
            <a:ext cx="4406700" cy="175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u="sng">
                <a:solidFill>
                  <a:schemeClr val="dk2"/>
                </a:solidFill>
                <a:latin typeface="Roboto"/>
                <a:ea typeface="Roboto"/>
                <a:cs typeface="Roboto"/>
                <a:sym typeface="Roboto"/>
              </a:rPr>
              <a:t>Specialized Services</a:t>
            </a:r>
            <a:endParaRPr sz="1700" u="sng">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Technical training,</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Fleet management and engineering,</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Technical records and publication services,</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Material management</a:t>
            </a:r>
            <a:endParaRPr sz="1300">
              <a:solidFill>
                <a:schemeClr val="dk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1.e) CHC Helicopter Corporation</a:t>
            </a:r>
            <a:endParaRPr/>
          </a:p>
        </p:txBody>
      </p:sp>
      <p:sp>
        <p:nvSpPr>
          <p:cNvPr id="119" name="Google Shape;119;p21"/>
          <p:cNvSpPr txBox="1"/>
          <p:nvPr/>
        </p:nvSpPr>
        <p:spPr>
          <a:xfrm>
            <a:off x="180475" y="1356900"/>
            <a:ext cx="8783100" cy="3786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latin typeface="Roboto"/>
                <a:ea typeface="Roboto"/>
                <a:cs typeface="Roboto"/>
                <a:sym typeface="Roboto"/>
              </a:rPr>
              <a:t>World’s largest provider of helicopter services to the global offshore oil and</a:t>
            </a: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gas industry</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A total solutions transportation service company, providing its customers with</a:t>
            </a: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aircraft, pilots, maintenance, insurance, logistics support and training anywhere in the world. </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CHC’s current projects include: offshore industries support, offshore search and rescue, air ambulance services, repair and overhaul services, aerial firefighting support, construction industry service, mineral exploration support, composite materials manufacturing, flight training and flight simulator facilities,</a:t>
            </a: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humanitarian aid work and a variety of other helicopter services around the world.</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1.f) Field Aviation</a:t>
            </a:r>
            <a:endParaRPr/>
          </a:p>
        </p:txBody>
      </p:sp>
      <p:sp>
        <p:nvSpPr>
          <p:cNvPr id="125" name="Google Shape;125;p22"/>
          <p:cNvSpPr txBox="1"/>
          <p:nvPr/>
        </p:nvSpPr>
        <p:spPr>
          <a:xfrm>
            <a:off x="225200" y="1356900"/>
            <a:ext cx="8979000" cy="3786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latin typeface="Roboto"/>
                <a:ea typeface="Roboto"/>
                <a:cs typeface="Roboto"/>
                <a:sym typeface="Roboto"/>
              </a:rPr>
              <a:t>Since 1947, Field Aviation (Field) has grown into a worldwide airline support centre serving regional aircraft including commercial, corporate, individual, and military aircraft. Field is dedicated to servicing most turboprop and regional jet aircraft.</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Experienced in repairing, modifying, and refinishing regional aircraft.</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One of Canada’s largest full-service support organizations with major operation centres in Calgary and Toronto.</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Field employs aviation technicians that conduct a multitude of heavy checks, airframe structural repairs and modifications, exterior and interior refurbishments, along with a comprehensive array of aircraft avionics and engineering services. Field also manufactures quality spare parts for repair.</a:t>
            </a:r>
            <a:endParaRPr sz="1800">
              <a:solidFill>
                <a:schemeClr val="dk2"/>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1.g) Goderich Aircraft Inc.</a:t>
            </a:r>
            <a:endParaRPr/>
          </a:p>
        </p:txBody>
      </p:sp>
      <p:sp>
        <p:nvSpPr>
          <p:cNvPr id="131" name="Google Shape;131;p23"/>
          <p:cNvSpPr txBox="1"/>
          <p:nvPr/>
        </p:nvSpPr>
        <p:spPr>
          <a:xfrm>
            <a:off x="146875" y="1355100"/>
            <a:ext cx="8850300" cy="4063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latin typeface="Roboto"/>
                <a:ea typeface="Roboto"/>
                <a:cs typeface="Roboto"/>
                <a:sym typeface="Roboto"/>
              </a:rPr>
              <a:t>A company that provides a wide range of services for aircraft. The company services include:</a:t>
            </a: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 aircraft painting,</a:t>
            </a: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 interior refurbishment, such as:</a:t>
            </a:r>
            <a:endParaRPr sz="1800">
              <a:solidFill>
                <a:schemeClr val="dk2"/>
              </a:solidFill>
              <a:latin typeface="Roboto"/>
              <a:ea typeface="Roboto"/>
              <a:cs typeface="Roboto"/>
              <a:sym typeface="Roboto"/>
            </a:endParaRPr>
          </a:p>
          <a:p>
            <a:pPr marL="457200" lvl="0" indent="0" algn="l" rtl="0">
              <a:spcBef>
                <a:spcPts val="0"/>
              </a:spcBef>
              <a:spcAft>
                <a:spcPts val="0"/>
              </a:spcAft>
              <a:buNone/>
            </a:pPr>
            <a:r>
              <a:rPr lang="en" sz="1800">
                <a:solidFill>
                  <a:schemeClr val="dk2"/>
                </a:solidFill>
                <a:latin typeface="Roboto"/>
                <a:ea typeface="Roboto"/>
                <a:cs typeface="Roboto"/>
                <a:sym typeface="Roboto"/>
              </a:rPr>
              <a:t>◦ cabinets,</a:t>
            </a:r>
            <a:endParaRPr sz="1800">
              <a:solidFill>
                <a:schemeClr val="dk2"/>
              </a:solidFill>
              <a:latin typeface="Roboto"/>
              <a:ea typeface="Roboto"/>
              <a:cs typeface="Roboto"/>
              <a:sym typeface="Roboto"/>
            </a:endParaRPr>
          </a:p>
          <a:p>
            <a:pPr marL="457200" lvl="0" indent="0" algn="l" rtl="0">
              <a:spcBef>
                <a:spcPts val="0"/>
              </a:spcBef>
              <a:spcAft>
                <a:spcPts val="0"/>
              </a:spcAft>
              <a:buNone/>
            </a:pPr>
            <a:r>
              <a:rPr lang="en" sz="1800">
                <a:solidFill>
                  <a:schemeClr val="dk2"/>
                </a:solidFill>
                <a:latin typeface="Roboto"/>
                <a:ea typeface="Roboto"/>
                <a:cs typeface="Roboto"/>
                <a:sym typeface="Roboto"/>
              </a:rPr>
              <a:t>◦ carpet, seats, or</a:t>
            </a:r>
            <a:endParaRPr sz="1800">
              <a:solidFill>
                <a:schemeClr val="dk2"/>
              </a:solidFill>
              <a:latin typeface="Roboto"/>
              <a:ea typeface="Roboto"/>
              <a:cs typeface="Roboto"/>
              <a:sym typeface="Roboto"/>
            </a:endParaRPr>
          </a:p>
          <a:p>
            <a:pPr marL="457200" lvl="0" indent="0" algn="l" rtl="0">
              <a:spcBef>
                <a:spcPts val="0"/>
              </a:spcBef>
              <a:spcAft>
                <a:spcPts val="0"/>
              </a:spcAft>
              <a:buNone/>
            </a:pPr>
            <a:r>
              <a:rPr lang="en" sz="1800">
                <a:solidFill>
                  <a:schemeClr val="dk2"/>
                </a:solidFill>
                <a:latin typeface="Roboto"/>
                <a:ea typeface="Roboto"/>
                <a:cs typeface="Roboto"/>
                <a:sym typeface="Roboto"/>
              </a:rPr>
              <a:t>◦floor plan modifications, and</a:t>
            </a: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 avionics, maintenance, such as:</a:t>
            </a:r>
            <a:endParaRPr sz="1800">
              <a:solidFill>
                <a:schemeClr val="dk2"/>
              </a:solidFill>
              <a:latin typeface="Roboto"/>
              <a:ea typeface="Roboto"/>
              <a:cs typeface="Roboto"/>
              <a:sym typeface="Roboto"/>
            </a:endParaRPr>
          </a:p>
          <a:p>
            <a:pPr marL="457200" lvl="0" indent="0" algn="l" rtl="0">
              <a:spcBef>
                <a:spcPts val="0"/>
              </a:spcBef>
              <a:spcAft>
                <a:spcPts val="0"/>
              </a:spcAft>
              <a:buNone/>
            </a:pPr>
            <a:r>
              <a:rPr lang="en" sz="1800">
                <a:solidFill>
                  <a:schemeClr val="dk2"/>
                </a:solidFill>
                <a:latin typeface="Roboto"/>
                <a:ea typeface="Roboto"/>
                <a:cs typeface="Roboto"/>
                <a:sym typeface="Roboto"/>
              </a:rPr>
              <a:t>◦ large scale rebuilds,</a:t>
            </a:r>
            <a:endParaRPr sz="1800">
              <a:solidFill>
                <a:schemeClr val="dk2"/>
              </a:solidFill>
              <a:latin typeface="Roboto"/>
              <a:ea typeface="Roboto"/>
              <a:cs typeface="Roboto"/>
              <a:sym typeface="Roboto"/>
            </a:endParaRPr>
          </a:p>
          <a:p>
            <a:pPr marL="457200" lvl="0" indent="0" algn="l" rtl="0">
              <a:spcBef>
                <a:spcPts val="0"/>
              </a:spcBef>
              <a:spcAft>
                <a:spcPts val="0"/>
              </a:spcAft>
              <a:buNone/>
            </a:pPr>
            <a:r>
              <a:rPr lang="en" sz="1800">
                <a:solidFill>
                  <a:schemeClr val="dk2"/>
                </a:solidFill>
                <a:latin typeface="Roboto"/>
                <a:ea typeface="Roboto"/>
                <a:cs typeface="Roboto"/>
                <a:sym typeface="Roboto"/>
              </a:rPr>
              <a:t>◦ modifications, and</a:t>
            </a:r>
            <a:endParaRPr sz="1800">
              <a:solidFill>
                <a:schemeClr val="dk2"/>
              </a:solidFill>
              <a:latin typeface="Roboto"/>
              <a:ea typeface="Roboto"/>
              <a:cs typeface="Roboto"/>
              <a:sym typeface="Roboto"/>
            </a:endParaRPr>
          </a:p>
          <a:p>
            <a:pPr marL="457200" lvl="0" indent="0" algn="l" rtl="0">
              <a:spcBef>
                <a:spcPts val="0"/>
              </a:spcBef>
              <a:spcAft>
                <a:spcPts val="0"/>
              </a:spcAft>
              <a:buNone/>
            </a:pPr>
            <a:r>
              <a:rPr lang="en" sz="1800">
                <a:solidFill>
                  <a:schemeClr val="dk2"/>
                </a:solidFill>
                <a:latin typeface="Roboto"/>
                <a:ea typeface="Roboto"/>
                <a:cs typeface="Roboto"/>
                <a:sym typeface="Roboto"/>
              </a:rPr>
              <a:t>◦ parts sales.</a:t>
            </a: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Goderich Aircraft Inc. is able to complete maintenance inspections while the aircraft is undergoing other services.</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1.h) Canadian Heli Structures LTD</a:t>
            </a:r>
            <a:endParaRPr/>
          </a:p>
        </p:txBody>
      </p:sp>
      <p:sp>
        <p:nvSpPr>
          <p:cNvPr id="137" name="Google Shape;137;p24"/>
          <p:cNvSpPr txBox="1"/>
          <p:nvPr/>
        </p:nvSpPr>
        <p:spPr>
          <a:xfrm>
            <a:off x="138300" y="1449300"/>
            <a:ext cx="9005700" cy="369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a:solidFill>
                  <a:schemeClr val="dk2"/>
                </a:solidFill>
                <a:latin typeface="Roboto"/>
                <a:ea typeface="Roboto"/>
                <a:cs typeface="Roboto"/>
                <a:sym typeface="Roboto"/>
              </a:rPr>
              <a:t>C.H.S. is a Bell Helicopter Textron (BHT) “Specialty Customer Service Facility”</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and is committed to the utmost in service of Bell Helicopter major structural repairs, modifications, and specialty welding on light and medium turbine helicopters.</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C.H.S. is able to perform airframe repairs with the knowledge of complete overhauls to the highest standards and quality service in a timely manner.</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All their maintenance is performed in compliance with Transport Canada Regulations, which is equivalent to the Federal Aviation Administration (FAA) regulations.</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900">
              <a:solidFill>
                <a:schemeClr val="dk2"/>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1.i) Bombardier</a:t>
            </a:r>
            <a:endParaRPr/>
          </a:p>
        </p:txBody>
      </p:sp>
      <p:sp>
        <p:nvSpPr>
          <p:cNvPr id="143" name="Google Shape;143;p25"/>
          <p:cNvSpPr txBox="1"/>
          <p:nvPr/>
        </p:nvSpPr>
        <p:spPr>
          <a:xfrm>
            <a:off x="155875" y="1303450"/>
            <a:ext cx="8832300" cy="410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2"/>
                </a:solidFill>
                <a:latin typeface="Roboto"/>
                <a:ea typeface="Roboto"/>
                <a:cs typeface="Roboto"/>
                <a:sym typeface="Roboto"/>
              </a:rPr>
              <a:t>Bombardier Aerospace is a world leader in the design and manufacturer of innovative aviation products and services for the business, regional and amphibious aircraft markets. </a:t>
            </a:r>
            <a:endParaRPr sz="1700">
              <a:solidFill>
                <a:schemeClr val="dk2"/>
              </a:solidFill>
              <a:latin typeface="Roboto"/>
              <a:ea typeface="Roboto"/>
              <a:cs typeface="Roboto"/>
              <a:sym typeface="Roboto"/>
            </a:endParaRPr>
          </a:p>
          <a:p>
            <a:pPr marL="0" lvl="0" indent="0" algn="l" rtl="0">
              <a:spcBef>
                <a:spcPts val="0"/>
              </a:spcBef>
              <a:spcAft>
                <a:spcPts val="0"/>
              </a:spcAft>
              <a:buNone/>
            </a:pP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This legacy of innovation consolidates more than 250 years of aviation history and has developed 19 successful new aircraft programs since 1989. Bombardier manufactures business, regional and amphibious aircraft. Their aircraft include:</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Bombardier Learjet family</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Bombardier Challenger family</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Bombardier Global family</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Bombardier CRJ series regional jets</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Bombardier Q series regional turboprops</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Bombardier amphibious aircraft (Bombardier 415).</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The world’s most productive firefighting aircraft in service is the Bombardier 415, capable of search and rescue, maritime patrol, law enforcement and environmental control.</a:t>
            </a:r>
            <a:endParaRPr sz="1700">
              <a:solidFill>
                <a:schemeClr val="dk2"/>
              </a:solidFill>
              <a:latin typeface="Roboto"/>
              <a:ea typeface="Roboto"/>
              <a:cs typeface="Roboto"/>
              <a:sym typeface="Roboto"/>
            </a:endParaRPr>
          </a:p>
          <a:p>
            <a:pPr marL="0" lvl="0" indent="0" algn="l" rtl="0">
              <a:spcBef>
                <a:spcPts val="0"/>
              </a:spcBef>
              <a:spcAft>
                <a:spcPts val="0"/>
              </a:spcAft>
              <a:buNone/>
            </a:pPr>
            <a:endParaRPr sz="1700">
              <a:solidFill>
                <a:schemeClr val="dk2"/>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6"/>
          <p:cNvSpPr txBox="1">
            <a:spLocks noGrp="1"/>
          </p:cNvSpPr>
          <p:nvPr>
            <p:ph type="title"/>
          </p:nvPr>
        </p:nvSpPr>
        <p:spPr>
          <a:xfrm>
            <a:off x="311700" y="355250"/>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Part 2 Overview</a:t>
            </a:r>
            <a:endParaRPr/>
          </a:p>
        </p:txBody>
      </p:sp>
      <p:sp>
        <p:nvSpPr>
          <p:cNvPr id="149" name="Google Shape;149;p26"/>
          <p:cNvSpPr txBox="1"/>
          <p:nvPr/>
        </p:nvSpPr>
        <p:spPr>
          <a:xfrm>
            <a:off x="506500" y="1394025"/>
            <a:ext cx="7765800" cy="3109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a:solidFill>
                  <a:schemeClr val="dk2"/>
                </a:solidFill>
                <a:latin typeface="Roboto"/>
                <a:ea typeface="Roboto"/>
                <a:cs typeface="Roboto"/>
                <a:sym typeface="Roboto"/>
              </a:rPr>
              <a:t>Provide information about the career options in Canada, such as:</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aircraft gas turbine engine repair and overhaul technician,</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aircraft interior technician,</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aircraft maintenance technician,</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avionics maintenance technician,</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aircraft structures technician,</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aviation ground services attendant, and</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aviation and aerospace engineers.</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900">
              <a:solidFill>
                <a:schemeClr val="dk2"/>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7"/>
          <p:cNvSpPr txBox="1">
            <a:spLocks noGrp="1"/>
          </p:cNvSpPr>
          <p:nvPr>
            <p:ph type="title"/>
          </p:nvPr>
        </p:nvSpPr>
        <p:spPr>
          <a:xfrm>
            <a:off x="311700" y="288300"/>
            <a:ext cx="8520600" cy="623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2.a) Aircraft Gas Turbine Engine Repair And Overhaul Technician</a:t>
            </a:r>
            <a:endParaRPr/>
          </a:p>
        </p:txBody>
      </p:sp>
      <p:sp>
        <p:nvSpPr>
          <p:cNvPr id="155" name="Google Shape;155;p27"/>
          <p:cNvSpPr txBox="1"/>
          <p:nvPr/>
        </p:nvSpPr>
        <p:spPr>
          <a:xfrm>
            <a:off x="90225" y="1317925"/>
            <a:ext cx="8852400" cy="410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2"/>
                </a:solidFill>
                <a:latin typeface="Roboto"/>
                <a:ea typeface="Roboto"/>
                <a:cs typeface="Roboto"/>
                <a:sym typeface="Roboto"/>
              </a:rPr>
              <a:t>Challenging and rewarding career that requires a high degree of responsibility and skill. Technicians perform the disassembly, inspection, repair, assembly and testing of gas turbine engines in sophisticated shop environments.</a:t>
            </a:r>
            <a:endParaRPr sz="1700">
              <a:solidFill>
                <a:schemeClr val="dk2"/>
              </a:solidFill>
              <a:latin typeface="Roboto"/>
              <a:ea typeface="Roboto"/>
              <a:cs typeface="Roboto"/>
              <a:sym typeface="Roboto"/>
            </a:endParaRPr>
          </a:p>
          <a:p>
            <a:pPr marL="0" lvl="0" indent="0" algn="l" rtl="0">
              <a:spcBef>
                <a:spcPts val="0"/>
              </a:spcBef>
              <a:spcAft>
                <a:spcPts val="0"/>
              </a:spcAft>
              <a:buNone/>
            </a:pP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u="sng">
                <a:solidFill>
                  <a:schemeClr val="dk2"/>
                </a:solidFill>
                <a:latin typeface="Roboto"/>
                <a:ea typeface="Roboto"/>
                <a:cs typeface="Roboto"/>
                <a:sym typeface="Roboto"/>
              </a:rPr>
              <a:t>Education</a:t>
            </a:r>
            <a:endParaRPr sz="1700" u="sng">
              <a:solidFill>
                <a:schemeClr val="dk2"/>
              </a:solidFill>
              <a:latin typeface="Roboto"/>
              <a:ea typeface="Roboto"/>
              <a:cs typeface="Roboto"/>
              <a:sym typeface="Roboto"/>
            </a:endParaRPr>
          </a:p>
          <a:p>
            <a:pPr marL="457200" lvl="0" indent="-336550" algn="l" rtl="0">
              <a:spcBef>
                <a:spcPts val="0"/>
              </a:spcBef>
              <a:spcAft>
                <a:spcPts val="0"/>
              </a:spcAft>
              <a:buClr>
                <a:schemeClr val="dk2"/>
              </a:buClr>
              <a:buSzPts val="1700"/>
              <a:buFont typeface="Roboto"/>
              <a:buChar char="●"/>
            </a:pPr>
            <a:r>
              <a:rPr lang="en" sz="1700">
                <a:solidFill>
                  <a:schemeClr val="dk2"/>
                </a:solidFill>
                <a:latin typeface="Roboto"/>
                <a:ea typeface="Roboto"/>
                <a:cs typeface="Roboto"/>
                <a:sym typeface="Roboto"/>
              </a:rPr>
              <a:t>high school diploma. </a:t>
            </a:r>
            <a:endParaRPr sz="1700">
              <a:solidFill>
                <a:schemeClr val="dk2"/>
              </a:solidFill>
              <a:latin typeface="Roboto"/>
              <a:ea typeface="Roboto"/>
              <a:cs typeface="Roboto"/>
              <a:sym typeface="Roboto"/>
            </a:endParaRPr>
          </a:p>
          <a:p>
            <a:pPr marL="457200" lvl="0" indent="-336550" algn="l" rtl="0">
              <a:spcBef>
                <a:spcPts val="0"/>
              </a:spcBef>
              <a:spcAft>
                <a:spcPts val="0"/>
              </a:spcAft>
              <a:buClr>
                <a:schemeClr val="dk2"/>
              </a:buClr>
              <a:buSzPts val="1700"/>
              <a:buFont typeface="Roboto"/>
              <a:buChar char="●"/>
            </a:pPr>
            <a:r>
              <a:rPr lang="en" sz="1700">
                <a:solidFill>
                  <a:schemeClr val="dk2"/>
                </a:solidFill>
                <a:latin typeface="Roboto"/>
                <a:ea typeface="Roboto"/>
                <a:cs typeface="Roboto"/>
                <a:sym typeface="Roboto"/>
              </a:rPr>
              <a:t>Complete a recognized structured training program in gas turbine repair and overhaul these courses may be taken at a college or through a company-sponsored program.</a:t>
            </a:r>
            <a:endParaRPr sz="1700">
              <a:solidFill>
                <a:schemeClr val="dk2"/>
              </a:solidFill>
              <a:latin typeface="Roboto"/>
              <a:ea typeface="Roboto"/>
              <a:cs typeface="Roboto"/>
              <a:sym typeface="Roboto"/>
            </a:endParaRPr>
          </a:p>
          <a:p>
            <a:pPr marL="0" lvl="0" indent="0" algn="l" rtl="0">
              <a:spcBef>
                <a:spcPts val="0"/>
              </a:spcBef>
              <a:spcAft>
                <a:spcPts val="0"/>
              </a:spcAft>
              <a:buNone/>
            </a:pP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u="sng">
                <a:solidFill>
                  <a:schemeClr val="dk2"/>
                </a:solidFill>
                <a:latin typeface="Roboto"/>
                <a:ea typeface="Roboto"/>
                <a:cs typeface="Roboto"/>
                <a:sym typeface="Roboto"/>
              </a:rPr>
              <a:t>Work</a:t>
            </a:r>
            <a:endParaRPr sz="1700" u="sng">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Excellent job placement rates with opportunities in engine repair and overhaul facilities, airlines, component and propeller overhaul businesses and engine manufacturers. You can receive an aircraft gas turbine repair and overhaul technician certification through the Canadian Aviation Maintenance Council (CAMC).</a:t>
            </a:r>
            <a:endParaRPr sz="1700">
              <a:solidFill>
                <a:schemeClr val="dk2"/>
              </a:solidFill>
              <a:latin typeface="Roboto"/>
              <a:ea typeface="Roboto"/>
              <a:cs typeface="Roboto"/>
              <a:sym typeface="Roboto"/>
            </a:endParaRPr>
          </a:p>
          <a:p>
            <a:pPr marL="0" lvl="0" indent="0" algn="l" rtl="0">
              <a:spcBef>
                <a:spcPts val="0"/>
              </a:spcBef>
              <a:spcAft>
                <a:spcPts val="0"/>
              </a:spcAft>
              <a:buNone/>
            </a:pPr>
            <a:endParaRPr sz="1700">
              <a:solidFill>
                <a:schemeClr val="dk2"/>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2.b) Aircraft Interior Technician</a:t>
            </a:r>
            <a:endParaRPr/>
          </a:p>
        </p:txBody>
      </p:sp>
      <p:sp>
        <p:nvSpPr>
          <p:cNvPr id="161" name="Google Shape;161;p28"/>
          <p:cNvSpPr txBox="1"/>
          <p:nvPr/>
        </p:nvSpPr>
        <p:spPr>
          <a:xfrm>
            <a:off x="82675" y="1333525"/>
            <a:ext cx="8978700" cy="410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2"/>
                </a:solidFill>
                <a:latin typeface="Roboto"/>
                <a:ea typeface="Roboto"/>
                <a:cs typeface="Roboto"/>
                <a:sym typeface="Roboto"/>
              </a:rPr>
              <a:t>Aircraft interior technicians are responsible for maintaining the quality of aircraft interiors and cabin furnishings as well as aircraft reconfigurations. They deal with everything and anything that has to do with interior components.</a:t>
            </a:r>
            <a:endParaRPr sz="1700">
              <a:solidFill>
                <a:schemeClr val="dk2"/>
              </a:solidFill>
              <a:latin typeface="Roboto"/>
              <a:ea typeface="Roboto"/>
              <a:cs typeface="Roboto"/>
              <a:sym typeface="Roboto"/>
            </a:endParaRPr>
          </a:p>
          <a:p>
            <a:pPr marL="0" lvl="0" indent="0" algn="l" rtl="0">
              <a:spcBef>
                <a:spcPts val="0"/>
              </a:spcBef>
              <a:spcAft>
                <a:spcPts val="0"/>
              </a:spcAft>
              <a:buNone/>
            </a:pP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Diverse and challenging tasks. Great teamwork, creativity, and attention to detail needed</a:t>
            </a:r>
            <a:endParaRPr sz="1700">
              <a:solidFill>
                <a:schemeClr val="dk2"/>
              </a:solidFill>
              <a:latin typeface="Roboto"/>
              <a:ea typeface="Roboto"/>
              <a:cs typeface="Roboto"/>
              <a:sym typeface="Roboto"/>
            </a:endParaRPr>
          </a:p>
          <a:p>
            <a:pPr marL="0" lvl="0" indent="0" algn="l" rtl="0">
              <a:spcBef>
                <a:spcPts val="0"/>
              </a:spcBef>
              <a:spcAft>
                <a:spcPts val="0"/>
              </a:spcAft>
              <a:buNone/>
            </a:pP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u="sng">
                <a:solidFill>
                  <a:schemeClr val="dk2"/>
                </a:solidFill>
                <a:latin typeface="Roboto"/>
                <a:ea typeface="Roboto"/>
                <a:cs typeface="Roboto"/>
                <a:sym typeface="Roboto"/>
              </a:rPr>
              <a:t>Education</a:t>
            </a:r>
            <a:endParaRPr sz="1700" u="sng">
              <a:solidFill>
                <a:schemeClr val="dk2"/>
              </a:solidFill>
              <a:latin typeface="Roboto"/>
              <a:ea typeface="Roboto"/>
              <a:cs typeface="Roboto"/>
              <a:sym typeface="Roboto"/>
            </a:endParaRPr>
          </a:p>
          <a:p>
            <a:pPr marL="457200" lvl="0" indent="-336550" algn="l" rtl="0">
              <a:spcBef>
                <a:spcPts val="0"/>
              </a:spcBef>
              <a:spcAft>
                <a:spcPts val="0"/>
              </a:spcAft>
              <a:buClr>
                <a:schemeClr val="dk2"/>
              </a:buClr>
              <a:buSzPts val="1700"/>
              <a:buFont typeface="Roboto"/>
              <a:buChar char="●"/>
            </a:pPr>
            <a:r>
              <a:rPr lang="en" sz="1700">
                <a:solidFill>
                  <a:schemeClr val="dk2"/>
                </a:solidFill>
                <a:latin typeface="Roboto"/>
                <a:ea typeface="Roboto"/>
                <a:cs typeface="Roboto"/>
                <a:sym typeface="Roboto"/>
              </a:rPr>
              <a:t>high school diploma</a:t>
            </a:r>
            <a:endParaRPr sz="1700">
              <a:solidFill>
                <a:schemeClr val="dk2"/>
              </a:solidFill>
              <a:latin typeface="Roboto"/>
              <a:ea typeface="Roboto"/>
              <a:cs typeface="Roboto"/>
              <a:sym typeface="Roboto"/>
            </a:endParaRPr>
          </a:p>
          <a:p>
            <a:pPr marL="457200" lvl="0" indent="-336550" algn="l" rtl="0">
              <a:spcBef>
                <a:spcPts val="0"/>
              </a:spcBef>
              <a:spcAft>
                <a:spcPts val="0"/>
              </a:spcAft>
              <a:buClr>
                <a:schemeClr val="dk2"/>
              </a:buClr>
              <a:buSzPts val="1700"/>
              <a:buFont typeface="Roboto"/>
              <a:buChar char="●"/>
            </a:pPr>
            <a:r>
              <a:rPr lang="en" sz="1700">
                <a:solidFill>
                  <a:schemeClr val="dk2"/>
                </a:solidFill>
                <a:latin typeface="Roboto"/>
                <a:ea typeface="Roboto"/>
                <a:cs typeface="Roboto"/>
                <a:sym typeface="Roboto"/>
              </a:rPr>
              <a:t>have an apprenticeship or college training program.</a:t>
            </a:r>
            <a:endParaRPr sz="1700">
              <a:solidFill>
                <a:schemeClr val="dk2"/>
              </a:solidFill>
              <a:latin typeface="Roboto"/>
              <a:ea typeface="Roboto"/>
              <a:cs typeface="Roboto"/>
              <a:sym typeface="Roboto"/>
            </a:endParaRPr>
          </a:p>
          <a:p>
            <a:pPr marL="0" lvl="0" indent="0" algn="l" rtl="0">
              <a:spcBef>
                <a:spcPts val="0"/>
              </a:spcBef>
              <a:spcAft>
                <a:spcPts val="0"/>
              </a:spcAft>
              <a:buNone/>
            </a:pP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u="sng">
                <a:solidFill>
                  <a:schemeClr val="dk2"/>
                </a:solidFill>
                <a:latin typeface="Roboto"/>
                <a:ea typeface="Roboto"/>
                <a:cs typeface="Roboto"/>
                <a:sym typeface="Roboto"/>
              </a:rPr>
              <a:t>Work</a:t>
            </a:r>
            <a:endParaRPr sz="1700" u="sng">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Promising careers as part of larger units working for airlines or major repair and overhaul companies and manufacturers. You can receive an aircraft interior technician certification through the Canadian Aviation Maintenance Council (CAMC).</a:t>
            </a:r>
            <a:endParaRPr sz="1700">
              <a:solidFill>
                <a:schemeClr val="dk2"/>
              </a:solidFill>
              <a:latin typeface="Roboto"/>
              <a:ea typeface="Roboto"/>
              <a:cs typeface="Roboto"/>
              <a:sym typeface="Roboto"/>
            </a:endParaRPr>
          </a:p>
          <a:p>
            <a:pPr marL="0" lvl="0" indent="0" algn="l" rtl="0">
              <a:spcBef>
                <a:spcPts val="0"/>
              </a:spcBef>
              <a:spcAft>
                <a:spcPts val="0"/>
              </a:spcAft>
              <a:buNone/>
            </a:pPr>
            <a:endParaRPr sz="1700">
              <a:solidFill>
                <a:schemeClr val="dk2"/>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2.c) Aircraft Maintenance Technician</a:t>
            </a:r>
            <a:endParaRPr/>
          </a:p>
        </p:txBody>
      </p:sp>
      <p:sp>
        <p:nvSpPr>
          <p:cNvPr id="167" name="Google Shape;167;p29"/>
          <p:cNvSpPr txBox="1"/>
          <p:nvPr/>
        </p:nvSpPr>
        <p:spPr>
          <a:xfrm>
            <a:off x="120475" y="1697450"/>
            <a:ext cx="8903100" cy="295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2"/>
                </a:solidFill>
                <a:latin typeface="Roboto"/>
                <a:ea typeface="Roboto"/>
                <a:cs typeface="Roboto"/>
                <a:sym typeface="Roboto"/>
              </a:rPr>
              <a:t>Responsible for keeping aircraft operating safely and efficiently.They service, repair and overhaul aircraft components and systems.</a:t>
            </a:r>
            <a:endParaRPr sz="2000">
              <a:solidFill>
                <a:schemeClr val="dk2"/>
              </a:solidFill>
              <a:latin typeface="Roboto"/>
              <a:ea typeface="Roboto"/>
              <a:cs typeface="Roboto"/>
              <a:sym typeface="Roboto"/>
            </a:endParaRPr>
          </a:p>
          <a:p>
            <a:pPr marL="0" lvl="0" indent="0" algn="l" rtl="0">
              <a:spcBef>
                <a:spcPts val="0"/>
              </a:spcBef>
              <a:spcAft>
                <a:spcPts val="0"/>
              </a:spcAft>
              <a:buNone/>
            </a:pPr>
            <a:endParaRPr sz="2000">
              <a:solidFill>
                <a:schemeClr val="dk2"/>
              </a:solidFill>
              <a:latin typeface="Roboto"/>
              <a:ea typeface="Roboto"/>
              <a:cs typeface="Roboto"/>
              <a:sym typeface="Roboto"/>
            </a:endParaRPr>
          </a:p>
          <a:p>
            <a:pPr marL="0" lvl="0" indent="0" algn="l" rtl="0">
              <a:spcBef>
                <a:spcPts val="0"/>
              </a:spcBef>
              <a:spcAft>
                <a:spcPts val="0"/>
              </a:spcAft>
              <a:buNone/>
            </a:pPr>
            <a:r>
              <a:rPr lang="en" sz="2000">
                <a:solidFill>
                  <a:schemeClr val="dk2"/>
                </a:solidFill>
                <a:latin typeface="Roboto"/>
                <a:ea typeface="Roboto"/>
                <a:cs typeface="Roboto"/>
                <a:sym typeface="Roboto"/>
              </a:rPr>
              <a:t>Can perform maintenance on many different types of aircrafts.Must be extremely strict with safety and good communication. Have to stay on top of updates with technology and safety regulations.  If you are looking for a challenging career with limitless potential, be sure to look into becoming an aircraft maintenance technician.</a:t>
            </a:r>
            <a:endParaRPr sz="2000">
              <a:solidFill>
                <a:schemeClr val="dk2"/>
              </a:solidFill>
              <a:latin typeface="Roboto"/>
              <a:ea typeface="Roboto"/>
              <a:cs typeface="Roboto"/>
              <a:sym typeface="Roboto"/>
            </a:endParaRPr>
          </a:p>
          <a:p>
            <a:pPr marL="0" lvl="0" indent="0" algn="l" rtl="0">
              <a:spcBef>
                <a:spcPts val="0"/>
              </a:spcBef>
              <a:spcAft>
                <a:spcPts val="0"/>
              </a:spcAft>
              <a:buNone/>
            </a:pPr>
            <a:endParaRPr sz="2000">
              <a:solidFill>
                <a:schemeClr val="dk2"/>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2.c) Aircraft Maintenance Technician</a:t>
            </a:r>
            <a:endParaRPr/>
          </a:p>
        </p:txBody>
      </p:sp>
      <p:sp>
        <p:nvSpPr>
          <p:cNvPr id="173" name="Google Shape;173;p30"/>
          <p:cNvSpPr txBox="1"/>
          <p:nvPr/>
        </p:nvSpPr>
        <p:spPr>
          <a:xfrm>
            <a:off x="180650" y="1306425"/>
            <a:ext cx="8903100" cy="369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u="sng">
                <a:solidFill>
                  <a:schemeClr val="dk2"/>
                </a:solidFill>
                <a:latin typeface="Roboto"/>
                <a:ea typeface="Roboto"/>
                <a:cs typeface="Roboto"/>
                <a:sym typeface="Roboto"/>
              </a:rPr>
              <a:t>Education</a:t>
            </a:r>
            <a:endParaRPr sz="1900" u="sng">
              <a:solidFill>
                <a:schemeClr val="dk2"/>
              </a:solidFill>
              <a:latin typeface="Roboto"/>
              <a:ea typeface="Roboto"/>
              <a:cs typeface="Roboto"/>
              <a:sym typeface="Roboto"/>
            </a:endParaRPr>
          </a:p>
          <a:p>
            <a:pPr marL="457200" lvl="0" indent="-349250" algn="l" rtl="0">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High school diploma</a:t>
            </a:r>
            <a:endParaRPr sz="1900">
              <a:solidFill>
                <a:schemeClr val="dk2"/>
              </a:solidFill>
              <a:latin typeface="Roboto"/>
              <a:ea typeface="Roboto"/>
              <a:cs typeface="Roboto"/>
              <a:sym typeface="Roboto"/>
            </a:endParaRPr>
          </a:p>
          <a:p>
            <a:pPr marL="457200" lvl="0" indent="-349250" algn="l" rtl="0">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Must complete training at a certified college or training facility. </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u="sng">
                <a:solidFill>
                  <a:schemeClr val="dk2"/>
                </a:solidFill>
                <a:latin typeface="Roboto"/>
                <a:ea typeface="Roboto"/>
                <a:cs typeface="Roboto"/>
                <a:sym typeface="Roboto"/>
              </a:rPr>
              <a:t>Work</a:t>
            </a:r>
            <a:endParaRPr sz="1900" u="sng">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Rewarding career with airlines, aircraft manufacturers, aerospace organizations, the military, as well as repair and maintenance facilities.can be certified by the Canadian Aviation Maintenance Council (CAMC) and/or become an aviation maintenance engineer “M” class (AME)(M), which is a Transport Canada licensed trade. From there, you could go on to join management as a company’s director of maintenance.</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900">
              <a:solidFill>
                <a:schemeClr val="dk2"/>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2.d) Avionics Maintenance Technician</a:t>
            </a:r>
            <a:endParaRPr/>
          </a:p>
        </p:txBody>
      </p:sp>
      <p:sp>
        <p:nvSpPr>
          <p:cNvPr id="179" name="Google Shape;179;p31"/>
          <p:cNvSpPr txBox="1"/>
          <p:nvPr/>
        </p:nvSpPr>
        <p:spPr>
          <a:xfrm>
            <a:off x="311700" y="1786800"/>
            <a:ext cx="85206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a:solidFill>
                  <a:schemeClr val="dk2"/>
                </a:solidFill>
                <a:latin typeface="Roboto"/>
                <a:ea typeface="Roboto"/>
                <a:cs typeface="Roboto"/>
                <a:sym typeface="Roboto"/>
              </a:rPr>
              <a:t>Avionics is the study and practice of complex electronic and electrical systems including navigation, guidance systems, communications, surveillance and flight control. Avionics maintenance technicians carry out tests, calibrations, repairs and maintenance on these systems. Good communication, teamwork, and safety are needed. This is arguably one of the most demanding trades in aviation.</a:t>
            </a:r>
            <a:endParaRPr sz="2200">
              <a:solidFill>
                <a:schemeClr val="dk2"/>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2.d) Avionics Maintenance Technician</a:t>
            </a:r>
            <a:endParaRPr/>
          </a:p>
        </p:txBody>
      </p:sp>
      <p:sp>
        <p:nvSpPr>
          <p:cNvPr id="185" name="Google Shape;185;p32"/>
          <p:cNvSpPr txBox="1"/>
          <p:nvPr/>
        </p:nvSpPr>
        <p:spPr>
          <a:xfrm>
            <a:off x="178500" y="1430875"/>
            <a:ext cx="8787000" cy="398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u="sng">
                <a:solidFill>
                  <a:schemeClr val="dk2"/>
                </a:solidFill>
                <a:latin typeface="Roboto"/>
                <a:ea typeface="Roboto"/>
                <a:cs typeface="Roboto"/>
                <a:sym typeface="Roboto"/>
              </a:rPr>
              <a:t>Education</a:t>
            </a:r>
            <a:endParaRPr sz="1900" u="sng">
              <a:solidFill>
                <a:schemeClr val="dk2"/>
              </a:solidFill>
              <a:latin typeface="Roboto"/>
              <a:ea typeface="Roboto"/>
              <a:cs typeface="Roboto"/>
              <a:sym typeface="Roboto"/>
            </a:endParaRPr>
          </a:p>
          <a:p>
            <a:pPr marL="457200" lvl="0" indent="-349250" algn="l" rtl="0">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high school diploma with strong grades in English, communications and mathematics</a:t>
            </a:r>
            <a:endParaRPr sz="1900">
              <a:solidFill>
                <a:schemeClr val="dk2"/>
              </a:solidFill>
              <a:latin typeface="Roboto"/>
              <a:ea typeface="Roboto"/>
              <a:cs typeface="Roboto"/>
              <a:sym typeface="Roboto"/>
            </a:endParaRPr>
          </a:p>
          <a:p>
            <a:pPr marL="457200" lvl="0" indent="-349250" algn="l" rtl="0">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you will then complete a college program in electrical and electronics or specialized training at a certified college or training facility. </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u="sng">
                <a:solidFill>
                  <a:schemeClr val="dk2"/>
                </a:solidFill>
                <a:latin typeface="Roboto"/>
                <a:ea typeface="Roboto"/>
                <a:cs typeface="Roboto"/>
                <a:sym typeface="Roboto"/>
              </a:rPr>
              <a:t>Work</a:t>
            </a:r>
            <a:endParaRPr sz="1900" u="sng">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A career as an avionics maintenance technician opens the door to airports, aviation electronic shops, airlines, helicopter operations, aircraft manufacturers and repair facilities and aerospace organizations. You can be certified by the Canadian Aviation Maintenance Council (CAMC) and/or become an aviation maintenance engineer “E” category (AME)(E), which is a Transport Canada licensed trade.</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900">
              <a:solidFill>
                <a:schemeClr val="dk2"/>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2.e) Aircraft Structures Technician</a:t>
            </a:r>
            <a:endParaRPr/>
          </a:p>
        </p:txBody>
      </p:sp>
      <p:sp>
        <p:nvSpPr>
          <p:cNvPr id="191" name="Google Shape;191;p33"/>
          <p:cNvSpPr txBox="1"/>
          <p:nvPr/>
        </p:nvSpPr>
        <p:spPr>
          <a:xfrm>
            <a:off x="311725" y="1957875"/>
            <a:ext cx="86784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2"/>
                </a:solidFill>
                <a:latin typeface="Roboto"/>
                <a:ea typeface="Roboto"/>
                <a:cs typeface="Roboto"/>
                <a:sym typeface="Roboto"/>
              </a:rPr>
              <a:t>The aircraft structures technician’s job is to keep the aircraft in perfect flying condition by constructing and repairing metal and composite parts of an aircraft’s fuselage, wings and control surfaces, which include machining, painting, welding and refinishing. You will also be expected to follow aircraft fabrication and repair schemes with surgical precision for aluminum, titanium and stainless steel structures, as well as plastics and composites.</a:t>
            </a:r>
            <a:endParaRPr sz="2000">
              <a:solidFill>
                <a:schemeClr val="dk2"/>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2.e) Aircraft Structures Technician</a:t>
            </a:r>
            <a:endParaRPr/>
          </a:p>
        </p:txBody>
      </p:sp>
      <p:sp>
        <p:nvSpPr>
          <p:cNvPr id="197" name="Google Shape;197;p34"/>
          <p:cNvSpPr txBox="1"/>
          <p:nvPr/>
        </p:nvSpPr>
        <p:spPr>
          <a:xfrm>
            <a:off x="89725" y="1356275"/>
            <a:ext cx="8964600" cy="3570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u="sng">
                <a:solidFill>
                  <a:schemeClr val="dk2"/>
                </a:solidFill>
                <a:latin typeface="Roboto"/>
                <a:ea typeface="Roboto"/>
                <a:cs typeface="Roboto"/>
                <a:sym typeface="Roboto"/>
              </a:rPr>
              <a:t>Education</a:t>
            </a:r>
            <a:endParaRPr sz="2000" u="sng">
              <a:solidFill>
                <a:schemeClr val="dk2"/>
              </a:solidFill>
              <a:latin typeface="Roboto"/>
              <a:ea typeface="Roboto"/>
              <a:cs typeface="Roboto"/>
              <a:sym typeface="Roboto"/>
            </a:endParaRPr>
          </a:p>
          <a:p>
            <a:pPr marL="457200" lvl="0" indent="-355600" algn="l" rtl="0">
              <a:spcBef>
                <a:spcPts val="0"/>
              </a:spcBef>
              <a:spcAft>
                <a:spcPts val="0"/>
              </a:spcAft>
              <a:buClr>
                <a:schemeClr val="dk2"/>
              </a:buClr>
              <a:buSzPts val="2000"/>
              <a:buFont typeface="Roboto"/>
              <a:buChar char="●"/>
            </a:pPr>
            <a:r>
              <a:rPr lang="en" sz="2000">
                <a:solidFill>
                  <a:schemeClr val="dk2"/>
                </a:solidFill>
                <a:latin typeface="Roboto"/>
                <a:ea typeface="Roboto"/>
                <a:cs typeface="Roboto"/>
                <a:sym typeface="Roboto"/>
              </a:rPr>
              <a:t>high school diploma</a:t>
            </a:r>
            <a:endParaRPr sz="2000">
              <a:solidFill>
                <a:schemeClr val="dk2"/>
              </a:solidFill>
              <a:latin typeface="Roboto"/>
              <a:ea typeface="Roboto"/>
              <a:cs typeface="Roboto"/>
              <a:sym typeface="Roboto"/>
            </a:endParaRPr>
          </a:p>
          <a:p>
            <a:pPr marL="457200" lvl="0" indent="-355600" algn="l" rtl="0">
              <a:spcBef>
                <a:spcPts val="0"/>
              </a:spcBef>
              <a:spcAft>
                <a:spcPts val="0"/>
              </a:spcAft>
              <a:buClr>
                <a:schemeClr val="dk2"/>
              </a:buClr>
              <a:buSzPts val="2000"/>
              <a:buFont typeface="Roboto"/>
              <a:buChar char="●"/>
            </a:pPr>
            <a:r>
              <a:rPr lang="en" sz="2000">
                <a:solidFill>
                  <a:schemeClr val="dk2"/>
                </a:solidFill>
                <a:latin typeface="Roboto"/>
                <a:ea typeface="Roboto"/>
                <a:cs typeface="Roboto"/>
                <a:sym typeface="Roboto"/>
              </a:rPr>
              <a:t>additional training at a certified college or training facility.</a:t>
            </a:r>
            <a:endParaRPr sz="2000">
              <a:solidFill>
                <a:schemeClr val="dk2"/>
              </a:solidFill>
              <a:latin typeface="Roboto"/>
              <a:ea typeface="Roboto"/>
              <a:cs typeface="Roboto"/>
              <a:sym typeface="Roboto"/>
            </a:endParaRPr>
          </a:p>
          <a:p>
            <a:pPr marL="0" lvl="0" indent="0" algn="l" rtl="0">
              <a:spcBef>
                <a:spcPts val="0"/>
              </a:spcBef>
              <a:spcAft>
                <a:spcPts val="0"/>
              </a:spcAft>
              <a:buNone/>
            </a:pPr>
            <a:endParaRPr sz="2000">
              <a:solidFill>
                <a:schemeClr val="dk2"/>
              </a:solidFill>
              <a:latin typeface="Roboto"/>
              <a:ea typeface="Roboto"/>
              <a:cs typeface="Roboto"/>
              <a:sym typeface="Roboto"/>
            </a:endParaRPr>
          </a:p>
          <a:p>
            <a:pPr marL="0" lvl="0" indent="0" algn="l" rtl="0">
              <a:spcBef>
                <a:spcPts val="0"/>
              </a:spcBef>
              <a:spcAft>
                <a:spcPts val="0"/>
              </a:spcAft>
              <a:buNone/>
            </a:pPr>
            <a:r>
              <a:rPr lang="en" sz="2000" u="sng">
                <a:solidFill>
                  <a:schemeClr val="dk2"/>
                </a:solidFill>
                <a:latin typeface="Roboto"/>
                <a:ea typeface="Roboto"/>
                <a:cs typeface="Roboto"/>
                <a:sym typeface="Roboto"/>
              </a:rPr>
              <a:t>Work</a:t>
            </a:r>
            <a:endParaRPr sz="2000" u="sng">
              <a:solidFill>
                <a:schemeClr val="dk2"/>
              </a:solidFill>
              <a:latin typeface="Roboto"/>
              <a:ea typeface="Roboto"/>
              <a:cs typeface="Roboto"/>
              <a:sym typeface="Roboto"/>
            </a:endParaRPr>
          </a:p>
          <a:p>
            <a:pPr marL="0" lvl="0" indent="0" algn="l" rtl="0">
              <a:spcBef>
                <a:spcPts val="0"/>
              </a:spcBef>
              <a:spcAft>
                <a:spcPts val="0"/>
              </a:spcAft>
              <a:buNone/>
            </a:pPr>
            <a:r>
              <a:rPr lang="en" sz="2000">
                <a:solidFill>
                  <a:schemeClr val="dk2"/>
                </a:solidFill>
                <a:latin typeface="Roboto"/>
                <a:ea typeface="Roboto"/>
                <a:cs typeface="Roboto"/>
                <a:sym typeface="Roboto"/>
              </a:rPr>
              <a:t>You can become certified by the Canadian Aviation Maintenance Council (CAMC) as an aircraft structures technician and find a rewarding career with airlines, maintenance and overhaul companies, aircraft manufacturers or aerospace organizations. This trade is a prerequisite to becoming an aviation maintenance engineer “S” category (AME)(S), which is a Transport Canada licensed trade.</a:t>
            </a:r>
            <a:endParaRPr sz="2000">
              <a:solidFill>
                <a:schemeClr val="dk2"/>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2.f) Aviation Ground Services Attendant</a:t>
            </a:r>
            <a:endParaRPr/>
          </a:p>
        </p:txBody>
      </p:sp>
      <p:sp>
        <p:nvSpPr>
          <p:cNvPr id="203" name="Google Shape;203;p35"/>
          <p:cNvSpPr txBox="1"/>
          <p:nvPr/>
        </p:nvSpPr>
        <p:spPr>
          <a:xfrm>
            <a:off x="155875" y="1356900"/>
            <a:ext cx="8832300" cy="3786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latin typeface="Roboto"/>
                <a:ea typeface="Roboto"/>
                <a:cs typeface="Roboto"/>
                <a:sym typeface="Roboto"/>
              </a:rPr>
              <a:t>Aviation ground services attendants use motorized equipment to service an aircraft. Ground services attendants load and unload the aircraft materials, and position the baggage/cargo to maintain a safe operating weight and balance. </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The lead attendant is responsible for the final pre-flight security inspection and commands the push-back crew. </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They need to be physically fit, able to work outside in any weather, have excellent math and physics skills, environmental awareness and hazardous material knowledge.</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Entry level job for other positions and promotions. They can also rise</a:t>
            </a: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up to management positions</a:t>
            </a:r>
            <a:endParaRPr sz="1800">
              <a:solidFill>
                <a:schemeClr val="dk2"/>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2.f) Aviation Ground Services Attendant</a:t>
            </a:r>
            <a:endParaRPr/>
          </a:p>
        </p:txBody>
      </p:sp>
      <p:sp>
        <p:nvSpPr>
          <p:cNvPr id="209" name="Google Shape;209;p36"/>
          <p:cNvSpPr txBox="1"/>
          <p:nvPr/>
        </p:nvSpPr>
        <p:spPr>
          <a:xfrm>
            <a:off x="135625" y="1340950"/>
            <a:ext cx="9008400" cy="3786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u="sng">
                <a:solidFill>
                  <a:schemeClr val="dk2"/>
                </a:solidFill>
                <a:latin typeface="Roboto"/>
                <a:ea typeface="Roboto"/>
                <a:cs typeface="Roboto"/>
                <a:sym typeface="Roboto"/>
              </a:rPr>
              <a:t>Education</a:t>
            </a:r>
            <a:endParaRPr sz="1700" u="sng">
              <a:solidFill>
                <a:schemeClr val="dk2"/>
              </a:solidFill>
              <a:latin typeface="Roboto"/>
              <a:ea typeface="Roboto"/>
              <a:cs typeface="Roboto"/>
              <a:sym typeface="Roboto"/>
            </a:endParaRPr>
          </a:p>
          <a:p>
            <a:pPr marL="457200" lvl="0" indent="-342900" algn="l" rtl="0">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high school diploma. </a:t>
            </a:r>
            <a:endParaRPr sz="1800">
              <a:solidFill>
                <a:schemeClr val="dk2"/>
              </a:solidFill>
              <a:latin typeface="Roboto"/>
              <a:ea typeface="Roboto"/>
              <a:cs typeface="Roboto"/>
              <a:sym typeface="Roboto"/>
            </a:endParaRPr>
          </a:p>
          <a:p>
            <a:pPr marL="457200" lvl="0" indent="-336550" algn="l" rtl="0">
              <a:spcBef>
                <a:spcPts val="0"/>
              </a:spcBef>
              <a:spcAft>
                <a:spcPts val="0"/>
              </a:spcAft>
              <a:buClr>
                <a:schemeClr val="dk2"/>
              </a:buClr>
              <a:buSzPts val="1700"/>
              <a:buFont typeface="Roboto"/>
              <a:buChar char="●"/>
            </a:pPr>
            <a:r>
              <a:rPr lang="en" sz="1700">
                <a:solidFill>
                  <a:schemeClr val="dk2"/>
                </a:solidFill>
                <a:latin typeface="Roboto"/>
                <a:ea typeface="Roboto"/>
                <a:cs typeface="Roboto"/>
                <a:sym typeface="Roboto"/>
              </a:rPr>
              <a:t>receive internal company training in aviation general practices and specialized courses. </a:t>
            </a:r>
            <a:endParaRPr sz="1700">
              <a:solidFill>
                <a:schemeClr val="dk2"/>
              </a:solidFill>
              <a:latin typeface="Roboto"/>
              <a:ea typeface="Roboto"/>
              <a:cs typeface="Roboto"/>
              <a:sym typeface="Roboto"/>
            </a:endParaRPr>
          </a:p>
          <a:p>
            <a:pPr marL="457200" lvl="0" indent="-342900" algn="l" rtl="0">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Companies will provide the licenses and a driving permit. Canadian Aviation Maintenance Council (CAMC) certification is available with a minimum of one year’s experience in the occupation at level 1 - Cargo, and one more year’s experience at level 2 - Passenger.</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900" u="sng">
                <a:solidFill>
                  <a:schemeClr val="dk2"/>
                </a:solidFill>
                <a:latin typeface="Roboto"/>
                <a:ea typeface="Roboto"/>
                <a:cs typeface="Roboto"/>
                <a:sym typeface="Roboto"/>
              </a:rPr>
              <a:t>Work</a:t>
            </a:r>
            <a:endParaRPr sz="1900" u="sng">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Some of the job titles available in this occupation include:</a:t>
            </a:r>
            <a:endParaRPr sz="1900">
              <a:solidFill>
                <a:schemeClr val="dk2"/>
              </a:solidFill>
              <a:latin typeface="Roboto"/>
              <a:ea typeface="Roboto"/>
              <a:cs typeface="Roboto"/>
              <a:sym typeface="Roboto"/>
            </a:endParaRPr>
          </a:p>
          <a:p>
            <a:pPr marL="0" lvl="0" indent="457200" algn="l" rtl="0">
              <a:spcBef>
                <a:spcPts val="0"/>
              </a:spcBef>
              <a:spcAft>
                <a:spcPts val="0"/>
              </a:spcAft>
              <a:buNone/>
            </a:pPr>
            <a:r>
              <a:rPr lang="en" sz="1900">
                <a:solidFill>
                  <a:schemeClr val="dk2"/>
                </a:solidFill>
                <a:latin typeface="Roboto"/>
                <a:ea typeface="Roboto"/>
                <a:cs typeface="Roboto"/>
                <a:sym typeface="Roboto"/>
              </a:rPr>
              <a:t>• Station attendant  		 • Lead station attendant</a:t>
            </a:r>
            <a:endParaRPr sz="1900">
              <a:solidFill>
                <a:schemeClr val="dk2"/>
              </a:solidFill>
              <a:latin typeface="Roboto"/>
              <a:ea typeface="Roboto"/>
              <a:cs typeface="Roboto"/>
              <a:sym typeface="Roboto"/>
            </a:endParaRPr>
          </a:p>
          <a:p>
            <a:pPr marL="0" lvl="0" indent="457200" algn="l" rtl="0">
              <a:spcBef>
                <a:spcPts val="0"/>
              </a:spcBef>
              <a:spcAft>
                <a:spcPts val="0"/>
              </a:spcAft>
              <a:buNone/>
            </a:pPr>
            <a:r>
              <a:rPr lang="en" sz="1900">
                <a:solidFill>
                  <a:schemeClr val="dk2"/>
                </a:solidFill>
                <a:latin typeface="Roboto"/>
                <a:ea typeface="Roboto"/>
                <a:cs typeface="Roboto"/>
                <a:sym typeface="Roboto"/>
              </a:rPr>
              <a:t>• Cargo attendant     		• Commissary attendant.</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700">
              <a:solidFill>
                <a:schemeClr val="dk2"/>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2.g) Aviation And Aerospace Engineers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15" name="Google Shape;215;p37"/>
          <p:cNvSpPr txBox="1"/>
          <p:nvPr/>
        </p:nvSpPr>
        <p:spPr>
          <a:xfrm>
            <a:off x="186000" y="1298775"/>
            <a:ext cx="8958000" cy="3714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2"/>
                </a:solidFill>
                <a:latin typeface="Roboto"/>
                <a:ea typeface="Roboto"/>
                <a:cs typeface="Roboto"/>
                <a:sym typeface="Roboto"/>
              </a:rPr>
              <a:t>The aviation and aerospace industry holds many challenges and rewards for engineering. The following engineers are contributors in aviation and aerospace:</a:t>
            </a:r>
            <a:endParaRPr sz="1700">
              <a:solidFill>
                <a:schemeClr val="dk2"/>
              </a:solidFill>
              <a:latin typeface="Roboto"/>
              <a:ea typeface="Roboto"/>
              <a:cs typeface="Roboto"/>
              <a:sym typeface="Roboto"/>
            </a:endParaRPr>
          </a:p>
          <a:p>
            <a:pPr marL="0" lvl="0" indent="0" algn="l" rtl="0">
              <a:spcBef>
                <a:spcPts val="1000"/>
              </a:spcBef>
              <a:spcAft>
                <a:spcPts val="0"/>
              </a:spcAft>
              <a:buNone/>
            </a:pPr>
            <a:r>
              <a:rPr lang="en" sz="1700">
                <a:solidFill>
                  <a:schemeClr val="dk2"/>
                </a:solidFill>
                <a:latin typeface="Roboto"/>
                <a:ea typeface="Roboto"/>
                <a:cs typeface="Roboto"/>
                <a:sym typeface="Roboto"/>
              </a:rPr>
              <a:t>• Aerodynamics,</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Avionics,</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Design,</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Engineering reliability,</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Equipment,</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Field service,</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Flight test,</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Instrumentation,</a:t>
            </a:r>
            <a:endParaRPr sz="1700">
              <a:solidFill>
                <a:schemeClr val="dk2"/>
              </a:solidFill>
              <a:latin typeface="Roboto"/>
              <a:ea typeface="Roboto"/>
              <a:cs typeface="Roboto"/>
              <a:sym typeface="Roboto"/>
            </a:endParaRPr>
          </a:p>
          <a:p>
            <a:pPr marL="0" lvl="0" indent="0" algn="l" rtl="0">
              <a:spcBef>
                <a:spcPts val="0"/>
              </a:spcBef>
              <a:spcAft>
                <a:spcPts val="0"/>
              </a:spcAft>
              <a:buNone/>
            </a:pP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Aerospace engineers research, design and develop aircraft, spacecraft, missiles, aerospace systems and their components. Countless opportunities regardless of type of engineering</a:t>
            </a:r>
            <a:endParaRPr sz="1700">
              <a:solidFill>
                <a:schemeClr val="dk2"/>
              </a:solidFill>
              <a:latin typeface="Roboto"/>
              <a:ea typeface="Roboto"/>
              <a:cs typeface="Roboto"/>
              <a:sym typeface="Roboto"/>
            </a:endParaRPr>
          </a:p>
        </p:txBody>
      </p:sp>
      <p:sp>
        <p:nvSpPr>
          <p:cNvPr id="216" name="Google Shape;216;p37"/>
          <p:cNvSpPr txBox="1"/>
          <p:nvPr/>
        </p:nvSpPr>
        <p:spPr>
          <a:xfrm>
            <a:off x="2977800" y="1988400"/>
            <a:ext cx="8662800" cy="220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2"/>
                </a:solidFill>
                <a:latin typeface="Roboto"/>
                <a:ea typeface="Roboto"/>
                <a:cs typeface="Roboto"/>
                <a:sym typeface="Roboto"/>
              </a:rPr>
              <a:t>• Manufacturing materials,</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Aeronautical,</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Aerospace,</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Ceramic,</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Chemical,</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Civil,</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Electronic,</a:t>
            </a:r>
            <a:endParaRPr sz="1700">
              <a:solidFill>
                <a:schemeClr val="dk2"/>
              </a:solidFill>
              <a:latin typeface="Roboto"/>
              <a:ea typeface="Roboto"/>
              <a:cs typeface="Roboto"/>
              <a:sym typeface="Roboto"/>
            </a:endParaRPr>
          </a:p>
          <a:p>
            <a:pPr marL="0" lvl="0" indent="0" algn="l" rtl="0">
              <a:spcBef>
                <a:spcPts val="0"/>
              </a:spcBef>
              <a:spcAft>
                <a:spcPts val="0"/>
              </a:spcAft>
              <a:buNone/>
            </a:pPr>
            <a:endParaRPr sz="1200">
              <a:solidFill>
                <a:schemeClr val="dk2"/>
              </a:solidFill>
              <a:latin typeface="Roboto"/>
              <a:ea typeface="Roboto"/>
              <a:cs typeface="Roboto"/>
              <a:sym typeface="Roboto"/>
            </a:endParaRPr>
          </a:p>
        </p:txBody>
      </p:sp>
      <p:sp>
        <p:nvSpPr>
          <p:cNvPr id="217" name="Google Shape;217;p37"/>
          <p:cNvSpPr txBox="1"/>
          <p:nvPr/>
        </p:nvSpPr>
        <p:spPr>
          <a:xfrm>
            <a:off x="5970650" y="2004600"/>
            <a:ext cx="2962800" cy="201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2"/>
                </a:solidFill>
                <a:latin typeface="Roboto"/>
                <a:ea typeface="Roboto"/>
                <a:cs typeface="Roboto"/>
                <a:sym typeface="Roboto"/>
              </a:rPr>
              <a:t>• Electrical,</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Engineering physics,</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Industrial,</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Mechanical,</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Petroleum,</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Metallurgical, and</a:t>
            </a:r>
            <a:endParaRPr sz="1700">
              <a:solidFill>
                <a:schemeClr val="dk2"/>
              </a:solidFill>
              <a:latin typeface="Roboto"/>
              <a:ea typeface="Roboto"/>
              <a:cs typeface="Roboto"/>
              <a:sym typeface="Roboto"/>
            </a:endParaRPr>
          </a:p>
          <a:p>
            <a:pPr marL="0" lvl="0" indent="0" algn="l" rtl="0">
              <a:spcBef>
                <a:spcPts val="0"/>
              </a:spcBef>
              <a:spcAft>
                <a:spcPts val="0"/>
              </a:spcAft>
              <a:buNone/>
            </a:pPr>
            <a:r>
              <a:rPr lang="en" sz="1700">
                <a:solidFill>
                  <a:schemeClr val="dk2"/>
                </a:solidFill>
                <a:latin typeface="Roboto"/>
                <a:ea typeface="Roboto"/>
                <a:cs typeface="Roboto"/>
                <a:sym typeface="Roboto"/>
              </a:rPr>
              <a:t>• Computer and nuclear.</a:t>
            </a:r>
            <a:endParaRPr sz="1200">
              <a:solidFill>
                <a:schemeClr val="dk2"/>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2.g) Aviation And Aerospace Engineers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23" name="Google Shape;223;p38"/>
          <p:cNvSpPr txBox="1"/>
          <p:nvPr/>
        </p:nvSpPr>
        <p:spPr>
          <a:xfrm>
            <a:off x="360825" y="1584500"/>
            <a:ext cx="8151600" cy="340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u="sng">
                <a:solidFill>
                  <a:schemeClr val="dk2"/>
                </a:solidFill>
                <a:latin typeface="Roboto"/>
                <a:ea typeface="Roboto"/>
                <a:cs typeface="Roboto"/>
                <a:sym typeface="Roboto"/>
              </a:rPr>
              <a:t>Education</a:t>
            </a:r>
            <a:endParaRPr sz="1900" u="sng">
              <a:solidFill>
                <a:schemeClr val="dk2"/>
              </a:solidFill>
              <a:latin typeface="Roboto"/>
              <a:ea typeface="Roboto"/>
              <a:cs typeface="Roboto"/>
              <a:sym typeface="Roboto"/>
            </a:endParaRPr>
          </a:p>
          <a:p>
            <a:pPr marL="457200" lvl="0" indent="-349250" algn="l" rtl="0">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university degree in your preferred area of expertise in order to become an Engineer; in fact you must receive provincial recognition or accreditation.</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u="sng">
                <a:solidFill>
                  <a:schemeClr val="dk2"/>
                </a:solidFill>
                <a:latin typeface="Roboto"/>
                <a:ea typeface="Roboto"/>
                <a:cs typeface="Roboto"/>
                <a:sym typeface="Roboto"/>
              </a:rPr>
              <a:t>Work</a:t>
            </a:r>
            <a:endParaRPr sz="1900" u="sng">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Engineers can find stimulating and rewarding careers in all aviation and aerospace-related firms that design, manufacture, repair and overhaul aeronautical products including complete aircraft, engines, components and systems and subsystems.</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900">
              <a:solidFill>
                <a:schemeClr val="dk2"/>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9"/>
          <p:cNvSpPr txBox="1">
            <a:spLocks noGrp="1"/>
          </p:cNvSpPr>
          <p:nvPr>
            <p:ph type="title"/>
          </p:nvPr>
        </p:nvSpPr>
        <p:spPr>
          <a:xfrm>
            <a:off x="311700" y="355250"/>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Part 3 Overview</a:t>
            </a:r>
            <a:endParaRPr/>
          </a:p>
        </p:txBody>
      </p:sp>
      <p:sp>
        <p:nvSpPr>
          <p:cNvPr id="229" name="Google Shape;229;p39"/>
          <p:cNvSpPr txBox="1"/>
          <p:nvPr/>
        </p:nvSpPr>
        <p:spPr>
          <a:xfrm>
            <a:off x="506500" y="1394025"/>
            <a:ext cx="7765800" cy="398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a:solidFill>
                  <a:schemeClr val="dk2"/>
                </a:solidFill>
                <a:latin typeface="Roboto"/>
                <a:ea typeface="Roboto"/>
                <a:cs typeface="Roboto"/>
                <a:sym typeface="Roboto"/>
              </a:rPr>
              <a:t>Provide information about education and training institutions, such as:</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Simon Fraser University,</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Canadore College of Applied Arts and Technology,</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Centennial College,</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McGill University,</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École des métiers de l’aérospatiale de Montréal,</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Gander Aerospace Training Centre,</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Holland College,</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University of Calgary,</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Nova Scotia Community College, and</a:t>
            </a:r>
            <a:endParaRPr sz="1900">
              <a:solidFill>
                <a:schemeClr val="dk2"/>
              </a:solidFill>
              <a:latin typeface="Roboto"/>
              <a:ea typeface="Roboto"/>
              <a:cs typeface="Roboto"/>
              <a:sym typeface="Roboto"/>
            </a:endParaRPr>
          </a:p>
          <a:p>
            <a:pPr marL="0" lvl="0" indent="0" algn="l" rtl="0">
              <a:spcBef>
                <a:spcPts val="0"/>
              </a:spcBef>
              <a:spcAft>
                <a:spcPts val="0"/>
              </a:spcAft>
              <a:buNone/>
            </a:pPr>
            <a:r>
              <a:rPr lang="en" sz="1900">
                <a:solidFill>
                  <a:schemeClr val="dk2"/>
                </a:solidFill>
                <a:latin typeface="Roboto"/>
                <a:ea typeface="Roboto"/>
                <a:cs typeface="Roboto"/>
                <a:sym typeface="Roboto"/>
              </a:rPr>
              <a:t>• Buffalo School of Aviation.</a:t>
            </a:r>
            <a:endParaRPr sz="1900">
              <a:solidFill>
                <a:schemeClr val="dk2"/>
              </a:solidFill>
              <a:latin typeface="Roboto"/>
              <a:ea typeface="Roboto"/>
              <a:cs typeface="Roboto"/>
              <a:sym typeface="Roboto"/>
            </a:endParaRPr>
          </a:p>
          <a:p>
            <a:pPr marL="0" lvl="0" indent="0" algn="l" rtl="0">
              <a:spcBef>
                <a:spcPts val="0"/>
              </a:spcBef>
              <a:spcAft>
                <a:spcPts val="0"/>
              </a:spcAft>
              <a:buNone/>
            </a:pPr>
            <a:endParaRPr sz="1900">
              <a:solidFill>
                <a:schemeClr val="dk2"/>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0"/>
          <p:cNvSpPr txBox="1">
            <a:spLocks noGrp="1"/>
          </p:cNvSpPr>
          <p:nvPr>
            <p:ph type="title"/>
          </p:nvPr>
        </p:nvSpPr>
        <p:spPr>
          <a:xfrm>
            <a:off x="311700" y="3216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Part 3</a:t>
            </a:r>
            <a:endParaRPr/>
          </a:p>
        </p:txBody>
      </p:sp>
      <p:sp>
        <p:nvSpPr>
          <p:cNvPr id="235" name="Google Shape;235;p40"/>
          <p:cNvSpPr txBox="1"/>
          <p:nvPr/>
        </p:nvSpPr>
        <p:spPr>
          <a:xfrm>
            <a:off x="1414175" y="1528500"/>
            <a:ext cx="6454500" cy="116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u="sng">
                <a:solidFill>
                  <a:schemeClr val="hlink"/>
                </a:solidFill>
                <a:hlinkClick r:id="rId3"/>
              </a:rPr>
              <a:t>A-CR-CCP-802-PF-001.pdf - Google Drive</a:t>
            </a:r>
            <a:endParaRPr sz="2200">
              <a:solidFill>
                <a:schemeClr val="dk2"/>
              </a:solidFill>
              <a:latin typeface="Roboto"/>
              <a:ea typeface="Roboto"/>
              <a:cs typeface="Roboto"/>
              <a:sym typeface="Roboto"/>
            </a:endParaRPr>
          </a:p>
          <a:p>
            <a:pPr marL="0" lvl="0" indent="0" algn="l" rtl="0">
              <a:spcBef>
                <a:spcPts val="0"/>
              </a:spcBef>
              <a:spcAft>
                <a:spcPts val="0"/>
              </a:spcAft>
              <a:buNone/>
            </a:pPr>
            <a:endParaRPr sz="2200">
              <a:solidFill>
                <a:schemeClr val="dk2"/>
              </a:solidFill>
              <a:latin typeface="Roboto"/>
              <a:ea typeface="Roboto"/>
              <a:cs typeface="Roboto"/>
              <a:sym typeface="Roboto"/>
            </a:endParaRPr>
          </a:p>
          <a:p>
            <a:pPr marL="0" lvl="0" indent="0" algn="l" rtl="0">
              <a:spcBef>
                <a:spcPts val="0"/>
              </a:spcBef>
              <a:spcAft>
                <a:spcPts val="0"/>
              </a:spcAft>
              <a:buNone/>
            </a:pPr>
            <a:r>
              <a:rPr lang="en" sz="2200">
                <a:solidFill>
                  <a:schemeClr val="dk2"/>
                </a:solidFill>
                <a:latin typeface="Roboto"/>
                <a:ea typeface="Roboto"/>
                <a:cs typeface="Roboto"/>
                <a:sym typeface="Roboto"/>
              </a:rPr>
              <a:t>Go to page 845 for places of education</a:t>
            </a:r>
            <a:endParaRPr sz="2200">
              <a:solidFill>
                <a:schemeClr val="dk2"/>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40" name="Google Shape;240;p41"/>
          <p:cNvPicPr preferRelativeResize="0"/>
          <p:nvPr/>
        </p:nvPicPr>
        <p:blipFill>
          <a:blip r:embed="rId3">
            <a:alphaModFix/>
          </a:blip>
          <a:stretch>
            <a:fillRect/>
          </a:stretch>
        </p:blipFill>
        <p:spPr>
          <a:xfrm rot="5400000">
            <a:off x="2879500" y="-634300"/>
            <a:ext cx="4995650" cy="6412099"/>
          </a:xfrm>
          <a:prstGeom prst="rect">
            <a:avLst/>
          </a:prstGeom>
          <a:noFill/>
          <a:ln>
            <a:noFill/>
          </a:ln>
        </p:spPr>
      </p:pic>
      <p:sp>
        <p:nvSpPr>
          <p:cNvPr id="241" name="Google Shape;241;p41"/>
          <p:cNvSpPr txBox="1">
            <a:spLocks noGrp="1"/>
          </p:cNvSpPr>
          <p:nvPr>
            <p:ph type="title"/>
          </p:nvPr>
        </p:nvSpPr>
        <p:spPr>
          <a:xfrm>
            <a:off x="311700" y="3216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Part 3</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pic>
        <p:nvPicPr>
          <p:cNvPr id="246" name="Google Shape;246;p42"/>
          <p:cNvPicPr preferRelativeResize="0"/>
          <p:nvPr/>
        </p:nvPicPr>
        <p:blipFill>
          <a:blip r:embed="rId3">
            <a:alphaModFix/>
          </a:blip>
          <a:stretch>
            <a:fillRect/>
          </a:stretch>
        </p:blipFill>
        <p:spPr>
          <a:xfrm>
            <a:off x="2188763" y="0"/>
            <a:ext cx="4340617" cy="4991099"/>
          </a:xfrm>
          <a:prstGeom prst="rect">
            <a:avLst/>
          </a:prstGeom>
          <a:noFill/>
          <a:ln>
            <a:noFill/>
          </a:ln>
        </p:spPr>
      </p:pic>
      <p:sp>
        <p:nvSpPr>
          <p:cNvPr id="247" name="Google Shape;247;p42"/>
          <p:cNvSpPr txBox="1">
            <a:spLocks noGrp="1"/>
          </p:cNvSpPr>
          <p:nvPr>
            <p:ph type="title"/>
          </p:nvPr>
        </p:nvSpPr>
        <p:spPr>
          <a:xfrm>
            <a:off x="311700" y="3216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Part 3</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3"/>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4000"/>
              <a:t>Summary</a:t>
            </a:r>
            <a:endParaRPr sz="4000"/>
          </a:p>
        </p:txBody>
      </p:sp>
      <p:sp>
        <p:nvSpPr>
          <p:cNvPr id="253" name="Google Shape;253;p43"/>
          <p:cNvSpPr txBox="1">
            <a:spLocks noGrp="1"/>
          </p:cNvSpPr>
          <p:nvPr>
            <p:ph type="body" idx="1"/>
          </p:nvPr>
        </p:nvSpPr>
        <p:spPr>
          <a:xfrm>
            <a:off x="4436650" y="522450"/>
            <a:ext cx="4524900" cy="4098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AutoNum type="arabicPeriod"/>
            </a:pPr>
            <a:r>
              <a:rPr lang="en" sz="2000"/>
              <a:t>Looked at Canadian employers for aviation industry and what they do</a:t>
            </a:r>
            <a:endParaRPr sz="2000"/>
          </a:p>
          <a:p>
            <a:pPr marL="457200" lvl="0" indent="-355600" algn="l" rtl="0">
              <a:spcBef>
                <a:spcPts val="0"/>
              </a:spcBef>
              <a:spcAft>
                <a:spcPts val="0"/>
              </a:spcAft>
              <a:buSzPts val="2000"/>
              <a:buAutoNum type="arabicPeriod"/>
            </a:pPr>
            <a:r>
              <a:rPr lang="en" sz="2000"/>
              <a:t>Looked at jobs in the aircraft industries, their job descriptions, and education requirements.</a:t>
            </a:r>
            <a:endParaRPr sz="2000"/>
          </a:p>
          <a:p>
            <a:pPr marL="457200" lvl="0" indent="-355600" algn="l" rtl="0">
              <a:spcBef>
                <a:spcPts val="0"/>
              </a:spcBef>
              <a:spcAft>
                <a:spcPts val="0"/>
              </a:spcAft>
              <a:buSzPts val="2000"/>
              <a:buAutoNum type="arabicPeriod"/>
            </a:pPr>
            <a:r>
              <a:rPr lang="en" sz="2000"/>
              <a:t>Looked at institutions for education and training that’ll help you achieve one of the careers we went over.</a:t>
            </a:r>
            <a:endParaRPr sz="2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4"/>
          <p:cNvSpPr txBox="1">
            <a:spLocks noGrp="1"/>
          </p:cNvSpPr>
          <p:nvPr>
            <p:ph type="ctrTitle"/>
          </p:nvPr>
        </p:nvSpPr>
        <p:spPr>
          <a:xfrm>
            <a:off x="311700" y="539725"/>
            <a:ext cx="8832300" cy="2176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EO M270.03 – Discuss Education And Employment Opportunities In Aircraft Manufacturing And Maintenance</a:t>
            </a:r>
            <a:endParaRPr/>
          </a:p>
          <a:p>
            <a:pPr marL="0" lvl="0" indent="0" algn="l" rtl="0">
              <a:spcBef>
                <a:spcPts val="0"/>
              </a:spcBef>
              <a:spcAft>
                <a:spcPts val="0"/>
              </a:spcAft>
              <a:buNone/>
            </a:pPr>
            <a:endParaRPr/>
          </a:p>
        </p:txBody>
      </p:sp>
      <p:sp>
        <p:nvSpPr>
          <p:cNvPr id="259" name="Google Shape;259;p44"/>
          <p:cNvSpPr txBox="1">
            <a:spLocks noGrp="1"/>
          </p:cNvSpPr>
          <p:nvPr>
            <p:ph type="subTitle" idx="1"/>
          </p:nvPr>
        </p:nvSpPr>
        <p:spPr>
          <a:xfrm>
            <a:off x="446150" y="2716237"/>
            <a:ext cx="4242600" cy="1667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CA"/>
              <a:t>By: </a:t>
            </a:r>
          </a:p>
          <a:p>
            <a:pPr marL="0" lvl="0" indent="0" algn="l" rtl="0">
              <a:spcBef>
                <a:spcPts val="0"/>
              </a:spcBef>
              <a:spcAft>
                <a:spcPts val="0"/>
              </a:spcAft>
              <a:buNone/>
            </a:pPr>
            <a:endParaRPr dirty="0"/>
          </a:p>
          <a:p>
            <a:pPr marL="0" lvl="0" indent="0" algn="l" rtl="0">
              <a:spcBef>
                <a:spcPts val="0"/>
              </a:spcBef>
              <a:spcAft>
                <a:spcPts val="0"/>
              </a:spcAft>
              <a:buNone/>
            </a:pPr>
            <a:r>
              <a:rPr lang="en" dirty="0"/>
              <a:t>60 min / 1 hr</a:t>
            </a:r>
            <a:endParaRPr dirty="0"/>
          </a:p>
        </p:txBody>
      </p:sp>
      <p:pic>
        <p:nvPicPr>
          <p:cNvPr id="260" name="Google Shape;260;p44"/>
          <p:cNvPicPr preferRelativeResize="0"/>
          <p:nvPr/>
        </p:nvPicPr>
        <p:blipFill>
          <a:blip r:embed="rId3">
            <a:alphaModFix/>
          </a:blip>
          <a:stretch>
            <a:fillRect/>
          </a:stretch>
        </p:blipFill>
        <p:spPr>
          <a:xfrm>
            <a:off x="5670400" y="3597000"/>
            <a:ext cx="4206474" cy="1776660"/>
          </a:xfrm>
          <a:prstGeom prst="rect">
            <a:avLst/>
          </a:prstGeom>
          <a:noFill/>
          <a:ln>
            <a:noFill/>
          </a:ln>
        </p:spPr>
      </p:pic>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2483</Words>
  <Application>Microsoft Office PowerPoint</Application>
  <PresentationFormat>On-screen Show (16:9)</PresentationFormat>
  <Paragraphs>248</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Merriweather</vt:lpstr>
      <vt:lpstr>Roboto</vt:lpstr>
      <vt:lpstr>Arial</vt:lpstr>
      <vt:lpstr>Paradigm</vt:lpstr>
      <vt:lpstr>EO M270.03 – Discuss Education And Employment Opportunities In Aircraft Manufacturing And Maintenance </vt:lpstr>
      <vt:lpstr>Purpose</vt:lpstr>
      <vt:lpstr>Teaching Point 1: Introduce the Aircraft Manufacturing and Maintenance Industry </vt:lpstr>
      <vt:lpstr>Part 1 Overview</vt:lpstr>
      <vt:lpstr>1.a) Rolls-Royce Canada</vt:lpstr>
      <vt:lpstr>1.b) Standard Aero</vt:lpstr>
      <vt:lpstr>1.c) Aerospace And Defence Industries Association Of Nova Scotia (ADIANS)</vt:lpstr>
      <vt:lpstr>1.d) Air Canada Technical Services  </vt:lpstr>
      <vt:lpstr>1.e) CHC Helicopter Corporation</vt:lpstr>
      <vt:lpstr>1.f) Field Aviation</vt:lpstr>
      <vt:lpstr>1.g) Goderich Aircraft Inc.</vt:lpstr>
      <vt:lpstr>1.h) Canadian Heli Structures LTD</vt:lpstr>
      <vt:lpstr>1.i) Bombardier</vt:lpstr>
      <vt:lpstr>Part 2 Overview</vt:lpstr>
      <vt:lpstr>2.a) Aircraft Gas Turbine Engine Repair And Overhaul Technician</vt:lpstr>
      <vt:lpstr>2.b) Aircraft Interior Technician</vt:lpstr>
      <vt:lpstr>2.c) Aircraft Maintenance Technician</vt:lpstr>
      <vt:lpstr>2.c) Aircraft Maintenance Technician</vt:lpstr>
      <vt:lpstr>2.d) Avionics Maintenance Technician</vt:lpstr>
      <vt:lpstr>2.d) Avionics Maintenance Technician</vt:lpstr>
      <vt:lpstr>2.e) Aircraft Structures Technician</vt:lpstr>
      <vt:lpstr>2.e) Aircraft Structures Technician</vt:lpstr>
      <vt:lpstr>2.f) Aviation Ground Services Attendant</vt:lpstr>
      <vt:lpstr>2.f) Aviation Ground Services Attendant</vt:lpstr>
      <vt:lpstr>2.g) Aviation And Aerospace Engineers  </vt:lpstr>
      <vt:lpstr>2.g) Aviation And Aerospace Engineers  </vt:lpstr>
      <vt:lpstr>Part 3 Overview</vt:lpstr>
      <vt:lpstr>Part 3</vt:lpstr>
      <vt:lpstr>Part 3</vt:lpstr>
      <vt:lpstr>Part 3</vt:lpstr>
      <vt:lpstr>Summary</vt:lpstr>
      <vt:lpstr>EO M270.03 – Discuss Education And Employment Opportunities In Aircraft Manufacturing And Maintenance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Kevin Zhu</cp:lastModifiedBy>
  <cp:revision>2</cp:revision>
  <dcterms:modified xsi:type="dcterms:W3CDTF">2025-06-08T11:00:10Z</dcterms:modified>
</cp:coreProperties>
</file>